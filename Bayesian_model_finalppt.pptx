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85" r:id="rId1"/>
  </p:sldMasterIdLst>
  <p:notesMasterIdLst>
    <p:notesMasterId r:id="rId24"/>
  </p:notesMasterIdLst>
  <p:handoutMasterIdLst>
    <p:handoutMasterId r:id="rId25"/>
  </p:handoutMasterIdLst>
  <p:sldIdLst>
    <p:sldId id="256" r:id="rId2"/>
    <p:sldId id="311" r:id="rId3"/>
    <p:sldId id="259" r:id="rId4"/>
    <p:sldId id="263" r:id="rId5"/>
    <p:sldId id="289" r:id="rId6"/>
    <p:sldId id="281" r:id="rId7"/>
    <p:sldId id="325" r:id="rId8"/>
    <p:sldId id="261" r:id="rId9"/>
    <p:sldId id="312" r:id="rId10"/>
    <p:sldId id="313" r:id="rId11"/>
    <p:sldId id="269" r:id="rId12"/>
    <p:sldId id="314" r:id="rId13"/>
    <p:sldId id="321" r:id="rId14"/>
    <p:sldId id="260" r:id="rId15"/>
    <p:sldId id="272" r:id="rId16"/>
    <p:sldId id="319" r:id="rId17"/>
    <p:sldId id="320" r:id="rId18"/>
    <p:sldId id="322" r:id="rId19"/>
    <p:sldId id="315" r:id="rId20"/>
    <p:sldId id="317" r:id="rId21"/>
    <p:sldId id="318" r:id="rId22"/>
    <p:sldId id="323" r:id="rId23"/>
  </p:sldIdLst>
  <p:sldSz cx="9144000" cy="5143500" type="screen16x9"/>
  <p:notesSz cx="6858000" cy="9144000"/>
  <p:embeddedFontLst>
    <p:embeddedFont>
      <p:font typeface="Akatab" panose="020B0604020202020204" charset="0"/>
      <p:regular r:id="rId26"/>
      <p:bold r:id="rId27"/>
    </p:embeddedFont>
    <p:embeddedFont>
      <p:font typeface="Bebas Neue" panose="020B0604020202020204" charset="0"/>
      <p:regular r:id="rId28"/>
    </p:embeddedFont>
    <p:embeddedFont>
      <p:font typeface="Cambria Math" panose="02040503050406030204" pitchFamily="18" charset="0"/>
      <p:regular r:id="rId29"/>
    </p:embeddedFont>
    <p:embeddedFont>
      <p:font typeface="Josefin Sans" panose="020B0604020202020204" charset="0"/>
      <p:regular r:id="rId30"/>
      <p:bold r:id="rId31"/>
      <p:italic r:id="rId32"/>
      <p:boldItalic r:id="rId33"/>
    </p:embeddedFont>
    <p:embeddedFont>
      <p:font typeface="Noto Serif Ethiopic" panose="020B0604020202020204" charset="0"/>
      <p:regular r:id="rId34"/>
      <p:bold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7CDB80D-537C-4FC2-9733-9E2D3348A8A3}">
  <a:tblStyle styleId="{37CDB80D-537C-4FC2-9733-9E2D3348A8A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03" autoAdjust="0"/>
    <p:restoredTop sz="94660"/>
  </p:normalViewPr>
  <p:slideViewPr>
    <p:cSldViewPr snapToGrid="0">
      <p:cViewPr varScale="1">
        <p:scale>
          <a:sx n="97" d="100"/>
          <a:sy n="97" d="100"/>
        </p:scale>
        <p:origin x="58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33" Type="http://schemas.openxmlformats.org/officeDocument/2006/relationships/font" Target="fonts/font8.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7.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EBA4458-B8EA-4853-AF4C-A06F3F11577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FF01D65-20A1-4B8C-81F0-53317766512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5C486D-0570-48AF-95FB-906653053F9B}" type="datetimeFigureOut">
              <a:rPr lang="en-IN" smtClean="0"/>
              <a:t>30-07-2026</a:t>
            </a:fld>
            <a:endParaRPr lang="en-IN"/>
          </a:p>
        </p:txBody>
      </p:sp>
      <p:sp>
        <p:nvSpPr>
          <p:cNvPr id="4" name="Footer Placeholder 3">
            <a:extLst>
              <a:ext uri="{FF2B5EF4-FFF2-40B4-BE49-F238E27FC236}">
                <a16:creationId xmlns:a16="http://schemas.microsoft.com/office/drawing/2014/main" id="{A51BDA46-2CEB-49FB-B127-7D6AE81E2E9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BFFEFE20-EE4D-4A31-A7B2-22AD7502E04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40EFF3A-94AB-4BA6-8F8E-ECAD09A39390}" type="slidenum">
              <a:rPr lang="en-IN" smtClean="0"/>
              <a:t>‹#›</a:t>
            </a:fld>
            <a:endParaRPr lang="en-IN"/>
          </a:p>
        </p:txBody>
      </p:sp>
    </p:spTree>
    <p:extLst>
      <p:ext uri="{BB962C8B-B14F-4D97-AF65-F5344CB8AC3E}">
        <p14:creationId xmlns:p14="http://schemas.microsoft.com/office/powerpoint/2010/main" val="280441465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25a5b44800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25a5b44800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IN" dirty="0"/>
          </a:p>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25a5b448001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7" name="Google Shape;417;g25a5b448001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25a78353f55_0_279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25a78353f55_0_279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g25a78353f55_0_27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9" name="Google Shape;909;g25a78353f55_0_27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g25a78353f55_0_277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2" name="Google Shape;652;g25a78353f55_0_277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259dc3832df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259dc3832df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259dc3832df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259dc3832df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1951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259dc3832df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259dc3832df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126206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25a78353f55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25a78353f55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25a78353f55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25a78353f55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662945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259dc3832df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259dc3832df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25a78353f55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25a78353f55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25a78353f55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25a78353f55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83106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25a78353f55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25a78353f55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485789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259dc3832df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259dc3832df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218881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25a78353f55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25a78353f55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72387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10;p2"/>
          <p:cNvSpPr txBox="1">
            <a:spLocks noGrp="1"/>
          </p:cNvSpPr>
          <p:nvPr>
            <p:ph type="ctrTitle"/>
          </p:nvPr>
        </p:nvSpPr>
        <p:spPr>
          <a:xfrm>
            <a:off x="1251700" y="1050088"/>
            <a:ext cx="4890300" cy="1990200"/>
          </a:xfrm>
          <a:prstGeom prst="rect">
            <a:avLst/>
          </a:prstGeom>
        </p:spPr>
        <p:txBody>
          <a:bodyPr spcFirstLastPara="1" wrap="square" lIns="91425" tIns="91425" rIns="91425" bIns="91425" anchor="b" anchorCtr="0">
            <a:noAutofit/>
          </a:bodyPr>
          <a:lstStyle>
            <a:lvl1pPr lvl="0" algn="l" rtl="0">
              <a:lnSpc>
                <a:spcPct val="90000"/>
              </a:lnSpc>
              <a:spcBef>
                <a:spcPts val="0"/>
              </a:spcBef>
              <a:spcAft>
                <a:spcPts val="0"/>
              </a:spcAft>
              <a:buSzPts val="5200"/>
              <a:buNone/>
              <a:defRPr sz="43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1251700" y="3040063"/>
            <a:ext cx="4890300" cy="40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p:nvPr/>
        </p:nvSpPr>
        <p:spPr>
          <a:xfrm>
            <a:off x="171450" y="145800"/>
            <a:ext cx="8801100" cy="4851900"/>
          </a:xfrm>
          <a:prstGeom prst="rect">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14;p3"/>
          <p:cNvSpPr txBox="1">
            <a:spLocks noGrp="1"/>
          </p:cNvSpPr>
          <p:nvPr>
            <p:ph type="title"/>
          </p:nvPr>
        </p:nvSpPr>
        <p:spPr>
          <a:xfrm>
            <a:off x="1393550" y="2502950"/>
            <a:ext cx="4360200" cy="1282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600"/>
              <a:buNone/>
              <a:defRPr sz="3800">
                <a:solidFill>
                  <a:schemeClr val="lt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1393550" y="1713902"/>
            <a:ext cx="1200000" cy="8418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2"/>
              </a:buClr>
              <a:buSzPts val="6000"/>
              <a:buNone/>
              <a:defRPr sz="6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6" name="Google Shape;16;p3"/>
          <p:cNvSpPr txBox="1">
            <a:spLocks noGrp="1"/>
          </p:cNvSpPr>
          <p:nvPr>
            <p:ph type="subTitle" idx="1"/>
          </p:nvPr>
        </p:nvSpPr>
        <p:spPr>
          <a:xfrm>
            <a:off x="1393550" y="3743512"/>
            <a:ext cx="4360200" cy="40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solidFill>
                  <a:schemeClr val="lt1"/>
                </a:solidFill>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19;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0" name="Google Shape;20;p4"/>
          <p:cNvSpPr txBox="1">
            <a:spLocks noGrp="1"/>
          </p:cNvSpPr>
          <p:nvPr>
            <p:ph type="body" idx="1"/>
          </p:nvPr>
        </p:nvSpPr>
        <p:spPr>
          <a:xfrm>
            <a:off x="720000" y="1152475"/>
            <a:ext cx="7704000" cy="346800"/>
          </a:xfrm>
          <a:prstGeom prst="rect">
            <a:avLst/>
          </a:prstGeom>
        </p:spPr>
        <p:txBody>
          <a:bodyPr spcFirstLastPara="1" wrap="square" lIns="91425" tIns="91425" rIns="91425" bIns="91425" anchor="t" anchorCtr="0">
            <a:noAutofit/>
          </a:bodyPr>
          <a:lstStyle>
            <a:lvl1pPr marL="457200" lvl="0" indent="-317500" algn="ctr" rtl="0">
              <a:lnSpc>
                <a:spcPct val="115000"/>
              </a:lnSpc>
              <a:spcBef>
                <a:spcPts val="0"/>
              </a:spcBef>
              <a:spcAft>
                <a:spcPts val="0"/>
              </a:spcAft>
              <a:buSzPts val="1400"/>
              <a:buChar char="●"/>
              <a:defRPr/>
            </a:lvl1pPr>
            <a:lvl2pPr marL="914400" lvl="1" indent="-304800" rtl="0">
              <a:lnSpc>
                <a:spcPct val="115000"/>
              </a:lnSpc>
              <a:spcBef>
                <a:spcPts val="0"/>
              </a:spcBef>
              <a:spcAft>
                <a:spcPts val="0"/>
              </a:spcAft>
              <a:buSzPts val="1200"/>
              <a:buChar char="○"/>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grpSp>
        <p:nvGrpSpPr>
          <p:cNvPr id="21" name="Google Shape;21;p4"/>
          <p:cNvGrpSpPr/>
          <p:nvPr/>
        </p:nvGrpSpPr>
        <p:grpSpPr>
          <a:xfrm flipH="1">
            <a:off x="435875" y="1292300"/>
            <a:ext cx="90900" cy="3705900"/>
            <a:chOff x="7952125" y="1292300"/>
            <a:chExt cx="90900" cy="3705900"/>
          </a:xfrm>
        </p:grpSpPr>
        <p:sp>
          <p:nvSpPr>
            <p:cNvPr id="22" name="Google Shape;22;p4"/>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23" name="Google Shape;23;p4"/>
            <p:cNvCxnSpPr/>
            <p:nvPr/>
          </p:nvCxnSpPr>
          <p:spPr>
            <a:xfrm>
              <a:off x="8043025" y="1292300"/>
              <a:ext cx="0" cy="3705900"/>
            </a:xfrm>
            <a:prstGeom prst="straightConnector1">
              <a:avLst/>
            </a:prstGeom>
            <a:noFill/>
            <a:ln w="9525" cap="flat" cmpd="sng">
              <a:solidFill>
                <a:schemeClr val="dk1"/>
              </a:solidFill>
              <a:prstDash val="solid"/>
              <a:round/>
              <a:headEnd type="none" w="med" len="med"/>
              <a:tailEnd type="none" w="med" len="med"/>
            </a:ln>
          </p:spPr>
        </p:cxnSp>
      </p:grpSp>
      <p:grpSp>
        <p:nvGrpSpPr>
          <p:cNvPr id="24" name="Google Shape;24;p4"/>
          <p:cNvGrpSpPr/>
          <p:nvPr/>
        </p:nvGrpSpPr>
        <p:grpSpPr>
          <a:xfrm rot="10800000">
            <a:off x="8617225" y="97275"/>
            <a:ext cx="90900" cy="3705900"/>
            <a:chOff x="7952125" y="1292300"/>
            <a:chExt cx="90900" cy="3705900"/>
          </a:xfrm>
        </p:grpSpPr>
        <p:sp>
          <p:nvSpPr>
            <p:cNvPr id="25" name="Google Shape;25;p4"/>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26" name="Google Shape;26;p4"/>
            <p:cNvCxnSpPr/>
            <p:nvPr/>
          </p:nvCxnSpPr>
          <p:spPr>
            <a:xfrm>
              <a:off x="8043025" y="1292300"/>
              <a:ext cx="0" cy="37059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29;p5"/>
          <p:cNvSpPr txBox="1">
            <a:spLocks noGrp="1"/>
          </p:cNvSpPr>
          <p:nvPr>
            <p:ph type="subTitle" idx="1"/>
          </p:nvPr>
        </p:nvSpPr>
        <p:spPr>
          <a:xfrm>
            <a:off x="1938000" y="1571850"/>
            <a:ext cx="5268000" cy="123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0" name="Google Shape;30;p5"/>
          <p:cNvSpPr txBox="1">
            <a:spLocks noGrp="1"/>
          </p:cNvSpPr>
          <p:nvPr>
            <p:ph type="subTitle" idx="2"/>
          </p:nvPr>
        </p:nvSpPr>
        <p:spPr>
          <a:xfrm>
            <a:off x="1938000" y="3033474"/>
            <a:ext cx="5268000" cy="123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1" name="Google Shape;31;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32" name="Google Shape;32;p5"/>
          <p:cNvGrpSpPr/>
          <p:nvPr/>
        </p:nvGrpSpPr>
        <p:grpSpPr>
          <a:xfrm>
            <a:off x="165700" y="1292300"/>
            <a:ext cx="8349200" cy="3705900"/>
            <a:chOff x="165700" y="1292300"/>
            <a:chExt cx="8349200" cy="3705900"/>
          </a:xfrm>
        </p:grpSpPr>
        <p:grpSp>
          <p:nvGrpSpPr>
            <p:cNvPr id="33" name="Google Shape;33;p5"/>
            <p:cNvGrpSpPr/>
            <p:nvPr/>
          </p:nvGrpSpPr>
          <p:grpSpPr>
            <a:xfrm rot="10800000">
              <a:off x="165700" y="4608500"/>
              <a:ext cx="7941000" cy="90900"/>
              <a:chOff x="1239825" y="571500"/>
              <a:chExt cx="7941000" cy="90900"/>
            </a:xfrm>
          </p:grpSpPr>
          <p:cxnSp>
            <p:nvCxnSpPr>
              <p:cNvPr id="34" name="Google Shape;34;p5"/>
              <p:cNvCxnSpPr/>
              <p:nvPr/>
            </p:nvCxnSpPr>
            <p:spPr>
              <a:xfrm>
                <a:off x="1239825" y="571500"/>
                <a:ext cx="7941000" cy="0"/>
              </a:xfrm>
              <a:prstGeom prst="straightConnector1">
                <a:avLst/>
              </a:prstGeom>
              <a:noFill/>
              <a:ln w="9525" cap="flat" cmpd="sng">
                <a:solidFill>
                  <a:schemeClr val="dk1"/>
                </a:solidFill>
                <a:prstDash val="solid"/>
                <a:round/>
                <a:headEnd type="none" w="med" len="med"/>
                <a:tailEnd type="none" w="med" len="med"/>
              </a:ln>
            </p:spPr>
          </p:cxnSp>
          <p:sp>
            <p:nvSpPr>
              <p:cNvPr id="35" name="Google Shape;35;p5"/>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6" name="Google Shape;36;p5"/>
            <p:cNvGrpSpPr/>
            <p:nvPr/>
          </p:nvGrpSpPr>
          <p:grpSpPr>
            <a:xfrm flipH="1">
              <a:off x="8424000" y="1292300"/>
              <a:ext cx="90900" cy="3705900"/>
              <a:chOff x="7952125" y="1292300"/>
              <a:chExt cx="90900" cy="3705900"/>
            </a:xfrm>
          </p:grpSpPr>
          <p:sp>
            <p:nvSpPr>
              <p:cNvPr id="37" name="Google Shape;37;p5"/>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38" name="Google Shape;38;p5"/>
              <p:cNvCxnSpPr/>
              <p:nvPr/>
            </p:nvCxnSpPr>
            <p:spPr>
              <a:xfrm>
                <a:off x="8043025" y="1292300"/>
                <a:ext cx="0" cy="3705900"/>
              </a:xfrm>
              <a:prstGeom prst="straightConnector1">
                <a:avLst/>
              </a:prstGeom>
              <a:noFill/>
              <a:ln w="9525" cap="flat" cmpd="sng">
                <a:solidFill>
                  <a:schemeClr val="dk1"/>
                </a:solidFill>
                <a:prstDash val="solid"/>
                <a:round/>
                <a:headEnd type="none" w="med" len="med"/>
                <a:tailEnd type="none" w="med" len="med"/>
              </a:ln>
            </p:spPr>
          </p:cxn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9"/>
        <p:cNvGrpSpPr/>
        <p:nvPr/>
      </p:nvGrpSpPr>
      <p:grpSpPr>
        <a:xfrm>
          <a:off x="0" y="0"/>
          <a:ext cx="0" cy="0"/>
          <a:chOff x="0" y="0"/>
          <a:chExt cx="0" cy="0"/>
        </a:xfrm>
      </p:grpSpPr>
      <p:sp>
        <p:nvSpPr>
          <p:cNvPr id="50" name="Google Shape;50;p7"/>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51;p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2" name="Google Shape;52;p7"/>
          <p:cNvSpPr txBox="1">
            <a:spLocks noGrp="1"/>
          </p:cNvSpPr>
          <p:nvPr>
            <p:ph type="body" idx="1"/>
          </p:nvPr>
        </p:nvSpPr>
        <p:spPr>
          <a:xfrm>
            <a:off x="720000" y="1152475"/>
            <a:ext cx="7704000" cy="19113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Char char="●"/>
              <a:defRPr/>
            </a:lvl1pPr>
            <a:lvl2pPr marL="914400" lvl="1" indent="-304800" rtl="0">
              <a:lnSpc>
                <a:spcPct val="115000"/>
              </a:lnSpc>
              <a:spcBef>
                <a:spcPts val="0"/>
              </a:spcBef>
              <a:spcAft>
                <a:spcPts val="0"/>
              </a:spcAft>
              <a:buSzPts val="1200"/>
              <a:buChar char="○"/>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grpSp>
        <p:nvGrpSpPr>
          <p:cNvPr id="53" name="Google Shape;53;p7"/>
          <p:cNvGrpSpPr/>
          <p:nvPr/>
        </p:nvGrpSpPr>
        <p:grpSpPr>
          <a:xfrm rot="10800000" flipH="1">
            <a:off x="2502023" y="4741850"/>
            <a:ext cx="6506400" cy="90900"/>
            <a:chOff x="1239825" y="571500"/>
            <a:chExt cx="6506400" cy="90900"/>
          </a:xfrm>
        </p:grpSpPr>
        <p:cxnSp>
          <p:nvCxnSpPr>
            <p:cNvPr id="54" name="Google Shape;54;p7"/>
            <p:cNvCxnSpPr/>
            <p:nvPr/>
          </p:nvCxnSpPr>
          <p:spPr>
            <a:xfrm>
              <a:off x="1239825" y="571500"/>
              <a:ext cx="6506400" cy="0"/>
            </a:xfrm>
            <a:prstGeom prst="straightConnector1">
              <a:avLst/>
            </a:prstGeom>
            <a:noFill/>
            <a:ln w="9525" cap="flat" cmpd="sng">
              <a:solidFill>
                <a:schemeClr val="dk1"/>
              </a:solidFill>
              <a:prstDash val="solid"/>
              <a:round/>
              <a:headEnd type="none" w="med" len="med"/>
              <a:tailEnd type="none" w="med" len="med"/>
            </a:ln>
          </p:spPr>
        </p:cxnSp>
        <p:sp>
          <p:nvSpPr>
            <p:cNvPr id="55" name="Google Shape;55;p7"/>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6"/>
        <p:cNvGrpSpPr/>
        <p:nvPr/>
      </p:nvGrpSpPr>
      <p:grpSpPr>
        <a:xfrm>
          <a:off x="0" y="0"/>
          <a:ext cx="0" cy="0"/>
          <a:chOff x="0" y="0"/>
          <a:chExt cx="0" cy="0"/>
        </a:xfrm>
      </p:grpSpPr>
      <p:sp>
        <p:nvSpPr>
          <p:cNvPr id="57" name="Google Shape;57;p8"/>
          <p:cNvSpPr/>
          <p:nvPr/>
        </p:nvSpPr>
        <p:spPr>
          <a:xfrm>
            <a:off x="171450" y="145800"/>
            <a:ext cx="8801100" cy="4851900"/>
          </a:xfrm>
          <a:prstGeom prst="rect">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 name="Google Shape;58;p8"/>
          <p:cNvSpPr txBox="1">
            <a:spLocks noGrp="1"/>
          </p:cNvSpPr>
          <p:nvPr>
            <p:ph type="title"/>
          </p:nvPr>
        </p:nvSpPr>
        <p:spPr>
          <a:xfrm>
            <a:off x="2496300" y="1417500"/>
            <a:ext cx="4151400" cy="2308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grpSp>
        <p:nvGrpSpPr>
          <p:cNvPr id="59" name="Google Shape;59;p8"/>
          <p:cNvGrpSpPr/>
          <p:nvPr/>
        </p:nvGrpSpPr>
        <p:grpSpPr>
          <a:xfrm rot="10800000">
            <a:off x="165548" y="4741850"/>
            <a:ext cx="6506400" cy="90900"/>
            <a:chOff x="1239825" y="571500"/>
            <a:chExt cx="6506400" cy="90900"/>
          </a:xfrm>
        </p:grpSpPr>
        <p:cxnSp>
          <p:nvCxnSpPr>
            <p:cNvPr id="60" name="Google Shape;60;p8"/>
            <p:cNvCxnSpPr/>
            <p:nvPr/>
          </p:nvCxnSpPr>
          <p:spPr>
            <a:xfrm>
              <a:off x="1239825" y="571500"/>
              <a:ext cx="6506400" cy="0"/>
            </a:xfrm>
            <a:prstGeom prst="straightConnector1">
              <a:avLst/>
            </a:prstGeom>
            <a:noFill/>
            <a:ln w="9525" cap="flat" cmpd="sng">
              <a:solidFill>
                <a:schemeClr val="lt1"/>
              </a:solidFill>
              <a:prstDash val="solid"/>
              <a:round/>
              <a:headEnd type="none" w="med" len="med"/>
              <a:tailEnd type="none" w="med" len="med"/>
            </a:ln>
          </p:spPr>
        </p:cxnSp>
        <p:sp>
          <p:nvSpPr>
            <p:cNvPr id="61" name="Google Shape;61;p8"/>
            <p:cNvSpPr/>
            <p:nvPr/>
          </p:nvSpPr>
          <p:spPr>
            <a:xfrm>
              <a:off x="1239825" y="571500"/>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62" name="Google Shape;62;p8"/>
          <p:cNvGrpSpPr/>
          <p:nvPr/>
        </p:nvGrpSpPr>
        <p:grpSpPr>
          <a:xfrm rot="10800000" flipH="1">
            <a:off x="2467871" y="298450"/>
            <a:ext cx="6506400" cy="90900"/>
            <a:chOff x="1239825" y="571500"/>
            <a:chExt cx="6506400" cy="90900"/>
          </a:xfrm>
        </p:grpSpPr>
        <p:cxnSp>
          <p:nvCxnSpPr>
            <p:cNvPr id="63" name="Google Shape;63;p8"/>
            <p:cNvCxnSpPr/>
            <p:nvPr/>
          </p:nvCxnSpPr>
          <p:spPr>
            <a:xfrm>
              <a:off x="1239825" y="571500"/>
              <a:ext cx="6506400" cy="0"/>
            </a:xfrm>
            <a:prstGeom prst="straightConnector1">
              <a:avLst/>
            </a:prstGeom>
            <a:noFill/>
            <a:ln w="9525" cap="flat" cmpd="sng">
              <a:solidFill>
                <a:schemeClr val="lt1"/>
              </a:solidFill>
              <a:prstDash val="solid"/>
              <a:round/>
              <a:headEnd type="none" w="med" len="med"/>
              <a:tailEnd type="none" w="med" len="med"/>
            </a:ln>
          </p:spPr>
        </p:cxnSp>
        <p:sp>
          <p:nvSpPr>
            <p:cNvPr id="64" name="Google Shape;64;p8"/>
            <p:cNvSpPr/>
            <p:nvPr/>
          </p:nvSpPr>
          <p:spPr>
            <a:xfrm>
              <a:off x="1239825" y="571500"/>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5"/>
        <p:cNvGrpSpPr/>
        <p:nvPr/>
      </p:nvGrpSpPr>
      <p:grpSpPr>
        <a:xfrm>
          <a:off x="0" y="0"/>
          <a:ext cx="0" cy="0"/>
          <a:chOff x="0" y="0"/>
          <a:chExt cx="0" cy="0"/>
        </a:xfrm>
      </p:grpSpPr>
      <p:sp>
        <p:nvSpPr>
          <p:cNvPr id="66" name="Google Shape;66;p9"/>
          <p:cNvSpPr/>
          <p:nvPr/>
        </p:nvSpPr>
        <p:spPr>
          <a:xfrm>
            <a:off x="171450" y="145800"/>
            <a:ext cx="8801100" cy="4851900"/>
          </a:xfrm>
          <a:prstGeom prst="rect">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67;p9"/>
          <p:cNvSpPr txBox="1">
            <a:spLocks noGrp="1"/>
          </p:cNvSpPr>
          <p:nvPr>
            <p:ph type="title"/>
          </p:nvPr>
        </p:nvSpPr>
        <p:spPr>
          <a:xfrm>
            <a:off x="3102200" y="2281338"/>
            <a:ext cx="4661100" cy="981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600"/>
              <a:buNone/>
              <a:defRPr sz="6000">
                <a:solidFill>
                  <a:schemeClr val="lt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8" name="Google Shape;68;p9"/>
          <p:cNvSpPr txBox="1">
            <a:spLocks noGrp="1"/>
          </p:cNvSpPr>
          <p:nvPr>
            <p:ph type="subTitle" idx="1"/>
          </p:nvPr>
        </p:nvSpPr>
        <p:spPr>
          <a:xfrm>
            <a:off x="3102200" y="3262669"/>
            <a:ext cx="4661100" cy="6189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400">
                <a:solidFill>
                  <a:schemeClr val="lt1"/>
                </a:solidFill>
              </a:defRPr>
            </a:lvl1pPr>
            <a:lvl2pPr lvl="1" rtl="0">
              <a:lnSpc>
                <a:spcPct val="100000"/>
              </a:lnSpc>
              <a:spcBef>
                <a:spcPts val="0"/>
              </a:spcBef>
              <a:spcAft>
                <a:spcPts val="0"/>
              </a:spcAft>
              <a:buSzPts val="1200"/>
              <a:buNone/>
              <a:defRPr/>
            </a:lvl2pPr>
            <a:lvl3pPr lvl="2" rtl="0">
              <a:lnSpc>
                <a:spcPct val="100000"/>
              </a:lnSpc>
              <a:spcBef>
                <a:spcPts val="1600"/>
              </a:spcBef>
              <a:spcAft>
                <a:spcPts val="0"/>
              </a:spcAft>
              <a:buSzPts val="1200"/>
              <a:buNone/>
              <a:defRPr/>
            </a:lvl3pPr>
            <a:lvl4pPr lvl="3" rtl="0">
              <a:lnSpc>
                <a:spcPct val="100000"/>
              </a:lnSpc>
              <a:spcBef>
                <a:spcPts val="1600"/>
              </a:spcBef>
              <a:spcAft>
                <a:spcPts val="0"/>
              </a:spcAft>
              <a:buSzPts val="1200"/>
              <a:buNone/>
              <a:defRPr/>
            </a:lvl4pPr>
            <a:lvl5pPr lvl="4" rtl="0">
              <a:lnSpc>
                <a:spcPct val="100000"/>
              </a:lnSpc>
              <a:spcBef>
                <a:spcPts val="1600"/>
              </a:spcBef>
              <a:spcAft>
                <a:spcPts val="0"/>
              </a:spcAft>
              <a:buSzPts val="1200"/>
              <a:buNone/>
              <a:defRPr/>
            </a:lvl5pPr>
            <a:lvl6pPr lvl="5" rtl="0">
              <a:lnSpc>
                <a:spcPct val="100000"/>
              </a:lnSpc>
              <a:spcBef>
                <a:spcPts val="1600"/>
              </a:spcBef>
              <a:spcAft>
                <a:spcPts val="0"/>
              </a:spcAft>
              <a:buSzPts val="1200"/>
              <a:buNone/>
              <a:defRPr/>
            </a:lvl6pPr>
            <a:lvl7pPr lvl="6" rtl="0">
              <a:lnSpc>
                <a:spcPct val="100000"/>
              </a:lnSpc>
              <a:spcBef>
                <a:spcPts val="1600"/>
              </a:spcBef>
              <a:spcAft>
                <a:spcPts val="0"/>
              </a:spcAft>
              <a:buSzPts val="1200"/>
              <a:buNone/>
              <a:defRPr/>
            </a:lvl7pPr>
            <a:lvl8pPr lvl="7" rtl="0">
              <a:lnSpc>
                <a:spcPct val="100000"/>
              </a:lnSpc>
              <a:spcBef>
                <a:spcPts val="1600"/>
              </a:spcBef>
              <a:spcAft>
                <a:spcPts val="0"/>
              </a:spcAft>
              <a:buSzPts val="1200"/>
              <a:buNone/>
              <a:defRPr/>
            </a:lvl8pPr>
            <a:lvl9pPr lvl="8" rtl="0">
              <a:lnSpc>
                <a:spcPct val="100000"/>
              </a:lnSpc>
              <a:spcBef>
                <a:spcPts val="1600"/>
              </a:spcBef>
              <a:spcAft>
                <a:spcPts val="1600"/>
              </a:spcAft>
              <a:buSzPts val="12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15"/>
        <p:cNvGrpSpPr/>
        <p:nvPr/>
      </p:nvGrpSpPr>
      <p:grpSpPr>
        <a:xfrm>
          <a:off x="0" y="0"/>
          <a:ext cx="0" cy="0"/>
          <a:chOff x="0" y="0"/>
          <a:chExt cx="0" cy="0"/>
        </a:xfrm>
      </p:grpSpPr>
      <p:sp>
        <p:nvSpPr>
          <p:cNvPr id="116" name="Google Shape;116;p15"/>
          <p:cNvSpPr/>
          <p:nvPr/>
        </p:nvSpPr>
        <p:spPr>
          <a:xfrm>
            <a:off x="171450" y="145800"/>
            <a:ext cx="8801100" cy="4851900"/>
          </a:xfrm>
          <a:prstGeom prst="rect">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117;p15"/>
          <p:cNvSpPr txBox="1">
            <a:spLocks noGrp="1"/>
          </p:cNvSpPr>
          <p:nvPr>
            <p:ph type="title"/>
          </p:nvPr>
        </p:nvSpPr>
        <p:spPr>
          <a:xfrm>
            <a:off x="2352125" y="2350750"/>
            <a:ext cx="3555300" cy="1367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600"/>
              <a:buNone/>
              <a:defRPr sz="3800">
                <a:solidFill>
                  <a:schemeClr val="lt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18" name="Google Shape;118;p15"/>
          <p:cNvSpPr txBox="1">
            <a:spLocks noGrp="1"/>
          </p:cNvSpPr>
          <p:nvPr>
            <p:ph type="title" idx="2" hasCustomPrompt="1"/>
          </p:nvPr>
        </p:nvSpPr>
        <p:spPr>
          <a:xfrm>
            <a:off x="1152125" y="2350752"/>
            <a:ext cx="1200000" cy="8418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2"/>
              </a:buClr>
              <a:buSzPts val="6000"/>
              <a:buNone/>
              <a:defRPr sz="6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19" name="Google Shape;119;p15"/>
          <p:cNvSpPr txBox="1">
            <a:spLocks noGrp="1"/>
          </p:cNvSpPr>
          <p:nvPr>
            <p:ph type="subTitle" idx="1"/>
          </p:nvPr>
        </p:nvSpPr>
        <p:spPr>
          <a:xfrm>
            <a:off x="2352125" y="3718300"/>
            <a:ext cx="3555300" cy="40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solidFill>
                  <a:schemeClr val="lt1"/>
                </a:solidFill>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25"/>
        <p:cNvGrpSpPr/>
        <p:nvPr/>
      </p:nvGrpSpPr>
      <p:grpSpPr>
        <a:xfrm>
          <a:off x="0" y="0"/>
          <a:ext cx="0" cy="0"/>
          <a:chOff x="0" y="0"/>
          <a:chExt cx="0" cy="0"/>
        </a:xfrm>
      </p:grpSpPr>
      <p:sp>
        <p:nvSpPr>
          <p:cNvPr id="126" name="Google Shape;126;p17"/>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 name="Google Shape;127;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28" name="Google Shape;128;p17"/>
          <p:cNvGrpSpPr/>
          <p:nvPr/>
        </p:nvGrpSpPr>
        <p:grpSpPr>
          <a:xfrm rot="10800000">
            <a:off x="165700" y="4608500"/>
            <a:ext cx="7941000" cy="90900"/>
            <a:chOff x="1239825" y="571500"/>
            <a:chExt cx="7941000" cy="90900"/>
          </a:xfrm>
        </p:grpSpPr>
        <p:cxnSp>
          <p:nvCxnSpPr>
            <p:cNvPr id="129" name="Google Shape;129;p17"/>
            <p:cNvCxnSpPr/>
            <p:nvPr/>
          </p:nvCxnSpPr>
          <p:spPr>
            <a:xfrm>
              <a:off x="1239825" y="571500"/>
              <a:ext cx="7941000" cy="0"/>
            </a:xfrm>
            <a:prstGeom prst="straightConnector1">
              <a:avLst/>
            </a:prstGeom>
            <a:noFill/>
            <a:ln w="9525" cap="flat" cmpd="sng">
              <a:solidFill>
                <a:schemeClr val="dk1"/>
              </a:solidFill>
              <a:prstDash val="solid"/>
              <a:round/>
              <a:headEnd type="none" w="med" len="med"/>
              <a:tailEnd type="none" w="med" len="med"/>
            </a:ln>
          </p:spPr>
        </p:cxnSp>
        <p:sp>
          <p:nvSpPr>
            <p:cNvPr id="130" name="Google Shape;130;p17"/>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37"/>
        <p:cNvGrpSpPr/>
        <p:nvPr/>
      </p:nvGrpSpPr>
      <p:grpSpPr>
        <a:xfrm>
          <a:off x="0" y="0"/>
          <a:ext cx="0" cy="0"/>
          <a:chOff x="0" y="0"/>
          <a:chExt cx="0" cy="0"/>
        </a:xfrm>
      </p:grpSpPr>
      <p:sp>
        <p:nvSpPr>
          <p:cNvPr id="138" name="Google Shape;138;p19"/>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 name="Google Shape;139;p19"/>
          <p:cNvSpPr txBox="1">
            <a:spLocks noGrp="1"/>
          </p:cNvSpPr>
          <p:nvPr>
            <p:ph type="subTitle" idx="1"/>
          </p:nvPr>
        </p:nvSpPr>
        <p:spPr>
          <a:xfrm>
            <a:off x="1068813" y="2004274"/>
            <a:ext cx="3615600" cy="167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0"/>
              </a:spcBef>
              <a:spcAft>
                <a:spcPts val="0"/>
              </a:spcAft>
              <a:buSzPts val="1200"/>
              <a:buChar char="■"/>
              <a:defRPr/>
            </a:lvl3pPr>
            <a:lvl4pPr lvl="3" algn="ctr" rtl="0">
              <a:lnSpc>
                <a:spcPct val="100000"/>
              </a:lnSpc>
              <a:spcBef>
                <a:spcPts val="0"/>
              </a:spcBef>
              <a:spcAft>
                <a:spcPts val="0"/>
              </a:spcAft>
              <a:buSzPts val="1200"/>
              <a:buChar char="●"/>
              <a:defRPr/>
            </a:lvl4pPr>
            <a:lvl5pPr lvl="4" algn="ctr" rtl="0">
              <a:lnSpc>
                <a:spcPct val="100000"/>
              </a:lnSpc>
              <a:spcBef>
                <a:spcPts val="0"/>
              </a:spcBef>
              <a:spcAft>
                <a:spcPts val="0"/>
              </a:spcAft>
              <a:buSzPts val="1200"/>
              <a:buChar char="○"/>
              <a:defRPr/>
            </a:lvl5pPr>
            <a:lvl6pPr lvl="5" algn="ctr" rtl="0">
              <a:lnSpc>
                <a:spcPct val="100000"/>
              </a:lnSpc>
              <a:spcBef>
                <a:spcPts val="0"/>
              </a:spcBef>
              <a:spcAft>
                <a:spcPts val="0"/>
              </a:spcAft>
              <a:buSzPts val="1200"/>
              <a:buChar char="■"/>
              <a:defRPr/>
            </a:lvl6pPr>
            <a:lvl7pPr lvl="6" algn="ctr" rtl="0">
              <a:lnSpc>
                <a:spcPct val="100000"/>
              </a:lnSpc>
              <a:spcBef>
                <a:spcPts val="0"/>
              </a:spcBef>
              <a:spcAft>
                <a:spcPts val="0"/>
              </a:spcAft>
              <a:buSzPts val="1200"/>
              <a:buChar char="●"/>
              <a:defRPr/>
            </a:lvl7pPr>
            <a:lvl8pPr lvl="7" algn="ctr" rtl="0">
              <a:lnSpc>
                <a:spcPct val="100000"/>
              </a:lnSpc>
              <a:spcBef>
                <a:spcPts val="0"/>
              </a:spcBef>
              <a:spcAft>
                <a:spcPts val="0"/>
              </a:spcAft>
              <a:buSzPts val="1200"/>
              <a:buChar char="○"/>
              <a:defRPr/>
            </a:lvl8pPr>
            <a:lvl9pPr lvl="8" algn="ctr" rtl="0">
              <a:lnSpc>
                <a:spcPct val="100000"/>
              </a:lnSpc>
              <a:spcBef>
                <a:spcPts val="0"/>
              </a:spcBef>
              <a:spcAft>
                <a:spcPts val="0"/>
              </a:spcAft>
              <a:buSzPts val="1200"/>
              <a:buChar char="■"/>
              <a:defRPr/>
            </a:lvl9pPr>
          </a:lstStyle>
          <a:p>
            <a:endParaRPr/>
          </a:p>
        </p:txBody>
      </p:sp>
      <p:sp>
        <p:nvSpPr>
          <p:cNvPr id="140" name="Google Shape;140;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41" name="Google Shape;141;p19"/>
          <p:cNvGrpSpPr/>
          <p:nvPr/>
        </p:nvGrpSpPr>
        <p:grpSpPr>
          <a:xfrm rot="10800000">
            <a:off x="165548" y="4741850"/>
            <a:ext cx="6506400" cy="90900"/>
            <a:chOff x="1239825" y="571500"/>
            <a:chExt cx="6506400" cy="90900"/>
          </a:xfrm>
        </p:grpSpPr>
        <p:cxnSp>
          <p:nvCxnSpPr>
            <p:cNvPr id="142" name="Google Shape;142;p19"/>
            <p:cNvCxnSpPr/>
            <p:nvPr/>
          </p:nvCxnSpPr>
          <p:spPr>
            <a:xfrm>
              <a:off x="1239825" y="571500"/>
              <a:ext cx="6506400" cy="0"/>
            </a:xfrm>
            <a:prstGeom prst="straightConnector1">
              <a:avLst/>
            </a:prstGeom>
            <a:noFill/>
            <a:ln w="9525" cap="flat" cmpd="sng">
              <a:solidFill>
                <a:schemeClr val="dk1"/>
              </a:solidFill>
              <a:prstDash val="solid"/>
              <a:round/>
              <a:headEnd type="none" w="med" len="med"/>
              <a:tailEnd type="none" w="med" len="med"/>
            </a:ln>
          </p:spPr>
        </p:cxnSp>
        <p:sp>
          <p:nvSpPr>
            <p:cNvPr id="143" name="Google Shape;143;p19"/>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44" name="Google Shape;144;p19"/>
          <p:cNvGrpSpPr/>
          <p:nvPr/>
        </p:nvGrpSpPr>
        <p:grpSpPr>
          <a:xfrm rot="10800000" flipH="1">
            <a:off x="402371" y="298450"/>
            <a:ext cx="8394600" cy="90900"/>
            <a:chOff x="1239825" y="571500"/>
            <a:chExt cx="8394600" cy="90900"/>
          </a:xfrm>
        </p:grpSpPr>
        <p:cxnSp>
          <p:nvCxnSpPr>
            <p:cNvPr id="145" name="Google Shape;145;p19"/>
            <p:cNvCxnSpPr/>
            <p:nvPr/>
          </p:nvCxnSpPr>
          <p:spPr>
            <a:xfrm>
              <a:off x="1239825" y="571500"/>
              <a:ext cx="8394600" cy="0"/>
            </a:xfrm>
            <a:prstGeom prst="straightConnector1">
              <a:avLst/>
            </a:prstGeom>
            <a:noFill/>
            <a:ln w="9525" cap="flat" cmpd="sng">
              <a:solidFill>
                <a:schemeClr val="dk1"/>
              </a:solidFill>
              <a:prstDash val="solid"/>
              <a:round/>
              <a:headEnd type="none" w="med" len="med"/>
              <a:tailEnd type="none" w="med" len="med"/>
            </a:ln>
          </p:spPr>
        </p:cxnSp>
        <p:sp>
          <p:nvSpPr>
            <p:cNvPr id="146" name="Google Shape;146;p19"/>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47" name="Google Shape;147;p19"/>
          <p:cNvSpPr>
            <a:spLocks noGrp="1"/>
          </p:cNvSpPr>
          <p:nvPr>
            <p:ph type="pic" idx="2"/>
          </p:nvPr>
        </p:nvSpPr>
        <p:spPr>
          <a:xfrm>
            <a:off x="4789588" y="1603025"/>
            <a:ext cx="3285600" cy="24765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1">
  <p:cSld name="CUSTOM_1">
    <p:spTree>
      <p:nvGrpSpPr>
        <p:cNvPr id="1" name="Shape 148"/>
        <p:cNvGrpSpPr/>
        <p:nvPr/>
      </p:nvGrpSpPr>
      <p:grpSpPr>
        <a:xfrm>
          <a:off x="0" y="0"/>
          <a:ext cx="0" cy="0"/>
          <a:chOff x="0" y="0"/>
          <a:chExt cx="0" cy="0"/>
        </a:xfrm>
      </p:grpSpPr>
      <p:sp>
        <p:nvSpPr>
          <p:cNvPr id="149" name="Google Shape;149;p20"/>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 name="Google Shape;150;p20"/>
          <p:cNvSpPr txBox="1">
            <a:spLocks noGrp="1"/>
          </p:cNvSpPr>
          <p:nvPr>
            <p:ph type="subTitle" idx="1"/>
          </p:nvPr>
        </p:nvSpPr>
        <p:spPr>
          <a:xfrm>
            <a:off x="4507381" y="3382988"/>
            <a:ext cx="3615600" cy="70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0"/>
              </a:spcBef>
              <a:spcAft>
                <a:spcPts val="0"/>
              </a:spcAft>
              <a:buSzPts val="1200"/>
              <a:buChar char="■"/>
              <a:defRPr/>
            </a:lvl3pPr>
            <a:lvl4pPr lvl="3" algn="ctr" rtl="0">
              <a:lnSpc>
                <a:spcPct val="100000"/>
              </a:lnSpc>
              <a:spcBef>
                <a:spcPts val="0"/>
              </a:spcBef>
              <a:spcAft>
                <a:spcPts val="0"/>
              </a:spcAft>
              <a:buSzPts val="1200"/>
              <a:buChar char="●"/>
              <a:defRPr/>
            </a:lvl4pPr>
            <a:lvl5pPr lvl="4" algn="ctr" rtl="0">
              <a:lnSpc>
                <a:spcPct val="100000"/>
              </a:lnSpc>
              <a:spcBef>
                <a:spcPts val="0"/>
              </a:spcBef>
              <a:spcAft>
                <a:spcPts val="0"/>
              </a:spcAft>
              <a:buSzPts val="1200"/>
              <a:buChar char="○"/>
              <a:defRPr/>
            </a:lvl5pPr>
            <a:lvl6pPr lvl="5" algn="ctr" rtl="0">
              <a:lnSpc>
                <a:spcPct val="100000"/>
              </a:lnSpc>
              <a:spcBef>
                <a:spcPts val="0"/>
              </a:spcBef>
              <a:spcAft>
                <a:spcPts val="0"/>
              </a:spcAft>
              <a:buSzPts val="1200"/>
              <a:buChar char="■"/>
              <a:defRPr/>
            </a:lvl6pPr>
            <a:lvl7pPr lvl="6" algn="ctr" rtl="0">
              <a:lnSpc>
                <a:spcPct val="100000"/>
              </a:lnSpc>
              <a:spcBef>
                <a:spcPts val="0"/>
              </a:spcBef>
              <a:spcAft>
                <a:spcPts val="0"/>
              </a:spcAft>
              <a:buSzPts val="1200"/>
              <a:buChar char="●"/>
              <a:defRPr/>
            </a:lvl7pPr>
            <a:lvl8pPr lvl="7" algn="ctr" rtl="0">
              <a:lnSpc>
                <a:spcPct val="100000"/>
              </a:lnSpc>
              <a:spcBef>
                <a:spcPts val="0"/>
              </a:spcBef>
              <a:spcAft>
                <a:spcPts val="0"/>
              </a:spcAft>
              <a:buSzPts val="1200"/>
              <a:buChar char="○"/>
              <a:defRPr/>
            </a:lvl8pPr>
            <a:lvl9pPr lvl="8" algn="ctr" rtl="0">
              <a:lnSpc>
                <a:spcPct val="100000"/>
              </a:lnSpc>
              <a:spcBef>
                <a:spcPts val="0"/>
              </a:spcBef>
              <a:spcAft>
                <a:spcPts val="0"/>
              </a:spcAft>
              <a:buSzPts val="1200"/>
              <a:buChar char="■"/>
              <a:defRPr/>
            </a:lvl9pPr>
          </a:lstStyle>
          <a:p>
            <a:endParaRPr/>
          </a:p>
        </p:txBody>
      </p:sp>
      <p:sp>
        <p:nvSpPr>
          <p:cNvPr id="151" name="Google Shape;151;p20"/>
          <p:cNvSpPr txBox="1">
            <a:spLocks noGrp="1"/>
          </p:cNvSpPr>
          <p:nvPr>
            <p:ph type="title"/>
          </p:nvPr>
        </p:nvSpPr>
        <p:spPr>
          <a:xfrm>
            <a:off x="4507456" y="1055513"/>
            <a:ext cx="3615600" cy="23274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2" name="Google Shape;152;p20"/>
          <p:cNvSpPr>
            <a:spLocks noGrp="1"/>
          </p:cNvSpPr>
          <p:nvPr>
            <p:ph type="pic" idx="2"/>
          </p:nvPr>
        </p:nvSpPr>
        <p:spPr>
          <a:xfrm>
            <a:off x="1020944" y="1333499"/>
            <a:ext cx="3285600" cy="2476500"/>
          </a:xfrm>
          <a:prstGeom prst="rect">
            <a:avLst/>
          </a:prstGeom>
          <a:noFill/>
          <a:ln>
            <a:noFill/>
          </a:ln>
        </p:spPr>
      </p:sp>
      <p:grpSp>
        <p:nvGrpSpPr>
          <p:cNvPr id="153" name="Google Shape;153;p20"/>
          <p:cNvGrpSpPr/>
          <p:nvPr/>
        </p:nvGrpSpPr>
        <p:grpSpPr>
          <a:xfrm>
            <a:off x="435875" y="97275"/>
            <a:ext cx="90900" cy="3705900"/>
            <a:chOff x="435875" y="97275"/>
            <a:chExt cx="90900" cy="3705900"/>
          </a:xfrm>
        </p:grpSpPr>
        <p:cxnSp>
          <p:nvCxnSpPr>
            <p:cNvPr id="154" name="Google Shape;154;p20"/>
            <p:cNvCxnSpPr/>
            <p:nvPr/>
          </p:nvCxnSpPr>
          <p:spPr>
            <a:xfrm rot="10800000">
              <a:off x="435875" y="97275"/>
              <a:ext cx="0" cy="3705900"/>
            </a:xfrm>
            <a:prstGeom prst="straightConnector1">
              <a:avLst/>
            </a:prstGeom>
            <a:noFill/>
            <a:ln w="9525" cap="flat" cmpd="sng">
              <a:solidFill>
                <a:schemeClr val="dk1"/>
              </a:solidFill>
              <a:prstDash val="solid"/>
              <a:round/>
              <a:headEnd type="none" w="med" len="med"/>
              <a:tailEnd type="none" w="med" len="med"/>
            </a:ln>
          </p:spPr>
        </p:cxnSp>
        <p:sp>
          <p:nvSpPr>
            <p:cNvPr id="155" name="Google Shape;155;p20"/>
            <p:cNvSpPr/>
            <p:nvPr/>
          </p:nvSpPr>
          <p:spPr>
            <a:xfrm rot="-5400000">
              <a:off x="228725" y="3505125"/>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209"/>
        <p:cNvGrpSpPr/>
        <p:nvPr/>
      </p:nvGrpSpPr>
      <p:grpSpPr>
        <a:xfrm>
          <a:off x="0" y="0"/>
          <a:ext cx="0" cy="0"/>
          <a:chOff x="0" y="0"/>
          <a:chExt cx="0" cy="0"/>
        </a:xfrm>
      </p:grpSpPr>
      <p:sp>
        <p:nvSpPr>
          <p:cNvPr id="210" name="Google Shape;210;p26"/>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 name="Google Shape;211;p26"/>
          <p:cNvSpPr txBox="1">
            <a:spLocks noGrp="1"/>
          </p:cNvSpPr>
          <p:nvPr>
            <p:ph type="subTitle" idx="1"/>
          </p:nvPr>
        </p:nvSpPr>
        <p:spPr>
          <a:xfrm>
            <a:off x="4572000" y="1598050"/>
            <a:ext cx="2505600" cy="494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212" name="Google Shape;212;p26"/>
          <p:cNvSpPr txBox="1">
            <a:spLocks noGrp="1"/>
          </p:cNvSpPr>
          <p:nvPr>
            <p:ph type="subTitle" idx="2"/>
          </p:nvPr>
        </p:nvSpPr>
        <p:spPr>
          <a:xfrm>
            <a:off x="2066400" y="2938825"/>
            <a:ext cx="2505600" cy="4941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213" name="Google Shape;213;p26"/>
          <p:cNvSpPr txBox="1">
            <a:spLocks noGrp="1"/>
          </p:cNvSpPr>
          <p:nvPr>
            <p:ph type="subTitle" idx="3"/>
          </p:nvPr>
        </p:nvSpPr>
        <p:spPr>
          <a:xfrm>
            <a:off x="4572000" y="2092150"/>
            <a:ext cx="25056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4" name="Google Shape;214;p26"/>
          <p:cNvSpPr txBox="1">
            <a:spLocks noGrp="1"/>
          </p:cNvSpPr>
          <p:nvPr>
            <p:ph type="subTitle" idx="4"/>
          </p:nvPr>
        </p:nvSpPr>
        <p:spPr>
          <a:xfrm>
            <a:off x="2066400" y="3432925"/>
            <a:ext cx="25056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5" name="Google Shape;215;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16" name="Google Shape;216;p26"/>
          <p:cNvGrpSpPr/>
          <p:nvPr/>
        </p:nvGrpSpPr>
        <p:grpSpPr>
          <a:xfrm rot="10800000">
            <a:off x="165548" y="4741850"/>
            <a:ext cx="6506400" cy="90900"/>
            <a:chOff x="1239825" y="571500"/>
            <a:chExt cx="6506400" cy="90900"/>
          </a:xfrm>
        </p:grpSpPr>
        <p:cxnSp>
          <p:nvCxnSpPr>
            <p:cNvPr id="217" name="Google Shape;217;p26"/>
            <p:cNvCxnSpPr/>
            <p:nvPr/>
          </p:nvCxnSpPr>
          <p:spPr>
            <a:xfrm>
              <a:off x="1239825" y="571500"/>
              <a:ext cx="6506400" cy="0"/>
            </a:xfrm>
            <a:prstGeom prst="straightConnector1">
              <a:avLst/>
            </a:prstGeom>
            <a:noFill/>
            <a:ln w="9525" cap="flat" cmpd="sng">
              <a:solidFill>
                <a:schemeClr val="dk1"/>
              </a:solidFill>
              <a:prstDash val="solid"/>
              <a:round/>
              <a:headEnd type="none" w="med" len="med"/>
              <a:tailEnd type="none" w="med" len="med"/>
            </a:ln>
          </p:spPr>
        </p:cxnSp>
        <p:sp>
          <p:nvSpPr>
            <p:cNvPr id="218" name="Google Shape;218;p26"/>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19" name="Google Shape;219;p26"/>
          <p:cNvGrpSpPr/>
          <p:nvPr/>
        </p:nvGrpSpPr>
        <p:grpSpPr>
          <a:xfrm rot="10800000" flipH="1">
            <a:off x="2467871" y="298450"/>
            <a:ext cx="6506400" cy="90900"/>
            <a:chOff x="1239825" y="571500"/>
            <a:chExt cx="6506400" cy="90900"/>
          </a:xfrm>
        </p:grpSpPr>
        <p:cxnSp>
          <p:nvCxnSpPr>
            <p:cNvPr id="220" name="Google Shape;220;p26"/>
            <p:cNvCxnSpPr/>
            <p:nvPr/>
          </p:nvCxnSpPr>
          <p:spPr>
            <a:xfrm>
              <a:off x="1239825" y="571500"/>
              <a:ext cx="6506400" cy="0"/>
            </a:xfrm>
            <a:prstGeom prst="straightConnector1">
              <a:avLst/>
            </a:prstGeom>
            <a:noFill/>
            <a:ln w="9525" cap="flat" cmpd="sng">
              <a:solidFill>
                <a:schemeClr val="dk1"/>
              </a:solidFill>
              <a:prstDash val="solid"/>
              <a:round/>
              <a:headEnd type="none" w="med" len="med"/>
              <a:tailEnd type="none" w="med" len="med"/>
            </a:ln>
          </p:spPr>
        </p:cxnSp>
        <p:sp>
          <p:nvSpPr>
            <p:cNvPr id="221" name="Google Shape;221;p26"/>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52"/>
        <p:cNvGrpSpPr/>
        <p:nvPr/>
      </p:nvGrpSpPr>
      <p:grpSpPr>
        <a:xfrm>
          <a:off x="0" y="0"/>
          <a:ext cx="0" cy="0"/>
          <a:chOff x="0" y="0"/>
          <a:chExt cx="0" cy="0"/>
        </a:xfrm>
      </p:grpSpPr>
      <p:sp>
        <p:nvSpPr>
          <p:cNvPr id="353" name="Google Shape;353;p35"/>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54" name="Google Shape;354;p35"/>
          <p:cNvGrpSpPr/>
          <p:nvPr/>
        </p:nvGrpSpPr>
        <p:grpSpPr>
          <a:xfrm rot="5400000">
            <a:off x="-1374375" y="3095450"/>
            <a:ext cx="3697200" cy="90900"/>
            <a:chOff x="1239825" y="571500"/>
            <a:chExt cx="3697200" cy="90900"/>
          </a:xfrm>
        </p:grpSpPr>
        <p:cxnSp>
          <p:nvCxnSpPr>
            <p:cNvPr id="355" name="Google Shape;355;p35"/>
            <p:cNvCxnSpPr/>
            <p:nvPr/>
          </p:nvCxnSpPr>
          <p:spPr>
            <a:xfrm rot="10800000">
              <a:off x="3088425" y="-1277100"/>
              <a:ext cx="0" cy="3697200"/>
            </a:xfrm>
            <a:prstGeom prst="straightConnector1">
              <a:avLst/>
            </a:prstGeom>
            <a:noFill/>
            <a:ln w="9525" cap="flat" cmpd="sng">
              <a:solidFill>
                <a:schemeClr val="dk1"/>
              </a:solidFill>
              <a:prstDash val="solid"/>
              <a:round/>
              <a:headEnd type="none" w="med" len="med"/>
              <a:tailEnd type="none" w="med" len="med"/>
            </a:ln>
          </p:spPr>
        </p:cxnSp>
        <p:sp>
          <p:nvSpPr>
            <p:cNvPr id="356" name="Google Shape;356;p35"/>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57" name="Google Shape;357;p35"/>
          <p:cNvGrpSpPr/>
          <p:nvPr/>
        </p:nvGrpSpPr>
        <p:grpSpPr>
          <a:xfrm rot="-5400000">
            <a:off x="6802600" y="1948950"/>
            <a:ext cx="3697200" cy="90900"/>
            <a:chOff x="1239825" y="571500"/>
            <a:chExt cx="3697200" cy="90900"/>
          </a:xfrm>
        </p:grpSpPr>
        <p:cxnSp>
          <p:nvCxnSpPr>
            <p:cNvPr id="358" name="Google Shape;358;p35"/>
            <p:cNvCxnSpPr/>
            <p:nvPr/>
          </p:nvCxnSpPr>
          <p:spPr>
            <a:xfrm rot="10800000">
              <a:off x="3088425" y="-1277100"/>
              <a:ext cx="0" cy="3697200"/>
            </a:xfrm>
            <a:prstGeom prst="straightConnector1">
              <a:avLst/>
            </a:prstGeom>
            <a:noFill/>
            <a:ln w="9525" cap="flat" cmpd="sng">
              <a:solidFill>
                <a:schemeClr val="dk1"/>
              </a:solidFill>
              <a:prstDash val="solid"/>
              <a:round/>
              <a:headEnd type="none" w="med" len="med"/>
              <a:tailEnd type="none" w="med" len="med"/>
            </a:ln>
          </p:spPr>
        </p:cxnSp>
        <p:sp>
          <p:nvSpPr>
            <p:cNvPr id="359" name="Google Shape;359;p35"/>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500"/>
              <a:buFont typeface="Noto Serif Ethiopic"/>
              <a:buNone/>
              <a:defRPr sz="3500">
                <a:solidFill>
                  <a:schemeClr val="dk1"/>
                </a:solidFill>
                <a:latin typeface="Noto Serif Ethiopic"/>
                <a:ea typeface="Noto Serif Ethiopic"/>
                <a:cs typeface="Noto Serif Ethiopic"/>
                <a:sym typeface="Noto Serif Ethiopic"/>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Font typeface="Akatab"/>
              <a:buChar char="●"/>
              <a:defRPr sz="1200">
                <a:solidFill>
                  <a:schemeClr val="dk1"/>
                </a:solidFill>
                <a:latin typeface="Akatab"/>
                <a:ea typeface="Akatab"/>
                <a:cs typeface="Akatab"/>
                <a:sym typeface="Akatab"/>
              </a:defRPr>
            </a:lvl1pPr>
            <a:lvl2pPr marL="914400" lvl="1" indent="-304800" rtl="0">
              <a:lnSpc>
                <a:spcPct val="100000"/>
              </a:lnSpc>
              <a:spcBef>
                <a:spcPts val="1600"/>
              </a:spcBef>
              <a:spcAft>
                <a:spcPts val="0"/>
              </a:spcAft>
              <a:buClr>
                <a:schemeClr val="dk1"/>
              </a:buClr>
              <a:buSzPts val="1200"/>
              <a:buFont typeface="Akatab"/>
              <a:buChar char="○"/>
              <a:defRPr sz="1200">
                <a:solidFill>
                  <a:schemeClr val="dk1"/>
                </a:solidFill>
                <a:latin typeface="Akatab"/>
                <a:ea typeface="Akatab"/>
                <a:cs typeface="Akatab"/>
                <a:sym typeface="Akatab"/>
              </a:defRPr>
            </a:lvl2pPr>
            <a:lvl3pPr marL="1371600" lvl="2" indent="-304800" rtl="0">
              <a:lnSpc>
                <a:spcPct val="100000"/>
              </a:lnSpc>
              <a:spcBef>
                <a:spcPts val="1600"/>
              </a:spcBef>
              <a:spcAft>
                <a:spcPts val="0"/>
              </a:spcAft>
              <a:buClr>
                <a:schemeClr val="dk1"/>
              </a:buClr>
              <a:buSzPts val="1200"/>
              <a:buFont typeface="Akatab"/>
              <a:buChar char="■"/>
              <a:defRPr sz="1200">
                <a:solidFill>
                  <a:schemeClr val="dk1"/>
                </a:solidFill>
                <a:latin typeface="Akatab"/>
                <a:ea typeface="Akatab"/>
                <a:cs typeface="Akatab"/>
                <a:sym typeface="Akatab"/>
              </a:defRPr>
            </a:lvl3pPr>
            <a:lvl4pPr marL="1828800" lvl="3" indent="-304800" rtl="0">
              <a:lnSpc>
                <a:spcPct val="100000"/>
              </a:lnSpc>
              <a:spcBef>
                <a:spcPts val="1600"/>
              </a:spcBef>
              <a:spcAft>
                <a:spcPts val="0"/>
              </a:spcAft>
              <a:buClr>
                <a:schemeClr val="dk1"/>
              </a:buClr>
              <a:buSzPts val="1200"/>
              <a:buFont typeface="Akatab"/>
              <a:buChar char="●"/>
              <a:defRPr sz="1200">
                <a:solidFill>
                  <a:schemeClr val="dk1"/>
                </a:solidFill>
                <a:latin typeface="Akatab"/>
                <a:ea typeface="Akatab"/>
                <a:cs typeface="Akatab"/>
                <a:sym typeface="Akatab"/>
              </a:defRPr>
            </a:lvl4pPr>
            <a:lvl5pPr marL="2286000" lvl="4" indent="-304800" rtl="0">
              <a:lnSpc>
                <a:spcPct val="100000"/>
              </a:lnSpc>
              <a:spcBef>
                <a:spcPts val="1600"/>
              </a:spcBef>
              <a:spcAft>
                <a:spcPts val="0"/>
              </a:spcAft>
              <a:buClr>
                <a:schemeClr val="dk1"/>
              </a:buClr>
              <a:buSzPts val="1200"/>
              <a:buFont typeface="Akatab"/>
              <a:buChar char="○"/>
              <a:defRPr sz="1200">
                <a:solidFill>
                  <a:schemeClr val="dk1"/>
                </a:solidFill>
                <a:latin typeface="Akatab"/>
                <a:ea typeface="Akatab"/>
                <a:cs typeface="Akatab"/>
                <a:sym typeface="Akatab"/>
              </a:defRPr>
            </a:lvl5pPr>
            <a:lvl6pPr marL="2743200" lvl="5" indent="-304800" rtl="0">
              <a:lnSpc>
                <a:spcPct val="100000"/>
              </a:lnSpc>
              <a:spcBef>
                <a:spcPts val="1600"/>
              </a:spcBef>
              <a:spcAft>
                <a:spcPts val="0"/>
              </a:spcAft>
              <a:buClr>
                <a:schemeClr val="dk1"/>
              </a:buClr>
              <a:buSzPts val="1200"/>
              <a:buFont typeface="Akatab"/>
              <a:buChar char="■"/>
              <a:defRPr sz="1200">
                <a:solidFill>
                  <a:schemeClr val="dk1"/>
                </a:solidFill>
                <a:latin typeface="Akatab"/>
                <a:ea typeface="Akatab"/>
                <a:cs typeface="Akatab"/>
                <a:sym typeface="Akatab"/>
              </a:defRPr>
            </a:lvl6pPr>
            <a:lvl7pPr marL="3200400" lvl="6" indent="-304800" rtl="0">
              <a:lnSpc>
                <a:spcPct val="100000"/>
              </a:lnSpc>
              <a:spcBef>
                <a:spcPts val="1600"/>
              </a:spcBef>
              <a:spcAft>
                <a:spcPts val="0"/>
              </a:spcAft>
              <a:buClr>
                <a:schemeClr val="dk1"/>
              </a:buClr>
              <a:buSzPts val="1200"/>
              <a:buFont typeface="Akatab"/>
              <a:buChar char="●"/>
              <a:defRPr sz="1200">
                <a:solidFill>
                  <a:schemeClr val="dk1"/>
                </a:solidFill>
                <a:latin typeface="Akatab"/>
                <a:ea typeface="Akatab"/>
                <a:cs typeface="Akatab"/>
                <a:sym typeface="Akatab"/>
              </a:defRPr>
            </a:lvl7pPr>
            <a:lvl8pPr marL="3657600" lvl="7" indent="-304800" rtl="0">
              <a:lnSpc>
                <a:spcPct val="100000"/>
              </a:lnSpc>
              <a:spcBef>
                <a:spcPts val="1600"/>
              </a:spcBef>
              <a:spcAft>
                <a:spcPts val="0"/>
              </a:spcAft>
              <a:buClr>
                <a:schemeClr val="dk1"/>
              </a:buClr>
              <a:buSzPts val="1200"/>
              <a:buFont typeface="Akatab"/>
              <a:buChar char="○"/>
              <a:defRPr sz="1200">
                <a:solidFill>
                  <a:schemeClr val="dk1"/>
                </a:solidFill>
                <a:latin typeface="Akatab"/>
                <a:ea typeface="Akatab"/>
                <a:cs typeface="Akatab"/>
                <a:sym typeface="Akatab"/>
              </a:defRPr>
            </a:lvl8pPr>
            <a:lvl9pPr marL="4114800" lvl="8" indent="-304800" rtl="0">
              <a:lnSpc>
                <a:spcPct val="100000"/>
              </a:lnSpc>
              <a:spcBef>
                <a:spcPts val="1600"/>
              </a:spcBef>
              <a:spcAft>
                <a:spcPts val="1600"/>
              </a:spcAft>
              <a:buClr>
                <a:schemeClr val="dk1"/>
              </a:buClr>
              <a:buSzPts val="1200"/>
              <a:buFont typeface="Akatab"/>
              <a:buChar char="■"/>
              <a:defRPr sz="1200">
                <a:solidFill>
                  <a:schemeClr val="dk1"/>
                </a:solidFill>
                <a:latin typeface="Akatab"/>
                <a:ea typeface="Akatab"/>
                <a:cs typeface="Akatab"/>
                <a:sym typeface="Akatab"/>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61" r:id="rId8"/>
    <p:sldLayoutId id="2147483663" r:id="rId9"/>
    <p:sldLayoutId id="2147483665" r:id="rId10"/>
    <p:sldLayoutId id="2147483666" r:id="rId11"/>
    <p:sldLayoutId id="2147483672" r:id="rId12"/>
    <p:sldLayoutId id="214748368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microsoft.com/office/2007/relationships/hdphoto" Target="../media/hdphoto2.wdp"/></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hyperlink" Target="https://home.iitk.ac.in/~shalab/sampling/chapter7-sampling-varying-probability-sampling.pdf"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40"/>
          <p:cNvSpPr txBox="1">
            <a:spLocks noGrp="1"/>
          </p:cNvSpPr>
          <p:nvPr>
            <p:ph type="ctrTitle"/>
          </p:nvPr>
        </p:nvSpPr>
        <p:spPr>
          <a:xfrm>
            <a:off x="1004444" y="1612491"/>
            <a:ext cx="7135105" cy="1532759"/>
          </a:xfrm>
          <a:prstGeom prst="rect">
            <a:avLst/>
          </a:prstGeom>
        </p:spPr>
        <p:txBody>
          <a:bodyPr spcFirstLastPara="1" wrap="square" lIns="91425" tIns="91425" rIns="91425" bIns="91425" anchor="b" anchorCtr="0">
            <a:noAutofit/>
          </a:bodyPr>
          <a:lstStyle/>
          <a:p>
            <a:pPr lvl="0" algn="ctr"/>
            <a:r>
              <a:rPr lang="en-IN" sz="2800" dirty="0"/>
              <a:t>Bayesian Hierarchical Models to Estimate Groundwater Average Arsenic in </a:t>
            </a:r>
            <a:r>
              <a:rPr lang="en-IN" sz="2800" dirty="0" err="1"/>
              <a:t>Mandari</a:t>
            </a:r>
            <a:r>
              <a:rPr lang="en-IN" sz="2800" dirty="0"/>
              <a:t> Village, Bangladesh</a:t>
            </a:r>
            <a:endParaRPr sz="2800" dirty="0"/>
          </a:p>
        </p:txBody>
      </p:sp>
      <p:sp>
        <p:nvSpPr>
          <p:cNvPr id="379" name="Google Shape;379;p40"/>
          <p:cNvSpPr txBox="1">
            <a:spLocks noGrp="1"/>
          </p:cNvSpPr>
          <p:nvPr>
            <p:ph type="subTitle" idx="1"/>
          </p:nvPr>
        </p:nvSpPr>
        <p:spPr>
          <a:xfrm>
            <a:off x="1311382" y="3299685"/>
            <a:ext cx="6522611" cy="1118791"/>
          </a:xfrm>
          <a:prstGeom prst="rect">
            <a:avLst/>
          </a:prstGeom>
        </p:spPr>
        <p:txBody>
          <a:bodyPr spcFirstLastPara="1" wrap="square" lIns="91425" tIns="91425" rIns="91425" bIns="91425" anchor="t" anchorCtr="0">
            <a:noAutofit/>
          </a:bodyPr>
          <a:lstStyle/>
          <a:p>
            <a:pPr algn="ctr"/>
            <a:r>
              <a:rPr lang="en-IN" sz="1600" dirty="0">
                <a:latin typeface="Akatab" panose="020B0604020202020204" charset="0"/>
                <a:ea typeface="Akatab" panose="020B0604020202020204" charset="0"/>
                <a:cs typeface="Akatab" panose="020B0604020202020204" charset="0"/>
              </a:rPr>
              <a:t>Name: Rupsa Dawn</a:t>
            </a:r>
          </a:p>
          <a:p>
            <a:pPr algn="ctr"/>
            <a:r>
              <a:rPr lang="en-IN" sz="1600" dirty="0">
                <a:latin typeface="Akatab" panose="020B0604020202020204" charset="0"/>
                <a:ea typeface="Akatab" panose="020B0604020202020204" charset="0"/>
                <a:cs typeface="Akatab" panose="020B0604020202020204" charset="0"/>
              </a:rPr>
              <a:t>Registration No.: 100242014000039</a:t>
            </a:r>
          </a:p>
          <a:p>
            <a:pPr algn="ctr"/>
            <a:r>
              <a:rPr lang="en-IN" sz="1600" dirty="0">
                <a:latin typeface="Akatab" panose="020B0604020202020204" charset="0"/>
                <a:ea typeface="Akatab" panose="020B0604020202020204" charset="0"/>
                <a:cs typeface="Akatab" panose="020B0604020202020204" charset="0"/>
              </a:rPr>
              <a:t>Roll No.: 10024017900001</a:t>
            </a:r>
          </a:p>
          <a:p>
            <a:pPr algn="ctr"/>
            <a:r>
              <a:rPr lang="en-IN" sz="1600" dirty="0">
                <a:latin typeface="Akatab" panose="020B0604020202020204" charset="0"/>
                <a:ea typeface="Akatab" panose="020B0604020202020204" charset="0"/>
                <a:cs typeface="Akatab" panose="020B0604020202020204" charset="0"/>
              </a:rPr>
              <a:t>Session: 2024-2026</a:t>
            </a:r>
          </a:p>
        </p:txBody>
      </p:sp>
      <p:grpSp>
        <p:nvGrpSpPr>
          <p:cNvPr id="380" name="Google Shape;380;p40"/>
          <p:cNvGrpSpPr/>
          <p:nvPr/>
        </p:nvGrpSpPr>
        <p:grpSpPr>
          <a:xfrm rot="10800000">
            <a:off x="597150" y="4546275"/>
            <a:ext cx="8385900" cy="90900"/>
            <a:chOff x="160950" y="480600"/>
            <a:chExt cx="8385900" cy="90900"/>
          </a:xfrm>
        </p:grpSpPr>
        <p:cxnSp>
          <p:nvCxnSpPr>
            <p:cNvPr id="381" name="Google Shape;381;p40"/>
            <p:cNvCxnSpPr/>
            <p:nvPr/>
          </p:nvCxnSpPr>
          <p:spPr>
            <a:xfrm>
              <a:off x="160950" y="571500"/>
              <a:ext cx="8385900" cy="0"/>
            </a:xfrm>
            <a:prstGeom prst="straightConnector1">
              <a:avLst/>
            </a:prstGeom>
            <a:noFill/>
            <a:ln w="9525" cap="flat" cmpd="sng">
              <a:solidFill>
                <a:schemeClr val="dk1"/>
              </a:solidFill>
              <a:prstDash val="solid"/>
              <a:round/>
              <a:headEnd type="none" w="med" len="med"/>
              <a:tailEnd type="none" w="med" len="med"/>
            </a:ln>
          </p:spPr>
        </p:cxnSp>
        <p:sp>
          <p:nvSpPr>
            <p:cNvPr id="382" name="Google Shape;382;p40"/>
            <p:cNvSpPr/>
            <p:nvPr/>
          </p:nvSpPr>
          <p:spPr>
            <a:xfrm>
              <a:off x="8041650" y="4806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83" name="Google Shape;383;p40"/>
          <p:cNvGrpSpPr/>
          <p:nvPr/>
        </p:nvGrpSpPr>
        <p:grpSpPr>
          <a:xfrm>
            <a:off x="7952125" y="1292300"/>
            <a:ext cx="90900" cy="3705900"/>
            <a:chOff x="7952125" y="1292300"/>
            <a:chExt cx="90900" cy="3705900"/>
          </a:xfrm>
        </p:grpSpPr>
        <p:sp>
          <p:nvSpPr>
            <p:cNvPr id="384" name="Google Shape;384;p40"/>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385" name="Google Shape;385;p40"/>
            <p:cNvCxnSpPr/>
            <p:nvPr/>
          </p:nvCxnSpPr>
          <p:spPr>
            <a:xfrm>
              <a:off x="8043025" y="1292300"/>
              <a:ext cx="0" cy="3705900"/>
            </a:xfrm>
            <a:prstGeom prst="straightConnector1">
              <a:avLst/>
            </a:prstGeom>
            <a:noFill/>
            <a:ln w="9525" cap="flat" cmpd="sng">
              <a:solidFill>
                <a:schemeClr val="dk1"/>
              </a:solidFill>
              <a:prstDash val="solid"/>
              <a:round/>
              <a:headEnd type="none" w="med" len="med"/>
              <a:tailEnd type="none" w="med" len="med"/>
            </a:ln>
          </p:spPr>
        </p:cxnSp>
      </p:grpSp>
      <p:pic>
        <p:nvPicPr>
          <p:cNvPr id="10" name="Picture 9">
            <a:extLst>
              <a:ext uri="{FF2B5EF4-FFF2-40B4-BE49-F238E27FC236}">
                <a16:creationId xmlns:a16="http://schemas.microsoft.com/office/drawing/2014/main" id="{7AB4C3F1-8AD4-4136-939C-E282727E857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59043" y="458744"/>
            <a:ext cx="825909" cy="986598"/>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00B5F-74C6-4083-96D3-0E834888BD7A}"/>
              </a:ext>
            </a:extLst>
          </p:cNvPr>
          <p:cNvSpPr>
            <a:spLocks noGrp="1"/>
          </p:cNvSpPr>
          <p:nvPr>
            <p:ph type="title"/>
          </p:nvPr>
        </p:nvSpPr>
        <p:spPr>
          <a:xfrm>
            <a:off x="719999" y="452300"/>
            <a:ext cx="7704000" cy="572700"/>
          </a:xfrm>
        </p:spPr>
        <p:txBody>
          <a:bodyPr/>
          <a:lstStyle/>
          <a:p>
            <a:r>
              <a:rPr lang="en-IN" sz="2800" b="1" dirty="0"/>
              <a:t>Contents</a:t>
            </a:r>
          </a:p>
        </p:txBody>
      </p:sp>
      <p:sp>
        <p:nvSpPr>
          <p:cNvPr id="3" name="Text Placeholder 2">
            <a:extLst>
              <a:ext uri="{FF2B5EF4-FFF2-40B4-BE49-F238E27FC236}">
                <a16:creationId xmlns:a16="http://schemas.microsoft.com/office/drawing/2014/main" id="{8FBCD748-4A4E-4263-809B-EDA70BE68530}"/>
              </a:ext>
            </a:extLst>
          </p:cNvPr>
          <p:cNvSpPr>
            <a:spLocks noGrp="1"/>
          </p:cNvSpPr>
          <p:nvPr>
            <p:ph type="body" idx="1"/>
          </p:nvPr>
        </p:nvSpPr>
        <p:spPr>
          <a:xfrm>
            <a:off x="2295831" y="1142641"/>
            <a:ext cx="4552337" cy="3262209"/>
          </a:xfrm>
        </p:spPr>
        <p:txBody>
          <a:bodyPr/>
          <a:lstStyle/>
          <a:p>
            <a:pPr marL="228600" lvl="0" indent="-228600" algn="l">
              <a:spcAft>
                <a:spcPts val="600"/>
              </a:spcAft>
            </a:pPr>
            <a:r>
              <a:rPr lang="en-IN" sz="1800" dirty="0">
                <a:latin typeface="Akatab" panose="020B0604020202020204" charset="0"/>
                <a:ea typeface="Akatab" panose="020B0604020202020204" charset="0"/>
                <a:cs typeface="Akatab" panose="020B0604020202020204" charset="0"/>
              </a:rPr>
              <a:t>Problem statement</a:t>
            </a:r>
          </a:p>
          <a:p>
            <a:pPr marL="228600" lvl="0" indent="-228600" algn="l">
              <a:spcAft>
                <a:spcPts val="600"/>
              </a:spcAft>
            </a:pPr>
            <a:r>
              <a:rPr lang="en-IN" sz="1800" dirty="0">
                <a:latin typeface="Akatab" panose="020B0604020202020204" charset="0"/>
                <a:ea typeface="Akatab" panose="020B0604020202020204" charset="0"/>
                <a:cs typeface="Akatab" panose="020B0604020202020204" charset="0"/>
              </a:rPr>
              <a:t>Dataset</a:t>
            </a:r>
          </a:p>
          <a:p>
            <a:pPr marL="228600" lvl="0" indent="-228600" algn="l">
              <a:spcAft>
                <a:spcPts val="600"/>
              </a:spcAft>
            </a:pPr>
            <a:r>
              <a:rPr lang="en-IN" sz="1800" dirty="0">
                <a:latin typeface="Akatab" panose="020B0604020202020204" charset="0"/>
                <a:ea typeface="Akatab" panose="020B0604020202020204" charset="0"/>
                <a:cs typeface="Akatab" panose="020B0604020202020204" charset="0"/>
              </a:rPr>
              <a:t>Bayesian models for finite population</a:t>
            </a:r>
          </a:p>
          <a:p>
            <a:pPr marL="228600" lvl="0" indent="-228600" algn="l">
              <a:spcAft>
                <a:spcPts val="600"/>
              </a:spcAft>
            </a:pPr>
            <a:r>
              <a:rPr lang="en-IN" sz="1800" dirty="0">
                <a:latin typeface="Akatab" panose="020B0604020202020204" charset="0"/>
                <a:ea typeface="Akatab" panose="020B0604020202020204" charset="0"/>
                <a:cs typeface="Akatab" panose="020B0604020202020204" charset="0"/>
              </a:rPr>
              <a:t>Different models</a:t>
            </a:r>
          </a:p>
          <a:p>
            <a:pPr marL="228600" lvl="0" indent="-228600" algn="l">
              <a:spcAft>
                <a:spcPts val="600"/>
              </a:spcAft>
            </a:pPr>
            <a:r>
              <a:rPr lang="en-IN" sz="1800" dirty="0">
                <a:latin typeface="Akatab" panose="020B0604020202020204" charset="0"/>
                <a:ea typeface="Akatab" panose="020B0604020202020204" charset="0"/>
                <a:cs typeface="Akatab" panose="020B0604020202020204" charset="0"/>
              </a:rPr>
              <a:t>Comparison of Different Models</a:t>
            </a:r>
          </a:p>
          <a:p>
            <a:pPr marL="228600" lvl="0" indent="-228600" algn="l">
              <a:spcAft>
                <a:spcPts val="600"/>
              </a:spcAft>
            </a:pPr>
            <a:r>
              <a:rPr lang="en-IN" sz="1800" dirty="0">
                <a:latin typeface="Akatab" panose="020B0604020202020204" charset="0"/>
                <a:ea typeface="Akatab" panose="020B0604020202020204" charset="0"/>
                <a:cs typeface="Akatab" panose="020B0604020202020204" charset="0"/>
              </a:rPr>
              <a:t>Model diagnostics</a:t>
            </a:r>
          </a:p>
          <a:p>
            <a:pPr marL="228600" lvl="0" indent="-228600" algn="l">
              <a:spcAft>
                <a:spcPts val="600"/>
              </a:spcAft>
            </a:pPr>
            <a:r>
              <a:rPr lang="en-IN" sz="1800" dirty="0">
                <a:latin typeface="Akatab" panose="020B0604020202020204" charset="0"/>
                <a:ea typeface="Akatab" panose="020B0604020202020204" charset="0"/>
                <a:cs typeface="Akatab" panose="020B0604020202020204" charset="0"/>
              </a:rPr>
              <a:t>Conclusion</a:t>
            </a:r>
          </a:p>
          <a:p>
            <a:pPr marL="228600" lvl="0" indent="-228600" algn="l">
              <a:spcAft>
                <a:spcPts val="600"/>
              </a:spcAft>
            </a:pPr>
            <a:r>
              <a:rPr lang="en-IN" sz="1800" dirty="0">
                <a:latin typeface="Akatab" panose="020B0604020202020204" charset="0"/>
                <a:ea typeface="Akatab" panose="020B0604020202020204" charset="0"/>
                <a:cs typeface="Akatab" panose="020B0604020202020204" charset="0"/>
              </a:rPr>
              <a:t>References</a:t>
            </a:r>
          </a:p>
          <a:p>
            <a:endParaRPr lang="en-IN" dirty="0"/>
          </a:p>
        </p:txBody>
      </p:sp>
    </p:spTree>
    <p:extLst>
      <p:ext uri="{BB962C8B-B14F-4D97-AF65-F5344CB8AC3E}">
        <p14:creationId xmlns:p14="http://schemas.microsoft.com/office/powerpoint/2010/main" val="1311088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43"/>
          <p:cNvSpPr txBox="1">
            <a:spLocks noGrp="1"/>
          </p:cNvSpPr>
          <p:nvPr>
            <p:ph type="subTitle" idx="1"/>
          </p:nvPr>
        </p:nvSpPr>
        <p:spPr>
          <a:xfrm>
            <a:off x="975850" y="2121180"/>
            <a:ext cx="7192298" cy="2606411"/>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600" dirty="0"/>
              <a:t>Arsenic contamination in wells in Bangladesh is a major public health crisis. </a:t>
            </a:r>
          </a:p>
          <a:p>
            <a:pPr algn="l">
              <a:buFont typeface="Arial" panose="020B0604020202020204" pitchFamily="34" charset="0"/>
              <a:buChar char="•"/>
            </a:pPr>
            <a:r>
              <a:rPr lang="en-US" sz="1600" dirty="0"/>
              <a:t>Arsenic level according to WHO should be less than 10 µg/L. However, for Bangladesh it is set as 50 µg/L</a:t>
            </a:r>
          </a:p>
          <a:p>
            <a:pPr algn="l">
              <a:buFont typeface="Arial" panose="020B0604020202020204" pitchFamily="34" charset="0"/>
              <a:buChar char="•"/>
            </a:pPr>
            <a:r>
              <a:rPr lang="en-US" sz="1600" dirty="0"/>
              <a:t>British Geological Survey carried out a project to find average Arsenic in ground water.</a:t>
            </a:r>
          </a:p>
          <a:p>
            <a:pPr algn="l">
              <a:buFont typeface="Arial" panose="020B0604020202020204" pitchFamily="34" charset="0"/>
              <a:buChar char="•"/>
            </a:pPr>
            <a:r>
              <a:rPr lang="en-US" sz="1600" dirty="0"/>
              <a:t>We want to estimate the average arsenic contamination level in Mandari village.</a:t>
            </a:r>
          </a:p>
          <a:p>
            <a:pPr algn="l">
              <a:buFont typeface="Arial" panose="020B0604020202020204" pitchFamily="34" charset="0"/>
              <a:buChar char="•"/>
            </a:pPr>
            <a:r>
              <a:rPr lang="en-US" sz="1600" dirty="0"/>
              <a:t>Our estimation is carried out using different Bayesian analysis according to Banerjee (2025).</a:t>
            </a:r>
          </a:p>
        </p:txBody>
      </p:sp>
      <p:sp>
        <p:nvSpPr>
          <p:cNvPr id="420" name="Google Shape;420;p43"/>
          <p:cNvSpPr txBox="1">
            <a:spLocks noGrp="1"/>
          </p:cNvSpPr>
          <p:nvPr>
            <p:ph type="title"/>
          </p:nvPr>
        </p:nvSpPr>
        <p:spPr>
          <a:xfrm>
            <a:off x="1720954" y="860732"/>
            <a:ext cx="5702091" cy="981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sz="4000" b="1" dirty="0"/>
              <a:t>Problem Statement</a:t>
            </a:r>
            <a:endParaRPr sz="4000" b="1" dirty="0"/>
          </a:p>
        </p:txBody>
      </p:sp>
      <p:grpSp>
        <p:nvGrpSpPr>
          <p:cNvPr id="421" name="Google Shape;421;p43"/>
          <p:cNvGrpSpPr/>
          <p:nvPr/>
        </p:nvGrpSpPr>
        <p:grpSpPr>
          <a:xfrm>
            <a:off x="181160" y="508623"/>
            <a:ext cx="8385900" cy="90900"/>
            <a:chOff x="160950" y="480600"/>
            <a:chExt cx="8385900" cy="90900"/>
          </a:xfrm>
        </p:grpSpPr>
        <p:cxnSp>
          <p:nvCxnSpPr>
            <p:cNvPr id="422" name="Google Shape;422;p43"/>
            <p:cNvCxnSpPr/>
            <p:nvPr/>
          </p:nvCxnSpPr>
          <p:spPr>
            <a:xfrm>
              <a:off x="160950" y="571500"/>
              <a:ext cx="8385900" cy="0"/>
            </a:xfrm>
            <a:prstGeom prst="straightConnector1">
              <a:avLst/>
            </a:prstGeom>
            <a:noFill/>
            <a:ln w="9525" cap="flat" cmpd="sng">
              <a:solidFill>
                <a:schemeClr val="lt1"/>
              </a:solidFill>
              <a:prstDash val="solid"/>
              <a:round/>
              <a:headEnd type="none" w="med" len="med"/>
              <a:tailEnd type="none" w="med" len="med"/>
            </a:ln>
          </p:spPr>
        </p:cxnSp>
        <p:sp>
          <p:nvSpPr>
            <p:cNvPr id="423" name="Google Shape;423;p43"/>
            <p:cNvSpPr/>
            <p:nvPr/>
          </p:nvSpPr>
          <p:spPr>
            <a:xfrm>
              <a:off x="8041650" y="480600"/>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24" name="Google Shape;424;p43"/>
          <p:cNvGrpSpPr/>
          <p:nvPr/>
        </p:nvGrpSpPr>
        <p:grpSpPr>
          <a:xfrm>
            <a:off x="1113520" y="156298"/>
            <a:ext cx="90900" cy="3697200"/>
            <a:chOff x="1113520" y="156298"/>
            <a:chExt cx="90900" cy="3697200"/>
          </a:xfrm>
        </p:grpSpPr>
        <p:sp>
          <p:nvSpPr>
            <p:cNvPr id="425" name="Google Shape;425;p43"/>
            <p:cNvSpPr/>
            <p:nvPr/>
          </p:nvSpPr>
          <p:spPr>
            <a:xfrm rot="-5400000">
              <a:off x="906370" y="3555448"/>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426" name="Google Shape;426;p43"/>
            <p:cNvCxnSpPr/>
            <p:nvPr/>
          </p:nvCxnSpPr>
          <p:spPr>
            <a:xfrm rot="10800000">
              <a:off x="1121185" y="156298"/>
              <a:ext cx="0" cy="3434700"/>
            </a:xfrm>
            <a:prstGeom prst="straightConnector1">
              <a:avLst/>
            </a:prstGeom>
            <a:noFill/>
            <a:ln w="9525" cap="flat" cmpd="sng">
              <a:solidFill>
                <a:schemeClr val="lt1"/>
              </a:solidFill>
              <a:prstDash val="solid"/>
              <a:round/>
              <a:headEnd type="none" w="med" len="med"/>
              <a:tailEnd type="none" w="med" len="med"/>
            </a:ln>
          </p:spPr>
        </p:cxn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60" name="Google Shape;460;p47"/>
          <p:cNvSpPr txBox="1">
            <a:spLocks noGrp="1"/>
          </p:cNvSpPr>
          <p:nvPr>
            <p:ph type="subTitle" idx="1"/>
          </p:nvPr>
        </p:nvSpPr>
        <p:spPr>
          <a:xfrm>
            <a:off x="239063" y="910696"/>
            <a:ext cx="4512616" cy="3518050"/>
          </a:xfrm>
          <a:prstGeom prst="rect">
            <a:avLst/>
          </a:prstGeom>
        </p:spPr>
        <p:txBody>
          <a:bodyPr spcFirstLastPara="1" wrap="square" lIns="91425" tIns="91425" rIns="91425" bIns="91425" anchor="t" anchorCtr="0">
            <a:noAutofit/>
          </a:bodyPr>
          <a:lstStyle/>
          <a:p>
            <a:pPr marL="285750" lvl="0" indent="-285750">
              <a:buFont typeface="Arial" panose="020B0604020202020204" pitchFamily="34" charset="0"/>
              <a:buChar char="•"/>
            </a:pPr>
            <a:r>
              <a:rPr lang="en-US" sz="1600" b="1" dirty="0"/>
              <a:t>Location</a:t>
            </a:r>
            <a:r>
              <a:rPr lang="en-US" sz="1600" dirty="0"/>
              <a:t>: Mandari Village, Lakshmipur District, Chittagong Division, Bangladesh.</a:t>
            </a:r>
          </a:p>
          <a:p>
            <a:pPr marL="0" lvl="0" indent="0"/>
            <a:endParaRPr lang="en-US" sz="1600" dirty="0"/>
          </a:p>
          <a:p>
            <a:pPr marL="285750" lvl="0" indent="-285750">
              <a:buFont typeface="Arial" panose="020B0604020202020204" pitchFamily="34" charset="0"/>
              <a:buChar char="•"/>
            </a:pPr>
            <a:r>
              <a:rPr lang="en-US" sz="1600" b="1" dirty="0"/>
              <a:t>The Crisis</a:t>
            </a:r>
            <a:r>
              <a:rPr lang="en-US" sz="1600" dirty="0"/>
              <a:t>: Millions of shallow tube wells—originally dug to avoid contaminated surface water—unintentionally tapped into massive, naturally occurring groundwater arsenic.</a:t>
            </a:r>
          </a:p>
          <a:p>
            <a:pPr marL="0" lvl="0" indent="0"/>
            <a:endParaRPr lang="en-US" sz="1600" dirty="0"/>
          </a:p>
          <a:p>
            <a:pPr marL="285750" lvl="0" indent="-285750">
              <a:buFont typeface="Arial" panose="020B0604020202020204" pitchFamily="34" charset="0"/>
              <a:buChar char="•"/>
            </a:pPr>
            <a:r>
              <a:rPr lang="en-US" sz="1600" b="1" dirty="0"/>
              <a:t>Geological Trap</a:t>
            </a:r>
            <a:r>
              <a:rPr lang="en-US" sz="1600" dirty="0"/>
              <a:t>: Situated in the low-lying Meghna River deltaic floodplain.</a:t>
            </a:r>
          </a:p>
          <a:p>
            <a:pPr marL="0" lvl="0" indent="0"/>
            <a:endParaRPr lang="en-US" sz="1600" dirty="0"/>
          </a:p>
          <a:p>
            <a:pPr marL="285750" lvl="0" indent="-285750">
              <a:buFont typeface="Arial" panose="020B0604020202020204" pitchFamily="34" charset="0"/>
              <a:buChar char="•"/>
            </a:pPr>
            <a:r>
              <a:rPr lang="en-US" sz="1600" b="1" dirty="0"/>
              <a:t>Chemical Environment</a:t>
            </a:r>
            <a:r>
              <a:rPr lang="en-US" sz="1600" dirty="0"/>
              <a:t>: Young, organic-rich sediment paired with a shallow water table creates a reducing aquifer chemistry that aggressively mobilizes arsenic into the water.</a:t>
            </a:r>
          </a:p>
        </p:txBody>
      </p:sp>
      <p:grpSp>
        <p:nvGrpSpPr>
          <p:cNvPr id="461" name="Google Shape;461;p47"/>
          <p:cNvGrpSpPr/>
          <p:nvPr/>
        </p:nvGrpSpPr>
        <p:grpSpPr>
          <a:xfrm flipH="1">
            <a:off x="577491" y="508623"/>
            <a:ext cx="8385900" cy="90900"/>
            <a:chOff x="160950" y="480600"/>
            <a:chExt cx="8385900" cy="90900"/>
          </a:xfrm>
        </p:grpSpPr>
        <p:cxnSp>
          <p:nvCxnSpPr>
            <p:cNvPr id="462" name="Google Shape;462;p47"/>
            <p:cNvCxnSpPr/>
            <p:nvPr/>
          </p:nvCxnSpPr>
          <p:spPr>
            <a:xfrm>
              <a:off x="160950" y="571500"/>
              <a:ext cx="8385900" cy="0"/>
            </a:xfrm>
            <a:prstGeom prst="straightConnector1">
              <a:avLst/>
            </a:prstGeom>
            <a:noFill/>
            <a:ln w="9525" cap="flat" cmpd="sng">
              <a:solidFill>
                <a:schemeClr val="lt1"/>
              </a:solidFill>
              <a:prstDash val="solid"/>
              <a:round/>
              <a:headEnd type="none" w="med" len="med"/>
              <a:tailEnd type="none" w="med" len="med"/>
            </a:ln>
          </p:spPr>
        </p:cxnSp>
        <p:sp>
          <p:nvSpPr>
            <p:cNvPr id="463" name="Google Shape;463;p47"/>
            <p:cNvSpPr/>
            <p:nvPr/>
          </p:nvSpPr>
          <p:spPr>
            <a:xfrm>
              <a:off x="8041650" y="480600"/>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64" name="Google Shape;464;p47"/>
          <p:cNvGrpSpPr/>
          <p:nvPr/>
        </p:nvGrpSpPr>
        <p:grpSpPr>
          <a:xfrm flipH="1">
            <a:off x="7988270" y="150698"/>
            <a:ext cx="90900" cy="4415700"/>
            <a:chOff x="1113520" y="-562202"/>
            <a:chExt cx="90900" cy="4415700"/>
          </a:xfrm>
        </p:grpSpPr>
        <p:sp>
          <p:nvSpPr>
            <p:cNvPr id="465" name="Google Shape;465;p47"/>
            <p:cNvSpPr/>
            <p:nvPr/>
          </p:nvSpPr>
          <p:spPr>
            <a:xfrm rot="-5400000">
              <a:off x="906370" y="3555448"/>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466" name="Google Shape;466;p47"/>
            <p:cNvCxnSpPr/>
            <p:nvPr/>
          </p:nvCxnSpPr>
          <p:spPr>
            <a:xfrm rot="10800000">
              <a:off x="1121185" y="-562202"/>
              <a:ext cx="0" cy="4153200"/>
            </a:xfrm>
            <a:prstGeom prst="straightConnector1">
              <a:avLst/>
            </a:prstGeom>
            <a:noFill/>
            <a:ln w="9525" cap="flat" cmpd="sng">
              <a:solidFill>
                <a:schemeClr val="lt1"/>
              </a:solidFill>
              <a:prstDash val="solid"/>
              <a:round/>
              <a:headEnd type="none" w="med" len="med"/>
              <a:tailEnd type="none" w="med" len="med"/>
            </a:ln>
          </p:spPr>
        </p:cxnSp>
      </p:grpSp>
      <p:pic>
        <p:nvPicPr>
          <p:cNvPr id="11" name="Picture 10">
            <a:extLst>
              <a:ext uri="{FF2B5EF4-FFF2-40B4-BE49-F238E27FC236}">
                <a16:creationId xmlns:a16="http://schemas.microsoft.com/office/drawing/2014/main" id="{9AD3D7CB-74E3-40C7-B35B-B18388544796}"/>
              </a:ext>
            </a:extLst>
          </p:cNvPr>
          <p:cNvPicPr>
            <a:picLocks noChangeAspect="1"/>
          </p:cNvPicPr>
          <p:nvPr/>
        </p:nvPicPr>
        <p:blipFill>
          <a:blip r:embed="rId3"/>
          <a:stretch>
            <a:fillRect/>
          </a:stretch>
        </p:blipFill>
        <p:spPr>
          <a:xfrm>
            <a:off x="4834914" y="690425"/>
            <a:ext cx="3153355" cy="4153200"/>
          </a:xfrm>
          <a:prstGeom prst="rect">
            <a:avLst/>
          </a:prstGeom>
        </p:spPr>
      </p:pic>
      <p:sp>
        <p:nvSpPr>
          <p:cNvPr id="4" name="Rectangle 1">
            <a:extLst>
              <a:ext uri="{FF2B5EF4-FFF2-40B4-BE49-F238E27FC236}">
                <a16:creationId xmlns:a16="http://schemas.microsoft.com/office/drawing/2014/main" id="{8960E888-D50B-4E83-9BD1-7050C5DE75FE}"/>
              </a:ext>
            </a:extLst>
          </p:cNvPr>
          <p:cNvSpPr>
            <a:spLocks noChangeArrowheads="1"/>
          </p:cNvSpPr>
          <p:nvPr/>
        </p:nvSpPr>
        <p:spPr bwMode="auto">
          <a:xfrm>
            <a:off x="0" y="-493336"/>
            <a:ext cx="65" cy="986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14245" rIns="0" bIns="21424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5AC4EF60-692D-4625-A434-0AA6A1C6EFED}"/>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p73"/>
          <p:cNvSpPr txBox="1">
            <a:spLocks noGrp="1"/>
          </p:cNvSpPr>
          <p:nvPr>
            <p:ph type="title"/>
          </p:nvPr>
        </p:nvSpPr>
        <p:spPr>
          <a:xfrm>
            <a:off x="782320" y="257524"/>
            <a:ext cx="775344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sz="2800" b="1" dirty="0"/>
              <a:t>Dataset</a:t>
            </a:r>
            <a:endParaRPr sz="2800" b="1" dirty="0"/>
          </a:p>
        </p:txBody>
      </p:sp>
      <p:sp>
        <p:nvSpPr>
          <p:cNvPr id="914" name="Google Shape;914;p73"/>
          <p:cNvSpPr txBox="1">
            <a:spLocks noGrp="1"/>
          </p:cNvSpPr>
          <p:nvPr>
            <p:ph type="subTitle" idx="3"/>
          </p:nvPr>
        </p:nvSpPr>
        <p:spPr>
          <a:xfrm>
            <a:off x="3688080" y="1102951"/>
            <a:ext cx="4847680" cy="1273885"/>
          </a:xfrm>
          <a:prstGeom prst="rect">
            <a:avLst/>
          </a:prstGeom>
        </p:spPr>
        <p:txBody>
          <a:bodyPr spcFirstLastPara="1" wrap="square" lIns="91425" tIns="91425" rIns="91425" bIns="91425" anchor="t" anchorCtr="0">
            <a:noAutofit/>
          </a:bodyPr>
          <a:lstStyle/>
          <a:p>
            <a:pPr marL="0" lvl="0" indent="0"/>
            <a:r>
              <a:rPr lang="en-US" sz="1400" dirty="0">
                <a:solidFill>
                  <a:schemeClr val="tx1">
                    <a:lumMod val="50000"/>
                  </a:schemeClr>
                </a:solidFill>
              </a:rPr>
              <a:t>This dataset comes from a large-scale groundwater arsenic survey carried out jointly by the British Geological Survey (BGS), the Department for International Development (DFID), and the Department of Public Health Engineering (DPHE), Bangladesh </a:t>
            </a:r>
          </a:p>
        </p:txBody>
      </p:sp>
      <p:sp>
        <p:nvSpPr>
          <p:cNvPr id="915" name="Google Shape;915;p73"/>
          <p:cNvSpPr txBox="1">
            <a:spLocks noGrp="1"/>
          </p:cNvSpPr>
          <p:nvPr>
            <p:ph type="subTitle" idx="4"/>
          </p:nvPr>
        </p:nvSpPr>
        <p:spPr>
          <a:xfrm>
            <a:off x="312938" y="2807135"/>
            <a:ext cx="3192262" cy="1672602"/>
          </a:xfrm>
          <a:prstGeom prst="rect">
            <a:avLst/>
          </a:prstGeom>
        </p:spPr>
        <p:txBody>
          <a:bodyPr spcFirstLastPara="1" wrap="square" lIns="91425" tIns="91425" rIns="91425" bIns="91425" anchor="t" anchorCtr="0">
            <a:noAutofit/>
          </a:bodyPr>
          <a:lstStyle/>
          <a:p>
            <a:pPr marL="0" lvl="0" indent="0" algn="l"/>
            <a:r>
              <a:rPr lang="en-US" sz="1400" dirty="0">
                <a:solidFill>
                  <a:schemeClr val="tx1">
                    <a:lumMod val="50000"/>
                  </a:schemeClr>
                </a:solidFill>
              </a:rPr>
              <a:t>Wells are sub-categorized from raw column, which mixes numeric readings with censored text such as "&lt;30". A helper column coerces both forms to a single numeric value, and a second column applies the WHO/Bangladesh threshold logic.</a:t>
            </a:r>
          </a:p>
        </p:txBody>
      </p:sp>
      <p:pic>
        <p:nvPicPr>
          <p:cNvPr id="9" name="Picture 8">
            <a:extLst>
              <a:ext uri="{FF2B5EF4-FFF2-40B4-BE49-F238E27FC236}">
                <a16:creationId xmlns:a16="http://schemas.microsoft.com/office/drawing/2014/main" id="{032766B8-9131-4B25-B20D-F737335446D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394218" y="830223"/>
            <a:ext cx="3192262" cy="1976911"/>
          </a:xfrm>
          <a:prstGeom prst="rect">
            <a:avLst/>
          </a:prstGeom>
        </p:spPr>
      </p:pic>
      <p:pic>
        <p:nvPicPr>
          <p:cNvPr id="12" name="Picture 11">
            <a:extLst>
              <a:ext uri="{FF2B5EF4-FFF2-40B4-BE49-F238E27FC236}">
                <a16:creationId xmlns:a16="http://schemas.microsoft.com/office/drawing/2014/main" id="{D3083EA0-E65C-42C6-9937-6452E969371F}"/>
              </a:ext>
            </a:extLst>
          </p:cNvPr>
          <p:cNvPicPr/>
          <p:nvPr/>
        </p:nvPicPr>
        <p:blipFill>
          <a:blip r:embed="rId4">
            <a:extLst>
              <a:ext uri="{28A0092B-C50C-407E-A947-70E740481C1C}">
                <a14:useLocalDpi xmlns:a14="http://schemas.microsoft.com/office/drawing/2010/main" val="0"/>
              </a:ext>
            </a:extLst>
          </a:blip>
          <a:stretch>
            <a:fillRect/>
          </a:stretch>
        </p:blipFill>
        <p:spPr>
          <a:xfrm>
            <a:off x="3602704" y="3103039"/>
            <a:ext cx="5228358" cy="108079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1+#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654" name="Google Shape;654;p6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sz="2800" b="1" dirty="0"/>
              <a:t>Bayesian Models for Finite Population</a:t>
            </a:r>
            <a:endParaRPr sz="2800" b="1" dirty="0"/>
          </a:p>
        </p:txBody>
      </p:sp>
      <p:sp>
        <p:nvSpPr>
          <p:cNvPr id="655" name="Google Shape;655;p65"/>
          <p:cNvSpPr/>
          <p:nvPr/>
        </p:nvSpPr>
        <p:spPr>
          <a:xfrm>
            <a:off x="4048091" y="1857014"/>
            <a:ext cx="1051800" cy="80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6" name="Google Shape;656;p65"/>
          <p:cNvSpPr/>
          <p:nvPr/>
        </p:nvSpPr>
        <p:spPr>
          <a:xfrm>
            <a:off x="4048091" y="2819576"/>
            <a:ext cx="1051800" cy="80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7" name="Google Shape;657;p65"/>
          <p:cNvSpPr/>
          <p:nvPr/>
        </p:nvSpPr>
        <p:spPr>
          <a:xfrm>
            <a:off x="4048091" y="3821324"/>
            <a:ext cx="1051800" cy="80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9" name="Google Shape;659;p65"/>
          <p:cNvSpPr txBox="1">
            <a:spLocks noGrp="1"/>
          </p:cNvSpPr>
          <p:nvPr>
            <p:ph type="subTitle" idx="4294967295"/>
          </p:nvPr>
        </p:nvSpPr>
        <p:spPr>
          <a:xfrm>
            <a:off x="1381300" y="1640281"/>
            <a:ext cx="1900800" cy="4236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2800" dirty="0">
                <a:latin typeface="Noto Serif Ethiopic"/>
                <a:ea typeface="Noto Serif Ethiopic"/>
                <a:cs typeface="Noto Serif Ethiopic"/>
                <a:sym typeface="Noto Serif Ethiopic"/>
              </a:rPr>
              <a:t>M</a:t>
            </a:r>
            <a:r>
              <a:rPr lang="en-IN" sz="2800" dirty="0">
                <a:latin typeface="Noto Serif Ethiopic"/>
                <a:ea typeface="Noto Serif Ethiopic"/>
                <a:cs typeface="Noto Serif Ethiopic"/>
                <a:sym typeface="Noto Serif Ethiopic"/>
              </a:rPr>
              <a:t>odel 1</a:t>
            </a:r>
            <a:endParaRPr sz="2800" dirty="0">
              <a:latin typeface="Noto Serif Ethiopic"/>
              <a:ea typeface="Noto Serif Ethiopic"/>
              <a:cs typeface="Noto Serif Ethiopic"/>
              <a:sym typeface="Noto Serif Ethiopic"/>
            </a:endParaRPr>
          </a:p>
        </p:txBody>
      </p:sp>
      <p:sp>
        <p:nvSpPr>
          <p:cNvPr id="660" name="Google Shape;660;p65"/>
          <p:cNvSpPr txBox="1">
            <a:spLocks noGrp="1"/>
          </p:cNvSpPr>
          <p:nvPr>
            <p:ph type="subTitle" idx="4294967295"/>
          </p:nvPr>
        </p:nvSpPr>
        <p:spPr>
          <a:xfrm>
            <a:off x="720000" y="3320924"/>
            <a:ext cx="2566087" cy="500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IN" sz="1800" dirty="0"/>
              <a:t>Exact Horvitz Thompson</a:t>
            </a:r>
            <a:endParaRPr sz="1800" dirty="0"/>
          </a:p>
        </p:txBody>
      </p:sp>
      <p:sp>
        <p:nvSpPr>
          <p:cNvPr id="662" name="Google Shape;662;p65"/>
          <p:cNvSpPr txBox="1">
            <a:spLocks noGrp="1"/>
          </p:cNvSpPr>
          <p:nvPr>
            <p:ph type="subTitle" idx="4294967295"/>
          </p:nvPr>
        </p:nvSpPr>
        <p:spPr>
          <a:xfrm>
            <a:off x="1385287" y="1987652"/>
            <a:ext cx="1900800" cy="500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IN" sz="1800" dirty="0"/>
              <a:t>Using SRSWOR</a:t>
            </a:r>
            <a:endParaRPr sz="1800" dirty="0"/>
          </a:p>
        </p:txBody>
      </p:sp>
      <p:sp>
        <p:nvSpPr>
          <p:cNvPr id="663" name="Google Shape;663;p65"/>
          <p:cNvSpPr txBox="1">
            <a:spLocks noGrp="1"/>
          </p:cNvSpPr>
          <p:nvPr>
            <p:ph type="subTitle" idx="4294967295"/>
          </p:nvPr>
        </p:nvSpPr>
        <p:spPr>
          <a:xfrm>
            <a:off x="1381300" y="3033808"/>
            <a:ext cx="1900800" cy="4236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IN" sz="2800" dirty="0">
                <a:latin typeface="Noto Serif Ethiopic"/>
                <a:ea typeface="Noto Serif Ethiopic"/>
                <a:cs typeface="Noto Serif Ethiopic"/>
                <a:sym typeface="Noto Serif Ethiopic"/>
              </a:rPr>
              <a:t>Model 3</a:t>
            </a:r>
            <a:endParaRPr sz="2800" dirty="0">
              <a:latin typeface="Noto Serif Ethiopic"/>
              <a:ea typeface="Noto Serif Ethiopic"/>
              <a:cs typeface="Noto Serif Ethiopic"/>
              <a:sym typeface="Noto Serif Ethiopic"/>
            </a:endParaRPr>
          </a:p>
        </p:txBody>
      </p:sp>
      <p:sp>
        <p:nvSpPr>
          <p:cNvPr id="664" name="Google Shape;664;p65"/>
          <p:cNvSpPr txBox="1">
            <a:spLocks noGrp="1"/>
          </p:cNvSpPr>
          <p:nvPr>
            <p:ph type="subTitle" idx="4294967295"/>
          </p:nvPr>
        </p:nvSpPr>
        <p:spPr>
          <a:xfrm>
            <a:off x="5861900" y="2399553"/>
            <a:ext cx="1900800" cy="42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800" dirty="0">
                <a:latin typeface="Noto Serif Ethiopic"/>
                <a:ea typeface="Noto Serif Ethiopic"/>
                <a:cs typeface="Noto Serif Ethiopic"/>
                <a:sym typeface="Noto Serif Ethiopic"/>
              </a:rPr>
              <a:t>M</a:t>
            </a:r>
            <a:r>
              <a:rPr lang="en-IN" sz="2800" dirty="0">
                <a:latin typeface="Noto Serif Ethiopic"/>
                <a:ea typeface="Noto Serif Ethiopic"/>
                <a:cs typeface="Noto Serif Ethiopic"/>
                <a:sym typeface="Noto Serif Ethiopic"/>
              </a:rPr>
              <a:t>odel 2</a:t>
            </a:r>
            <a:endParaRPr sz="2800" dirty="0">
              <a:latin typeface="Noto Serif Ethiopic"/>
              <a:ea typeface="Noto Serif Ethiopic"/>
              <a:cs typeface="Noto Serif Ethiopic"/>
              <a:sym typeface="Noto Serif Ethiopic"/>
            </a:endParaRPr>
          </a:p>
        </p:txBody>
      </p:sp>
      <p:sp>
        <p:nvSpPr>
          <p:cNvPr id="665" name="Google Shape;665;p65"/>
          <p:cNvSpPr txBox="1">
            <a:spLocks noGrp="1"/>
          </p:cNvSpPr>
          <p:nvPr>
            <p:ph type="subTitle" idx="4294967295"/>
          </p:nvPr>
        </p:nvSpPr>
        <p:spPr>
          <a:xfrm>
            <a:off x="5861900" y="2746924"/>
            <a:ext cx="2220216" cy="71048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1800" dirty="0"/>
              <a:t>Approximate Horvitz Thompson</a:t>
            </a:r>
            <a:endParaRPr sz="1800" dirty="0"/>
          </a:p>
        </p:txBody>
      </p:sp>
      <p:cxnSp>
        <p:nvCxnSpPr>
          <p:cNvPr id="667" name="Google Shape;667;p65"/>
          <p:cNvCxnSpPr>
            <a:stCxn id="655" idx="1"/>
            <a:endCxn id="659" idx="3"/>
          </p:cNvCxnSpPr>
          <p:nvPr/>
        </p:nvCxnSpPr>
        <p:spPr>
          <a:xfrm rot="10800000">
            <a:off x="3282191" y="1852064"/>
            <a:ext cx="765900" cy="45300"/>
          </a:xfrm>
          <a:prstGeom prst="bentConnector3">
            <a:avLst>
              <a:gd name="adj1" fmla="val 50006"/>
            </a:avLst>
          </a:prstGeom>
          <a:noFill/>
          <a:ln w="9525" cap="flat" cmpd="sng">
            <a:solidFill>
              <a:schemeClr val="dk1"/>
            </a:solidFill>
            <a:prstDash val="solid"/>
            <a:round/>
            <a:headEnd type="none" w="med" len="med"/>
            <a:tailEnd type="diamond" w="med" len="med"/>
          </a:ln>
        </p:spPr>
      </p:cxnSp>
      <p:cxnSp>
        <p:nvCxnSpPr>
          <p:cNvPr id="668" name="Google Shape;668;p65"/>
          <p:cNvCxnSpPr>
            <a:stCxn id="657" idx="1"/>
            <a:endCxn id="663" idx="3"/>
          </p:cNvCxnSpPr>
          <p:nvPr/>
        </p:nvCxnSpPr>
        <p:spPr>
          <a:xfrm rot="10800000">
            <a:off x="3282101" y="3245608"/>
            <a:ext cx="765991" cy="616066"/>
          </a:xfrm>
          <a:prstGeom prst="bentConnector3">
            <a:avLst>
              <a:gd name="adj1" fmla="val 50000"/>
            </a:avLst>
          </a:prstGeom>
          <a:noFill/>
          <a:ln w="9525" cap="flat" cmpd="sng">
            <a:solidFill>
              <a:schemeClr val="dk1"/>
            </a:solidFill>
            <a:prstDash val="solid"/>
            <a:round/>
            <a:headEnd type="none" w="med" len="med"/>
            <a:tailEnd type="diamond" w="med" len="med"/>
          </a:ln>
        </p:spPr>
      </p:cxnSp>
      <p:cxnSp>
        <p:nvCxnSpPr>
          <p:cNvPr id="669" name="Google Shape;669;p65"/>
          <p:cNvCxnSpPr>
            <a:stCxn id="656" idx="3"/>
            <a:endCxn id="664" idx="1"/>
          </p:cNvCxnSpPr>
          <p:nvPr/>
        </p:nvCxnSpPr>
        <p:spPr>
          <a:xfrm flipV="1">
            <a:off x="5099891" y="2611353"/>
            <a:ext cx="762009" cy="248573"/>
          </a:xfrm>
          <a:prstGeom prst="bentConnector3">
            <a:avLst>
              <a:gd name="adj1" fmla="val 50000"/>
            </a:avLst>
          </a:prstGeom>
          <a:noFill/>
          <a:ln w="9525" cap="flat" cmpd="sng">
            <a:solidFill>
              <a:schemeClr val="dk1"/>
            </a:solidFill>
            <a:prstDash val="solid"/>
            <a:round/>
            <a:headEnd type="none" w="med" len="med"/>
            <a:tailEnd type="diamond" w="med" len="med"/>
          </a:ln>
        </p:spPr>
      </p:cxnSp>
      <p:sp>
        <p:nvSpPr>
          <p:cNvPr id="671" name="Google Shape;671;p65"/>
          <p:cNvSpPr txBox="1">
            <a:spLocks noGrp="1"/>
          </p:cNvSpPr>
          <p:nvPr>
            <p:ph type="title" idx="4294967295"/>
          </p:nvPr>
        </p:nvSpPr>
        <p:spPr>
          <a:xfrm>
            <a:off x="4189050" y="1323503"/>
            <a:ext cx="765900" cy="51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dirty="0">
                <a:solidFill>
                  <a:schemeClr val="accent1"/>
                </a:solidFill>
              </a:rPr>
              <a:t>01</a:t>
            </a:r>
            <a:endParaRPr sz="3000" dirty="0">
              <a:solidFill>
                <a:schemeClr val="accent1"/>
              </a:solidFill>
            </a:endParaRPr>
          </a:p>
        </p:txBody>
      </p:sp>
      <p:sp>
        <p:nvSpPr>
          <p:cNvPr id="672" name="Google Shape;672;p65"/>
          <p:cNvSpPr txBox="1">
            <a:spLocks noGrp="1"/>
          </p:cNvSpPr>
          <p:nvPr>
            <p:ph type="title" idx="4294967295"/>
          </p:nvPr>
        </p:nvSpPr>
        <p:spPr>
          <a:xfrm>
            <a:off x="4189050" y="2272518"/>
            <a:ext cx="765900" cy="51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dirty="0"/>
              <a:t>02</a:t>
            </a:r>
            <a:endParaRPr sz="3000" dirty="0"/>
          </a:p>
        </p:txBody>
      </p:sp>
      <p:sp>
        <p:nvSpPr>
          <p:cNvPr id="673" name="Google Shape;673;p65"/>
          <p:cNvSpPr txBox="1">
            <a:spLocks noGrp="1"/>
          </p:cNvSpPr>
          <p:nvPr>
            <p:ph type="title" idx="4294967295"/>
          </p:nvPr>
        </p:nvSpPr>
        <p:spPr>
          <a:xfrm>
            <a:off x="4189050" y="3272702"/>
            <a:ext cx="765900" cy="51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dirty="0">
                <a:solidFill>
                  <a:schemeClr val="accent1"/>
                </a:solidFill>
              </a:rPr>
              <a:t>03</a:t>
            </a:r>
            <a:endParaRPr sz="3000" dirty="0">
              <a:solidFill>
                <a:schemeClr val="accen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3A67ADFB-5E7D-4E92-B56B-8C89288C54A2}"/>
              </a:ext>
            </a:extLst>
          </p:cNvPr>
          <p:cNvSpPr>
            <a:spLocks noGrp="1"/>
          </p:cNvSpPr>
          <p:nvPr>
            <p:ph type="subTitle" idx="1"/>
          </p:nvPr>
        </p:nvSpPr>
        <p:spPr>
          <a:xfrm>
            <a:off x="1381432" y="897862"/>
            <a:ext cx="6381135" cy="3347775"/>
          </a:xfrm>
        </p:spPr>
        <p:txBody>
          <a:bodyPr/>
          <a:lstStyle/>
          <a:p>
            <a:r>
              <a:rPr lang="en-IN" sz="1600" dirty="0">
                <a:solidFill>
                  <a:schemeClr val="accent2">
                    <a:lumMod val="75000"/>
                    <a:lumOff val="25000"/>
                  </a:schemeClr>
                </a:solidFill>
              </a:rPr>
              <a:t>In methodology, we have applied Predictive approach in estimating population mean. We evaluate the mean of the sample and based on that we use Bayesian prediction to estimate the mean of the </a:t>
            </a:r>
            <a:r>
              <a:rPr lang="en-IN" sz="1600" dirty="0" err="1">
                <a:solidFill>
                  <a:schemeClr val="accent2">
                    <a:lumMod val="75000"/>
                    <a:lumOff val="25000"/>
                  </a:schemeClr>
                </a:solidFill>
              </a:rPr>
              <a:t>unsample</a:t>
            </a:r>
            <a:r>
              <a:rPr lang="en-IN" sz="1600" dirty="0">
                <a:solidFill>
                  <a:schemeClr val="accent2">
                    <a:lumMod val="75000"/>
                    <a:lumOff val="25000"/>
                  </a:schemeClr>
                </a:solidFill>
              </a:rPr>
              <a:t> part. </a:t>
            </a:r>
          </a:p>
          <a:p>
            <a:pPr marL="152400" indent="0">
              <a:buNone/>
            </a:pPr>
            <a:endParaRPr lang="en-IN" sz="1600" dirty="0">
              <a:solidFill>
                <a:schemeClr val="accent2">
                  <a:lumMod val="75000"/>
                  <a:lumOff val="25000"/>
                </a:schemeClr>
              </a:solidFill>
            </a:endParaRPr>
          </a:p>
          <a:p>
            <a:r>
              <a:rPr lang="en-US" altLang="en-US" sz="1600" dirty="0">
                <a:solidFill>
                  <a:schemeClr val="accent2">
                    <a:lumMod val="75000"/>
                    <a:lumOff val="25000"/>
                  </a:schemeClr>
                </a:solidFill>
                <a:latin typeface="Josefin Sans" panose="020B0604020202020204" charset="0"/>
                <a:ea typeface="Microsoft Sans Serif" panose="020B0604020202020204" pitchFamily="34" charset="0"/>
                <a:cs typeface="Microsoft Sans Serif" panose="020B0604020202020204" pitchFamily="34" charset="0"/>
              </a:rPr>
              <a:t>17% sampling fraction (n=40, N=236) is being evaluated as our sample.</a:t>
            </a:r>
          </a:p>
          <a:p>
            <a:pPr marL="152400" indent="0">
              <a:buNone/>
            </a:pPr>
            <a:endParaRPr lang="en-US" altLang="en-US" sz="1600" dirty="0">
              <a:solidFill>
                <a:schemeClr val="accent2">
                  <a:lumMod val="75000"/>
                  <a:lumOff val="25000"/>
                </a:schemeClr>
              </a:solidFill>
              <a:latin typeface="Josefin Sans" panose="020B0604020202020204" charset="0"/>
              <a:ea typeface="Microsoft Sans Serif" panose="020B0604020202020204" pitchFamily="34" charset="0"/>
              <a:cs typeface="Microsoft Sans Serif" panose="020B0604020202020204" pitchFamily="34" charset="0"/>
            </a:endParaRPr>
          </a:p>
          <a:p>
            <a:r>
              <a:rPr lang="en-US" altLang="en-US" sz="1600" dirty="0">
                <a:solidFill>
                  <a:schemeClr val="accent2">
                    <a:lumMod val="75000"/>
                    <a:lumOff val="25000"/>
                  </a:schemeClr>
                </a:solidFill>
                <a:latin typeface="Josefin Sans" panose="020B0604020202020204" charset="0"/>
                <a:ea typeface="Microsoft Sans Serif" panose="020B0604020202020204" pitchFamily="34" charset="0"/>
                <a:cs typeface="Microsoft Sans Serif" panose="020B0604020202020204" pitchFamily="34" charset="0"/>
              </a:rPr>
              <a:t>The true mean of our population is calculated to be 120.78 ug/L which will be used later on for comparison purposes.</a:t>
            </a:r>
          </a:p>
          <a:p>
            <a:endParaRPr lang="en-US" altLang="en-US" sz="1600" dirty="0">
              <a:solidFill>
                <a:schemeClr val="accent2">
                  <a:lumMod val="75000"/>
                  <a:lumOff val="25000"/>
                </a:schemeClr>
              </a:solidFill>
              <a:latin typeface="Josefin Sans" panose="020B0604020202020204" charset="0"/>
              <a:ea typeface="Microsoft Sans Serif" panose="020B0604020202020204" pitchFamily="34" charset="0"/>
              <a:cs typeface="Microsoft Sans Serif" panose="020B0604020202020204" pitchFamily="34" charset="0"/>
            </a:endParaRPr>
          </a:p>
          <a:p>
            <a:r>
              <a:rPr lang="en-US" altLang="en-US" sz="1600" dirty="0">
                <a:solidFill>
                  <a:schemeClr val="accent2">
                    <a:lumMod val="75000"/>
                    <a:lumOff val="25000"/>
                  </a:schemeClr>
                </a:solidFill>
                <a:latin typeface="Josefin Sans" panose="020B0604020202020204" charset="0"/>
                <a:ea typeface="Microsoft Sans Serif" panose="020B0604020202020204" pitchFamily="34" charset="0"/>
                <a:cs typeface="Microsoft Sans Serif" panose="020B0604020202020204" pitchFamily="34" charset="0"/>
              </a:rPr>
              <a:t>For Model 1, sampling is done using SRSWOR but for model 2 and 3, we have used unequal sampling method.</a:t>
            </a:r>
          </a:p>
          <a:p>
            <a:endParaRPr lang="en-IN" dirty="0"/>
          </a:p>
        </p:txBody>
      </p:sp>
    </p:spTree>
    <p:extLst>
      <p:ext uri="{BB962C8B-B14F-4D97-AF65-F5344CB8AC3E}">
        <p14:creationId xmlns:p14="http://schemas.microsoft.com/office/powerpoint/2010/main" val="27835260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sz="2800" b="1" dirty="0"/>
              <a:t>Model 1: Using SRSWOR</a:t>
            </a:r>
            <a:endParaRPr sz="2800" b="1" dirty="0"/>
          </a:p>
        </p:txBody>
      </p:sp>
      <mc:AlternateContent xmlns:mc="http://schemas.openxmlformats.org/markup-compatibility/2006" xmlns:a14="http://schemas.microsoft.com/office/drawing/2010/main">
        <mc:Choice Requires="a14">
          <p:sp>
            <p:nvSpPr>
              <p:cNvPr id="446" name="Google Shape;446;p45"/>
              <p:cNvSpPr txBox="1">
                <a:spLocks noGrp="1"/>
              </p:cNvSpPr>
              <p:nvPr>
                <p:ph type="subTitle" idx="2"/>
              </p:nvPr>
            </p:nvSpPr>
            <p:spPr>
              <a:xfrm>
                <a:off x="1101213" y="1197803"/>
                <a:ext cx="6941573" cy="2983868"/>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IN" sz="1600" dirty="0">
                    <a:solidFill>
                      <a:schemeClr val="tx1">
                        <a:lumMod val="50000"/>
                      </a:schemeClr>
                    </a:solidFill>
                    <a:latin typeface="Akatab" panose="020B0604020202020204" charset="0"/>
                    <a:ea typeface="Akatab" panose="020B0604020202020204" charset="0"/>
                    <a:cs typeface="Akatab" panose="020B0604020202020204" charset="0"/>
                  </a:rPr>
                  <a:t>Likelihood: </a:t>
                </a:r>
                <a14:m>
                  <m:oMath xmlns:m="http://schemas.openxmlformats.org/officeDocument/2006/math">
                    <m:sSub>
                      <m:sSubPr>
                        <m:ctrlPr>
                          <a:rPr lang="en-IN" sz="1600" i="1">
                            <a:solidFill>
                              <a:schemeClr val="tx1">
                                <a:lumMod val="50000"/>
                              </a:schemeClr>
                            </a:solidFill>
                            <a:latin typeface="Cambria Math" panose="02040503050406030204" pitchFamily="18" charset="0"/>
                          </a:rPr>
                        </m:ctrlPr>
                      </m:sSubPr>
                      <m:e>
                        <m:r>
                          <a:rPr lang="en-IN" sz="1600" i="1">
                            <a:solidFill>
                              <a:schemeClr val="tx1">
                                <a:lumMod val="50000"/>
                              </a:schemeClr>
                            </a:solidFill>
                            <a:latin typeface="Cambria Math" panose="02040503050406030204" pitchFamily="18" charset="0"/>
                          </a:rPr>
                          <m:t>𝑌</m:t>
                        </m:r>
                      </m:e>
                      <m:sub>
                        <m:r>
                          <a:rPr lang="en-IN" sz="1600" i="1">
                            <a:solidFill>
                              <a:schemeClr val="tx1">
                                <a:lumMod val="50000"/>
                              </a:schemeClr>
                            </a:solidFill>
                            <a:latin typeface="Cambria Math" panose="02040503050406030204" pitchFamily="18" charset="0"/>
                          </a:rPr>
                          <m:t>𝑖</m:t>
                        </m:r>
                      </m:sub>
                    </m:sSub>
                    <m:r>
                      <a:rPr lang="en-IN" sz="1600" i="1">
                        <a:solidFill>
                          <a:schemeClr val="tx1">
                            <a:lumMod val="50000"/>
                          </a:schemeClr>
                        </a:solidFill>
                        <a:latin typeface="Cambria Math" panose="02040503050406030204" pitchFamily="18" charset="0"/>
                      </a:rPr>
                      <m:t>~</m:t>
                    </m:r>
                    <m:r>
                      <a:rPr lang="en-IN" sz="1600" i="1">
                        <a:solidFill>
                          <a:schemeClr val="tx1">
                            <a:lumMod val="50000"/>
                          </a:schemeClr>
                        </a:solidFill>
                        <a:latin typeface="Cambria Math" panose="02040503050406030204" pitchFamily="18" charset="0"/>
                      </a:rPr>
                      <m:t>𝑁</m:t>
                    </m:r>
                    <m:d>
                      <m:dPr>
                        <m:ctrlPr>
                          <a:rPr lang="en-IN" sz="1600" i="1">
                            <a:solidFill>
                              <a:schemeClr val="tx1">
                                <a:lumMod val="50000"/>
                              </a:schemeClr>
                            </a:solidFill>
                            <a:latin typeface="Cambria Math" panose="02040503050406030204" pitchFamily="18" charset="0"/>
                          </a:rPr>
                        </m:ctrlPr>
                      </m:dPr>
                      <m:e>
                        <m:r>
                          <a:rPr lang="en-IN" sz="1600" i="1">
                            <a:solidFill>
                              <a:schemeClr val="tx1">
                                <a:lumMod val="50000"/>
                              </a:schemeClr>
                            </a:solidFill>
                            <a:latin typeface="Cambria Math" panose="02040503050406030204" pitchFamily="18" charset="0"/>
                            <a:ea typeface="Cambria Math" panose="02040503050406030204" pitchFamily="18" charset="0"/>
                          </a:rPr>
                          <m:t>𝜇</m:t>
                        </m:r>
                        <m:r>
                          <a:rPr lang="en-IN" sz="1600" i="1">
                            <a:solidFill>
                              <a:schemeClr val="tx1">
                                <a:lumMod val="50000"/>
                              </a:schemeClr>
                            </a:solidFill>
                            <a:latin typeface="Cambria Math" panose="02040503050406030204" pitchFamily="18" charset="0"/>
                            <a:ea typeface="Cambria Math" panose="02040503050406030204" pitchFamily="18" charset="0"/>
                          </a:rPr>
                          <m:t>,</m:t>
                        </m:r>
                        <m:sSup>
                          <m:sSupPr>
                            <m:ctrlPr>
                              <a:rPr lang="en-IN" sz="1600" i="1">
                                <a:solidFill>
                                  <a:schemeClr val="tx1">
                                    <a:lumMod val="50000"/>
                                  </a:schemeClr>
                                </a:solidFill>
                                <a:latin typeface="Cambria Math" panose="02040503050406030204" pitchFamily="18" charset="0"/>
                                <a:ea typeface="Cambria Math" panose="02040503050406030204" pitchFamily="18" charset="0"/>
                              </a:rPr>
                            </m:ctrlPr>
                          </m:sSupPr>
                          <m:e>
                            <m:r>
                              <a:rPr lang="en-IN" sz="1600" i="1">
                                <a:solidFill>
                                  <a:schemeClr val="tx1">
                                    <a:lumMod val="50000"/>
                                  </a:schemeClr>
                                </a:solidFill>
                                <a:latin typeface="Cambria Math" panose="02040503050406030204" pitchFamily="18" charset="0"/>
                                <a:ea typeface="Cambria Math" panose="02040503050406030204" pitchFamily="18" charset="0"/>
                              </a:rPr>
                              <m:t>𝜎</m:t>
                            </m:r>
                          </m:e>
                          <m:sup>
                            <m:r>
                              <a:rPr lang="en-IN" sz="1600" i="1">
                                <a:solidFill>
                                  <a:schemeClr val="tx1">
                                    <a:lumMod val="50000"/>
                                  </a:schemeClr>
                                </a:solidFill>
                                <a:latin typeface="Cambria Math" panose="02040503050406030204" pitchFamily="18" charset="0"/>
                                <a:ea typeface="Cambria Math" panose="02040503050406030204" pitchFamily="18" charset="0"/>
                              </a:rPr>
                              <m:t>2</m:t>
                            </m:r>
                          </m:sup>
                        </m:sSup>
                      </m:e>
                    </m:d>
                  </m:oMath>
                </a14:m>
                <a:endParaRPr lang="en-IN" sz="1600" dirty="0">
                  <a:solidFill>
                    <a:schemeClr val="tx1">
                      <a:lumMod val="50000"/>
                    </a:schemeClr>
                  </a:solidFill>
                  <a:latin typeface="Akatab" panose="020B0604020202020204" charset="0"/>
                  <a:ea typeface="Akatab" panose="020B0604020202020204" charset="0"/>
                  <a:cs typeface="Akatab" panose="020B0604020202020204" charset="0"/>
                </a:endParaRPr>
              </a:p>
              <a:p>
                <a:pPr marL="285750" indent="-285750">
                  <a:buFont typeface="Arial" panose="020B0604020202020204" pitchFamily="34" charset="0"/>
                  <a:buChar char="•"/>
                </a:pPr>
                <a:r>
                  <a:rPr lang="en-IN" sz="1600" dirty="0">
                    <a:solidFill>
                      <a:schemeClr val="tx1">
                        <a:lumMod val="50000"/>
                      </a:schemeClr>
                    </a:solidFill>
                    <a:latin typeface="Akatab" panose="020B0604020202020204" charset="0"/>
                    <a:ea typeface="Akatab" panose="020B0604020202020204" charset="0"/>
                    <a:cs typeface="Akatab" panose="020B0604020202020204" charset="0"/>
                  </a:rPr>
                  <a:t>Priors: </a:t>
                </a:r>
                <a14:m>
                  <m:oMath xmlns:m="http://schemas.openxmlformats.org/officeDocument/2006/math">
                    <m:r>
                      <a:rPr lang="en-IN" sz="1600" i="1">
                        <a:solidFill>
                          <a:schemeClr val="tx1">
                            <a:lumMod val="50000"/>
                          </a:schemeClr>
                        </a:solidFill>
                        <a:latin typeface="Cambria Math" panose="02040503050406030204" pitchFamily="18" charset="0"/>
                        <a:ea typeface="Cambria Math" panose="02040503050406030204" pitchFamily="18" charset="0"/>
                      </a:rPr>
                      <m:t>𝜇</m:t>
                    </m:r>
                    <m:r>
                      <a:rPr lang="en-IN" sz="1600" i="1">
                        <a:solidFill>
                          <a:schemeClr val="tx1">
                            <a:lumMod val="50000"/>
                          </a:schemeClr>
                        </a:solidFill>
                        <a:latin typeface="Cambria Math" panose="02040503050406030204" pitchFamily="18" charset="0"/>
                        <a:ea typeface="Cambria Math" panose="02040503050406030204" pitchFamily="18" charset="0"/>
                      </a:rPr>
                      <m:t>~</m:t>
                    </m:r>
                    <m:r>
                      <a:rPr lang="en-IN" sz="1600" i="1">
                        <a:solidFill>
                          <a:schemeClr val="tx1">
                            <a:lumMod val="50000"/>
                          </a:schemeClr>
                        </a:solidFill>
                        <a:latin typeface="Cambria Math" panose="02040503050406030204" pitchFamily="18" charset="0"/>
                        <a:ea typeface="Cambria Math" panose="02040503050406030204" pitchFamily="18" charset="0"/>
                      </a:rPr>
                      <m:t>𝑁</m:t>
                    </m:r>
                    <m:r>
                      <a:rPr lang="en-IN" sz="1600" i="1">
                        <a:solidFill>
                          <a:schemeClr val="tx1">
                            <a:lumMod val="50000"/>
                          </a:schemeClr>
                        </a:solidFill>
                        <a:latin typeface="Cambria Math" panose="02040503050406030204" pitchFamily="18" charset="0"/>
                        <a:ea typeface="Cambria Math" panose="02040503050406030204" pitchFamily="18" charset="0"/>
                      </a:rPr>
                      <m:t>(</m:t>
                    </m:r>
                    <m:r>
                      <a:rPr lang="en-IN" sz="1600" i="1">
                        <a:solidFill>
                          <a:schemeClr val="tx1">
                            <a:lumMod val="50000"/>
                          </a:schemeClr>
                        </a:solidFill>
                        <a:latin typeface="Cambria Math" panose="02040503050406030204" pitchFamily="18" charset="0"/>
                        <a:ea typeface="Cambria Math" panose="02040503050406030204" pitchFamily="18" charset="0"/>
                      </a:rPr>
                      <m:t>𝜃</m:t>
                    </m:r>
                    <m:r>
                      <a:rPr lang="en-IN" sz="1600" i="1">
                        <a:solidFill>
                          <a:schemeClr val="tx1">
                            <a:lumMod val="50000"/>
                          </a:schemeClr>
                        </a:solidFill>
                        <a:latin typeface="Cambria Math" panose="02040503050406030204" pitchFamily="18" charset="0"/>
                        <a:ea typeface="Cambria Math" panose="02040503050406030204" pitchFamily="18" charset="0"/>
                      </a:rPr>
                      <m:t>, </m:t>
                    </m:r>
                    <m:f>
                      <m:fPr>
                        <m:type m:val="lin"/>
                        <m:ctrlPr>
                          <a:rPr lang="en-IN" sz="1600" i="1">
                            <a:solidFill>
                              <a:schemeClr val="tx1">
                                <a:lumMod val="50000"/>
                              </a:schemeClr>
                            </a:solidFill>
                            <a:latin typeface="Cambria Math" panose="02040503050406030204" pitchFamily="18" charset="0"/>
                            <a:ea typeface="Cambria Math" panose="02040503050406030204" pitchFamily="18" charset="0"/>
                          </a:rPr>
                        </m:ctrlPr>
                      </m:fPr>
                      <m:num>
                        <m:sSup>
                          <m:sSupPr>
                            <m:ctrlPr>
                              <a:rPr lang="en-IN" sz="1600" i="1">
                                <a:solidFill>
                                  <a:schemeClr val="tx1">
                                    <a:lumMod val="50000"/>
                                  </a:schemeClr>
                                </a:solidFill>
                                <a:latin typeface="Cambria Math" panose="02040503050406030204" pitchFamily="18" charset="0"/>
                                <a:ea typeface="Cambria Math" panose="02040503050406030204" pitchFamily="18" charset="0"/>
                              </a:rPr>
                            </m:ctrlPr>
                          </m:sSupPr>
                          <m:e>
                            <m:r>
                              <a:rPr lang="en-IN" sz="1600" i="1">
                                <a:solidFill>
                                  <a:schemeClr val="tx1">
                                    <a:lumMod val="50000"/>
                                  </a:schemeClr>
                                </a:solidFill>
                                <a:latin typeface="Cambria Math" panose="02040503050406030204" pitchFamily="18" charset="0"/>
                                <a:ea typeface="Cambria Math" panose="02040503050406030204" pitchFamily="18" charset="0"/>
                              </a:rPr>
                              <m:t>𝜎</m:t>
                            </m:r>
                          </m:e>
                          <m:sup>
                            <m:r>
                              <a:rPr lang="en-IN" sz="1600" i="1">
                                <a:solidFill>
                                  <a:schemeClr val="tx1">
                                    <a:lumMod val="50000"/>
                                  </a:schemeClr>
                                </a:solidFill>
                                <a:latin typeface="Cambria Math" panose="02040503050406030204" pitchFamily="18" charset="0"/>
                                <a:ea typeface="Cambria Math" panose="02040503050406030204" pitchFamily="18" charset="0"/>
                              </a:rPr>
                              <m:t>2</m:t>
                            </m:r>
                          </m:sup>
                        </m:sSup>
                      </m:num>
                      <m:den>
                        <m:sSub>
                          <m:sSubPr>
                            <m:ctrlPr>
                              <a:rPr lang="en-IN" sz="1600" i="1">
                                <a:solidFill>
                                  <a:schemeClr val="tx1">
                                    <a:lumMod val="50000"/>
                                  </a:schemeClr>
                                </a:solidFill>
                                <a:latin typeface="Cambria Math" panose="02040503050406030204" pitchFamily="18" charset="0"/>
                                <a:ea typeface="Cambria Math" panose="02040503050406030204" pitchFamily="18" charset="0"/>
                              </a:rPr>
                            </m:ctrlPr>
                          </m:sSubPr>
                          <m:e>
                            <m:r>
                              <a:rPr lang="en-IN" sz="1600" i="1">
                                <a:solidFill>
                                  <a:schemeClr val="tx1">
                                    <a:lumMod val="50000"/>
                                  </a:schemeClr>
                                </a:solidFill>
                                <a:latin typeface="Cambria Math" panose="02040503050406030204" pitchFamily="18" charset="0"/>
                                <a:ea typeface="Cambria Math" panose="02040503050406030204" pitchFamily="18" charset="0"/>
                              </a:rPr>
                              <m:t>𝑛</m:t>
                            </m:r>
                          </m:e>
                          <m:sub>
                            <m:r>
                              <a:rPr lang="en-IN" sz="1600" i="1">
                                <a:solidFill>
                                  <a:schemeClr val="tx1">
                                    <a:lumMod val="50000"/>
                                  </a:schemeClr>
                                </a:solidFill>
                                <a:latin typeface="Cambria Math" panose="02040503050406030204" pitchFamily="18" charset="0"/>
                                <a:ea typeface="Cambria Math" panose="02040503050406030204" pitchFamily="18" charset="0"/>
                              </a:rPr>
                              <m:t>0</m:t>
                            </m:r>
                          </m:sub>
                        </m:sSub>
                      </m:den>
                    </m:f>
                    <m:r>
                      <a:rPr lang="en-IN" sz="1600" i="1">
                        <a:solidFill>
                          <a:schemeClr val="tx1">
                            <a:lumMod val="50000"/>
                          </a:schemeClr>
                        </a:solidFill>
                        <a:latin typeface="Cambria Math" panose="02040503050406030204" pitchFamily="18" charset="0"/>
                        <a:ea typeface="Cambria Math" panose="02040503050406030204" pitchFamily="18" charset="0"/>
                      </a:rPr>
                      <m:t>)</m:t>
                    </m:r>
                  </m:oMath>
                </a14:m>
                <a:r>
                  <a:rPr lang="en-IN" sz="1600" dirty="0">
                    <a:solidFill>
                      <a:schemeClr val="tx1">
                        <a:lumMod val="50000"/>
                      </a:schemeClr>
                    </a:solidFill>
                    <a:latin typeface="Akatab" panose="020B0604020202020204" charset="0"/>
                    <a:ea typeface="Akatab" panose="020B0604020202020204" charset="0"/>
                    <a:cs typeface="Akatab" panose="020B0604020202020204" charset="0"/>
                  </a:rPr>
                  <a:t>, </a:t>
                </a:r>
                <a14:m>
                  <m:oMath xmlns:m="http://schemas.openxmlformats.org/officeDocument/2006/math">
                    <m:sSup>
                      <m:sSupPr>
                        <m:ctrlPr>
                          <a:rPr lang="en-IN" sz="1600" i="1">
                            <a:solidFill>
                              <a:schemeClr val="tx1">
                                <a:lumMod val="50000"/>
                              </a:schemeClr>
                            </a:solidFill>
                            <a:latin typeface="Cambria Math" panose="02040503050406030204" pitchFamily="18" charset="0"/>
                            <a:ea typeface="Cambria Math" panose="02040503050406030204" pitchFamily="18" charset="0"/>
                          </a:rPr>
                        </m:ctrlPr>
                      </m:sSupPr>
                      <m:e>
                        <m:r>
                          <a:rPr lang="en-IN" sz="1600" i="1">
                            <a:solidFill>
                              <a:schemeClr val="tx1">
                                <a:lumMod val="50000"/>
                              </a:schemeClr>
                            </a:solidFill>
                            <a:latin typeface="Cambria Math" panose="02040503050406030204" pitchFamily="18" charset="0"/>
                            <a:ea typeface="Cambria Math" panose="02040503050406030204" pitchFamily="18" charset="0"/>
                          </a:rPr>
                          <m:t>𝜎</m:t>
                        </m:r>
                      </m:e>
                      <m:sup>
                        <m:r>
                          <a:rPr lang="en-IN" sz="1600" i="1">
                            <a:solidFill>
                              <a:schemeClr val="tx1">
                                <a:lumMod val="50000"/>
                              </a:schemeClr>
                            </a:solidFill>
                            <a:latin typeface="Cambria Math" panose="02040503050406030204" pitchFamily="18" charset="0"/>
                            <a:ea typeface="Cambria Math" panose="02040503050406030204" pitchFamily="18" charset="0"/>
                          </a:rPr>
                          <m:t>2</m:t>
                        </m:r>
                      </m:sup>
                    </m:sSup>
                    <m:r>
                      <a:rPr lang="en-IN" sz="1600" i="1">
                        <a:solidFill>
                          <a:schemeClr val="tx1">
                            <a:lumMod val="50000"/>
                          </a:schemeClr>
                        </a:solidFill>
                        <a:latin typeface="Cambria Math" panose="02040503050406030204" pitchFamily="18" charset="0"/>
                        <a:ea typeface="Cambria Math" panose="02040503050406030204" pitchFamily="18" charset="0"/>
                      </a:rPr>
                      <m:t>~</m:t>
                    </m:r>
                    <m:r>
                      <a:rPr lang="en-IN" sz="1600" i="1">
                        <a:solidFill>
                          <a:schemeClr val="tx1">
                            <a:lumMod val="50000"/>
                          </a:schemeClr>
                        </a:solidFill>
                        <a:latin typeface="Cambria Math" panose="02040503050406030204" pitchFamily="18" charset="0"/>
                        <a:ea typeface="Cambria Math" panose="02040503050406030204" pitchFamily="18" charset="0"/>
                      </a:rPr>
                      <m:t>𝐼𝐺</m:t>
                    </m:r>
                    <m:r>
                      <a:rPr lang="en-IN" sz="1600" i="1">
                        <a:solidFill>
                          <a:schemeClr val="tx1">
                            <a:lumMod val="50000"/>
                          </a:schemeClr>
                        </a:solidFill>
                        <a:latin typeface="Cambria Math" panose="02040503050406030204" pitchFamily="18" charset="0"/>
                        <a:ea typeface="Cambria Math" panose="02040503050406030204" pitchFamily="18" charset="0"/>
                      </a:rPr>
                      <m:t>(</m:t>
                    </m:r>
                    <m:sSub>
                      <m:sSubPr>
                        <m:ctrlPr>
                          <a:rPr lang="en-IN" sz="1600" i="1">
                            <a:solidFill>
                              <a:schemeClr val="tx1">
                                <a:lumMod val="50000"/>
                              </a:schemeClr>
                            </a:solidFill>
                            <a:latin typeface="Cambria Math" panose="02040503050406030204" pitchFamily="18" charset="0"/>
                            <a:ea typeface="Cambria Math" panose="02040503050406030204" pitchFamily="18" charset="0"/>
                          </a:rPr>
                        </m:ctrlPr>
                      </m:sSubPr>
                      <m:e>
                        <m:r>
                          <a:rPr lang="en-IN" sz="1600" i="1">
                            <a:solidFill>
                              <a:schemeClr val="tx1">
                                <a:lumMod val="50000"/>
                              </a:schemeClr>
                            </a:solidFill>
                            <a:latin typeface="Cambria Math" panose="02040503050406030204" pitchFamily="18" charset="0"/>
                            <a:ea typeface="Cambria Math" panose="02040503050406030204" pitchFamily="18" charset="0"/>
                          </a:rPr>
                          <m:t>𝑎</m:t>
                        </m:r>
                      </m:e>
                      <m:sub>
                        <m:r>
                          <a:rPr lang="en-IN" sz="1600" i="1">
                            <a:solidFill>
                              <a:schemeClr val="tx1">
                                <a:lumMod val="50000"/>
                              </a:schemeClr>
                            </a:solidFill>
                            <a:latin typeface="Cambria Math" panose="02040503050406030204" pitchFamily="18" charset="0"/>
                            <a:ea typeface="Cambria Math" panose="02040503050406030204" pitchFamily="18" charset="0"/>
                          </a:rPr>
                          <m:t>0</m:t>
                        </m:r>
                      </m:sub>
                    </m:sSub>
                  </m:oMath>
                </a14:m>
                <a:r>
                  <a:rPr lang="en-IN" sz="1600" dirty="0">
                    <a:solidFill>
                      <a:schemeClr val="tx1">
                        <a:lumMod val="50000"/>
                      </a:schemeClr>
                    </a:solidFill>
                    <a:latin typeface="Akatab" panose="020B0604020202020204" charset="0"/>
                    <a:ea typeface="Akatab" panose="020B0604020202020204" charset="0"/>
                    <a:cs typeface="Akatab" panose="020B0604020202020204" charset="0"/>
                  </a:rPr>
                  <a:t>, </a:t>
                </a:r>
                <a14:m>
                  <m:oMath xmlns:m="http://schemas.openxmlformats.org/officeDocument/2006/math">
                    <m:sSub>
                      <m:sSubPr>
                        <m:ctrlPr>
                          <a:rPr lang="en-IN" sz="1600" i="1">
                            <a:solidFill>
                              <a:schemeClr val="tx1">
                                <a:lumMod val="50000"/>
                              </a:schemeClr>
                            </a:solidFill>
                            <a:latin typeface="Cambria Math" panose="02040503050406030204" pitchFamily="18" charset="0"/>
                            <a:ea typeface="Cambria Math" panose="02040503050406030204" pitchFamily="18" charset="0"/>
                          </a:rPr>
                        </m:ctrlPr>
                      </m:sSubPr>
                      <m:e>
                        <m:r>
                          <a:rPr lang="en-IN" sz="1600" i="1">
                            <a:solidFill>
                              <a:schemeClr val="tx1">
                                <a:lumMod val="50000"/>
                              </a:schemeClr>
                            </a:solidFill>
                            <a:latin typeface="Cambria Math" panose="02040503050406030204" pitchFamily="18" charset="0"/>
                            <a:ea typeface="Cambria Math" panose="02040503050406030204" pitchFamily="18" charset="0"/>
                          </a:rPr>
                          <m:t>𝑏</m:t>
                        </m:r>
                      </m:e>
                      <m:sub>
                        <m:r>
                          <a:rPr lang="en-IN" sz="1600" i="1">
                            <a:solidFill>
                              <a:schemeClr val="tx1">
                                <a:lumMod val="50000"/>
                              </a:schemeClr>
                            </a:solidFill>
                            <a:latin typeface="Cambria Math" panose="02040503050406030204" pitchFamily="18" charset="0"/>
                            <a:ea typeface="Cambria Math" panose="02040503050406030204" pitchFamily="18" charset="0"/>
                          </a:rPr>
                          <m:t>0</m:t>
                        </m:r>
                      </m:sub>
                    </m:sSub>
                    <m:r>
                      <a:rPr lang="en-IN" sz="1600" i="1">
                        <a:solidFill>
                          <a:schemeClr val="tx1">
                            <a:lumMod val="50000"/>
                          </a:schemeClr>
                        </a:solidFill>
                        <a:latin typeface="Cambria Math" panose="02040503050406030204" pitchFamily="18" charset="0"/>
                        <a:ea typeface="Cambria Math" panose="02040503050406030204" pitchFamily="18" charset="0"/>
                      </a:rPr>
                      <m:t>)</m:t>
                    </m:r>
                  </m:oMath>
                </a14:m>
                <a:endParaRPr lang="en-IN" sz="1600" dirty="0">
                  <a:solidFill>
                    <a:schemeClr val="tx1">
                      <a:lumMod val="50000"/>
                    </a:schemeClr>
                  </a:solidFill>
                  <a:latin typeface="Akatab" panose="020B0604020202020204" charset="0"/>
                  <a:ea typeface="Akatab" panose="020B0604020202020204" charset="0"/>
                  <a:cs typeface="Akatab" panose="020B0604020202020204" charset="0"/>
                </a:endParaRPr>
              </a:p>
              <a:p>
                <a:pPr marL="285750" indent="-285750">
                  <a:buFont typeface="Arial" panose="020B0604020202020204" pitchFamily="34" charset="0"/>
                  <a:buChar char="•"/>
                </a:pPr>
                <a:r>
                  <a:rPr lang="en-IN" sz="1600" dirty="0">
                    <a:solidFill>
                      <a:schemeClr val="tx1">
                        <a:lumMod val="50000"/>
                      </a:schemeClr>
                    </a:solidFill>
                    <a:latin typeface="Akatab" panose="020B0604020202020204" charset="0"/>
                    <a:ea typeface="Akatab" panose="020B0604020202020204" charset="0"/>
                    <a:cs typeface="Akatab" panose="020B0604020202020204" charset="0"/>
                  </a:rPr>
                  <a:t>General posterior predictor (Banerjee (2025)):</a:t>
                </a:r>
              </a:p>
              <a:p>
                <a:pPr/>
                <a14:m>
                  <m:oMathPara xmlns:m="http://schemas.openxmlformats.org/officeDocument/2006/math">
                    <m:oMathParaPr>
                      <m:jc m:val="centerGroup"/>
                    </m:oMathParaPr>
                    <m:oMath xmlns:m="http://schemas.openxmlformats.org/officeDocument/2006/math">
                      <m:nary>
                        <m:naryPr>
                          <m:chr m:val="∑"/>
                          <m:limLoc m:val="undOvr"/>
                          <m:grow m:val="on"/>
                          <m:ctrlPr>
                            <a:rPr lang="en-IN" sz="1600" i="1" dirty="0">
                              <a:solidFill>
                                <a:schemeClr val="tx1">
                                  <a:lumMod val="50000"/>
                                </a:schemeClr>
                              </a:solidFill>
                              <a:latin typeface="Cambria Math" panose="02040503050406030204" pitchFamily="18" charset="0"/>
                              <a:ea typeface="Cambria Math" panose="02040503050406030204" pitchFamily="18" charset="0"/>
                            </a:rPr>
                          </m:ctrlPr>
                        </m:naryPr>
                        <m:sub>
                          <m:r>
                            <a:rPr lang="en-IN" sz="1600" i="1" dirty="0">
                              <a:solidFill>
                                <a:schemeClr val="tx1">
                                  <a:lumMod val="50000"/>
                                </a:schemeClr>
                              </a:solidFill>
                              <a:latin typeface="Cambria Math" panose="02040503050406030204" pitchFamily="18" charset="0"/>
                              <a:ea typeface="Cambria Math" panose="02040503050406030204" pitchFamily="18" charset="0"/>
                            </a:rPr>
                            <m:t>𝑖</m:t>
                          </m:r>
                          <m:r>
                            <a:rPr lang="en-IN" sz="1600" dirty="0">
                              <a:solidFill>
                                <a:schemeClr val="tx1">
                                  <a:lumMod val="50000"/>
                                </a:schemeClr>
                              </a:solidFill>
                              <a:latin typeface="Cambria Math" panose="02040503050406030204" pitchFamily="18" charset="0"/>
                              <a:ea typeface="Cambria Math" panose="02040503050406030204" pitchFamily="18" charset="0"/>
                            </a:rPr>
                            <m:t>=1</m:t>
                          </m:r>
                        </m:sub>
                        <m:sup>
                          <m:r>
                            <a:rPr lang="en-IN" sz="1600" i="1" dirty="0">
                              <a:solidFill>
                                <a:schemeClr val="tx1">
                                  <a:lumMod val="50000"/>
                                </a:schemeClr>
                              </a:solidFill>
                              <a:latin typeface="Cambria Math" panose="02040503050406030204" pitchFamily="18" charset="0"/>
                              <a:ea typeface="Cambria Math" panose="02040503050406030204" pitchFamily="18" charset="0"/>
                            </a:rPr>
                            <m:t>𝑛</m:t>
                          </m:r>
                        </m:sup>
                        <m:e>
                          <m:sSub>
                            <m:sSubPr>
                              <m:ctrlPr>
                                <a:rPr lang="en-IN" sz="1600" i="1" dirty="0">
                                  <a:solidFill>
                                    <a:schemeClr val="tx1">
                                      <a:lumMod val="50000"/>
                                    </a:schemeClr>
                                  </a:solidFill>
                                  <a:latin typeface="Cambria Math" panose="02040503050406030204" pitchFamily="18" charset="0"/>
                                  <a:ea typeface="Cambria Math" panose="02040503050406030204" pitchFamily="18" charset="0"/>
                                </a:rPr>
                              </m:ctrlPr>
                            </m:sSubPr>
                            <m:e>
                              <m:r>
                                <a:rPr lang="en-IN" sz="1600" i="1" dirty="0">
                                  <a:solidFill>
                                    <a:schemeClr val="tx1">
                                      <a:lumMod val="50000"/>
                                    </a:schemeClr>
                                  </a:solidFill>
                                  <a:latin typeface="Cambria Math" panose="02040503050406030204" pitchFamily="18" charset="0"/>
                                  <a:ea typeface="Cambria Math" panose="02040503050406030204" pitchFamily="18" charset="0"/>
                                </a:rPr>
                                <m:t>𝑎</m:t>
                              </m:r>
                            </m:e>
                            <m:sub>
                              <m:r>
                                <a:rPr lang="en-IN" sz="1600" i="1" dirty="0">
                                  <a:solidFill>
                                    <a:schemeClr val="tx1">
                                      <a:lumMod val="50000"/>
                                    </a:schemeClr>
                                  </a:solidFill>
                                  <a:latin typeface="Cambria Math" panose="02040503050406030204" pitchFamily="18" charset="0"/>
                                  <a:ea typeface="Cambria Math" panose="02040503050406030204" pitchFamily="18" charset="0"/>
                                </a:rPr>
                                <m:t>𝑖</m:t>
                              </m:r>
                            </m:sub>
                          </m:sSub>
                          <m:sSub>
                            <m:sSubPr>
                              <m:ctrlPr>
                                <a:rPr lang="en-IN" sz="1600" i="1" dirty="0">
                                  <a:solidFill>
                                    <a:schemeClr val="tx1">
                                      <a:lumMod val="50000"/>
                                    </a:schemeClr>
                                  </a:solidFill>
                                  <a:latin typeface="Cambria Math" panose="02040503050406030204" pitchFamily="18" charset="0"/>
                                  <a:ea typeface="Cambria Math" panose="02040503050406030204" pitchFamily="18" charset="0"/>
                                </a:rPr>
                              </m:ctrlPr>
                            </m:sSubPr>
                            <m:e>
                              <m:r>
                                <a:rPr lang="en-IN" sz="1600" i="1" dirty="0">
                                  <a:solidFill>
                                    <a:schemeClr val="tx1">
                                      <a:lumMod val="50000"/>
                                    </a:schemeClr>
                                  </a:solidFill>
                                  <a:latin typeface="Cambria Math" panose="02040503050406030204" pitchFamily="18" charset="0"/>
                                  <a:ea typeface="Cambria Math" panose="02040503050406030204" pitchFamily="18" charset="0"/>
                                </a:rPr>
                                <m:t>𝑦</m:t>
                              </m:r>
                            </m:e>
                            <m:sub>
                              <m:r>
                                <a:rPr lang="en-IN" sz="1600" i="1" dirty="0">
                                  <a:solidFill>
                                    <a:schemeClr val="tx1">
                                      <a:lumMod val="50000"/>
                                    </a:schemeClr>
                                  </a:solidFill>
                                  <a:latin typeface="Cambria Math" panose="02040503050406030204" pitchFamily="18" charset="0"/>
                                  <a:ea typeface="Cambria Math" panose="02040503050406030204" pitchFamily="18" charset="0"/>
                                </a:rPr>
                                <m:t>𝑖</m:t>
                              </m:r>
                            </m:sub>
                          </m:sSub>
                        </m:e>
                      </m:nary>
                      <m:r>
                        <a:rPr lang="en-IN" sz="1600" dirty="0">
                          <a:solidFill>
                            <a:schemeClr val="tx1">
                              <a:lumMod val="50000"/>
                            </a:schemeClr>
                          </a:solidFill>
                          <a:latin typeface="Cambria Math" panose="02040503050406030204" pitchFamily="18" charset="0"/>
                          <a:ea typeface="Cambria Math" panose="02040503050406030204" pitchFamily="18" charset="0"/>
                        </a:rPr>
                        <m:t>+</m:t>
                      </m:r>
                      <m:nary>
                        <m:naryPr>
                          <m:chr m:val="∑"/>
                          <m:limLoc m:val="undOvr"/>
                          <m:grow m:val="on"/>
                          <m:ctrlPr>
                            <a:rPr lang="en-IN" sz="1600" i="1" dirty="0">
                              <a:solidFill>
                                <a:schemeClr val="tx1">
                                  <a:lumMod val="50000"/>
                                </a:schemeClr>
                              </a:solidFill>
                              <a:latin typeface="Cambria Math" panose="02040503050406030204" pitchFamily="18" charset="0"/>
                              <a:ea typeface="Cambria Math" panose="02040503050406030204" pitchFamily="18" charset="0"/>
                            </a:rPr>
                          </m:ctrlPr>
                        </m:naryPr>
                        <m:sub>
                          <m:r>
                            <a:rPr lang="en-IN" sz="1600" i="1" dirty="0">
                              <a:solidFill>
                                <a:schemeClr val="tx1">
                                  <a:lumMod val="50000"/>
                                </a:schemeClr>
                              </a:solidFill>
                              <a:latin typeface="Cambria Math" panose="02040503050406030204" pitchFamily="18" charset="0"/>
                              <a:ea typeface="Cambria Math" panose="02040503050406030204" pitchFamily="18" charset="0"/>
                            </a:rPr>
                            <m:t>𝑖</m:t>
                          </m:r>
                          <m:r>
                            <a:rPr lang="en-IN" sz="1600" dirty="0">
                              <a:solidFill>
                                <a:schemeClr val="tx1">
                                  <a:lumMod val="50000"/>
                                </a:schemeClr>
                              </a:solidFill>
                              <a:latin typeface="Cambria Math" panose="02040503050406030204" pitchFamily="18" charset="0"/>
                              <a:ea typeface="Cambria Math" panose="02040503050406030204" pitchFamily="18" charset="0"/>
                            </a:rPr>
                            <m:t>=</m:t>
                          </m:r>
                          <m:r>
                            <a:rPr lang="en-IN" sz="1600" i="1" dirty="0">
                              <a:solidFill>
                                <a:schemeClr val="tx1">
                                  <a:lumMod val="50000"/>
                                </a:schemeClr>
                              </a:solidFill>
                              <a:latin typeface="Cambria Math" panose="02040503050406030204" pitchFamily="18" charset="0"/>
                              <a:ea typeface="Cambria Math" panose="02040503050406030204" pitchFamily="18" charset="0"/>
                            </a:rPr>
                            <m:t>𝑛</m:t>
                          </m:r>
                          <m:r>
                            <a:rPr lang="en-IN" sz="1600" dirty="0">
                              <a:solidFill>
                                <a:schemeClr val="tx1">
                                  <a:lumMod val="50000"/>
                                </a:schemeClr>
                              </a:solidFill>
                              <a:latin typeface="Cambria Math" panose="02040503050406030204" pitchFamily="18" charset="0"/>
                              <a:ea typeface="Cambria Math" panose="02040503050406030204" pitchFamily="18" charset="0"/>
                            </a:rPr>
                            <m:t>+1</m:t>
                          </m:r>
                        </m:sub>
                        <m:sup>
                          <m:r>
                            <a:rPr lang="en-IN" sz="1600" i="1" dirty="0">
                              <a:solidFill>
                                <a:schemeClr val="tx1">
                                  <a:lumMod val="50000"/>
                                </a:schemeClr>
                              </a:solidFill>
                              <a:latin typeface="Cambria Math" panose="02040503050406030204" pitchFamily="18" charset="0"/>
                              <a:ea typeface="Cambria Math" panose="02040503050406030204" pitchFamily="18" charset="0"/>
                            </a:rPr>
                            <m:t>𝑁</m:t>
                          </m:r>
                        </m:sup>
                        <m:e>
                          <m:sSub>
                            <m:sSubPr>
                              <m:ctrlPr>
                                <a:rPr lang="en-IN" sz="1600" i="1" dirty="0">
                                  <a:solidFill>
                                    <a:schemeClr val="tx1">
                                      <a:lumMod val="50000"/>
                                    </a:schemeClr>
                                  </a:solidFill>
                                  <a:latin typeface="Cambria Math" panose="02040503050406030204" pitchFamily="18" charset="0"/>
                                  <a:ea typeface="Cambria Math" panose="02040503050406030204" pitchFamily="18" charset="0"/>
                                </a:rPr>
                              </m:ctrlPr>
                            </m:sSubPr>
                            <m:e>
                              <m:r>
                                <a:rPr lang="en-IN" sz="1600" i="1" dirty="0">
                                  <a:solidFill>
                                    <a:schemeClr val="tx1">
                                      <a:lumMod val="50000"/>
                                    </a:schemeClr>
                                  </a:solidFill>
                                  <a:latin typeface="Cambria Math" panose="02040503050406030204" pitchFamily="18" charset="0"/>
                                  <a:ea typeface="Cambria Math" panose="02040503050406030204" pitchFamily="18" charset="0"/>
                                </a:rPr>
                                <m:t>𝑎</m:t>
                              </m:r>
                            </m:e>
                            <m:sub>
                              <m:r>
                                <a:rPr lang="en-IN" sz="1600" i="1" dirty="0">
                                  <a:solidFill>
                                    <a:schemeClr val="tx1">
                                      <a:lumMod val="50000"/>
                                    </a:schemeClr>
                                  </a:solidFill>
                                  <a:latin typeface="Cambria Math" panose="02040503050406030204" pitchFamily="18" charset="0"/>
                                  <a:ea typeface="Cambria Math" panose="02040503050406030204" pitchFamily="18" charset="0"/>
                                </a:rPr>
                                <m:t>𝑖</m:t>
                              </m:r>
                            </m:sub>
                          </m:sSub>
                        </m:e>
                      </m:nary>
                      <m:r>
                        <a:rPr lang="en-IN" sz="1600" i="1" dirty="0">
                          <a:solidFill>
                            <a:schemeClr val="tx1">
                              <a:lumMod val="50000"/>
                            </a:schemeClr>
                          </a:solidFill>
                          <a:latin typeface="Cambria Math" panose="02040503050406030204" pitchFamily="18" charset="0"/>
                          <a:ea typeface="Cambria Math" panose="02040503050406030204" pitchFamily="18" charset="0"/>
                        </a:rPr>
                        <m:t>𝔼</m:t>
                      </m:r>
                      <m:r>
                        <a:rPr lang="en-IN" sz="1600" i="1" dirty="0">
                          <a:solidFill>
                            <a:schemeClr val="tx1">
                              <a:lumMod val="50000"/>
                            </a:schemeClr>
                          </a:solidFill>
                          <a:latin typeface="Cambria Math" panose="02040503050406030204" pitchFamily="18" charset="0"/>
                          <a:ea typeface="Cambria Math" panose="02040503050406030204" pitchFamily="18" charset="0"/>
                        </a:rPr>
                        <m:t>[</m:t>
                      </m:r>
                      <m:sSub>
                        <m:sSubPr>
                          <m:ctrlPr>
                            <a:rPr lang="en-IN" sz="1600" i="1" dirty="0">
                              <a:solidFill>
                                <a:schemeClr val="tx1">
                                  <a:lumMod val="50000"/>
                                </a:schemeClr>
                              </a:solidFill>
                              <a:latin typeface="Cambria Math" panose="02040503050406030204" pitchFamily="18" charset="0"/>
                              <a:ea typeface="Cambria Math" panose="02040503050406030204" pitchFamily="18" charset="0"/>
                            </a:rPr>
                          </m:ctrlPr>
                        </m:sSubPr>
                        <m:e>
                          <m:r>
                            <a:rPr lang="en-IN" sz="1600" i="1" dirty="0">
                              <a:solidFill>
                                <a:schemeClr val="tx1">
                                  <a:lumMod val="50000"/>
                                </a:schemeClr>
                              </a:solidFill>
                              <a:latin typeface="Cambria Math" panose="02040503050406030204" pitchFamily="18" charset="0"/>
                              <a:ea typeface="Cambria Math" panose="02040503050406030204" pitchFamily="18" charset="0"/>
                            </a:rPr>
                            <m:t>𝑌</m:t>
                          </m:r>
                        </m:e>
                        <m:sub>
                          <m:r>
                            <a:rPr lang="en-IN" sz="1600" i="1" dirty="0">
                              <a:solidFill>
                                <a:schemeClr val="tx1">
                                  <a:lumMod val="50000"/>
                                </a:schemeClr>
                              </a:solidFill>
                              <a:latin typeface="Cambria Math" panose="02040503050406030204" pitchFamily="18" charset="0"/>
                              <a:ea typeface="Cambria Math" panose="02040503050406030204" pitchFamily="18" charset="0"/>
                            </a:rPr>
                            <m:t>𝑢</m:t>
                          </m:r>
                          <m:r>
                            <a:rPr lang="en-IN" sz="1600" i="1" dirty="0">
                              <a:solidFill>
                                <a:schemeClr val="tx1">
                                  <a:lumMod val="50000"/>
                                </a:schemeClr>
                              </a:solidFill>
                              <a:latin typeface="Cambria Math" panose="02040503050406030204" pitchFamily="18" charset="0"/>
                              <a:ea typeface="Cambria Math" panose="02040503050406030204" pitchFamily="18" charset="0"/>
                            </a:rPr>
                            <m:t>,</m:t>
                          </m:r>
                          <m:r>
                            <a:rPr lang="en-IN" sz="1600" i="1" dirty="0">
                              <a:solidFill>
                                <a:schemeClr val="tx1">
                                  <a:lumMod val="50000"/>
                                </a:schemeClr>
                              </a:solidFill>
                              <a:latin typeface="Cambria Math" panose="02040503050406030204" pitchFamily="18" charset="0"/>
                              <a:ea typeface="Cambria Math" panose="02040503050406030204" pitchFamily="18" charset="0"/>
                            </a:rPr>
                            <m:t>𝑖</m:t>
                          </m:r>
                        </m:sub>
                      </m:sSub>
                      <m:r>
                        <a:rPr lang="en-IN" sz="1600" i="1" dirty="0">
                          <a:solidFill>
                            <a:schemeClr val="tx1">
                              <a:lumMod val="50000"/>
                            </a:schemeClr>
                          </a:solidFill>
                          <a:latin typeface="Cambria Math" panose="02040503050406030204" pitchFamily="18" charset="0"/>
                          <a:ea typeface="Cambria Math" panose="02040503050406030204" pitchFamily="18" charset="0"/>
                        </a:rPr>
                        <m:t>|</m:t>
                      </m:r>
                      <m:sSup>
                        <m:sSupPr>
                          <m:ctrlPr>
                            <a:rPr lang="en-IN" sz="1600" i="1">
                              <a:solidFill>
                                <a:schemeClr val="tx1">
                                  <a:lumMod val="50000"/>
                                </a:schemeClr>
                              </a:solidFill>
                              <a:latin typeface="Cambria Math" panose="02040503050406030204" pitchFamily="18" charset="0"/>
                              <a:ea typeface="Cambria Math" panose="02040503050406030204" pitchFamily="18" charset="0"/>
                            </a:rPr>
                          </m:ctrlPr>
                        </m:sSupPr>
                        <m:e>
                          <m:r>
                            <a:rPr lang="en-IN" sz="1600" i="1">
                              <a:solidFill>
                                <a:schemeClr val="tx1">
                                  <a:lumMod val="50000"/>
                                </a:schemeClr>
                              </a:solidFill>
                              <a:latin typeface="Cambria Math" panose="02040503050406030204" pitchFamily="18" charset="0"/>
                              <a:ea typeface="Cambria Math" panose="02040503050406030204" pitchFamily="18" charset="0"/>
                            </a:rPr>
                            <m:t>𝜎</m:t>
                          </m:r>
                        </m:e>
                        <m:sup>
                          <m:r>
                            <a:rPr lang="en-IN" sz="1600" i="1">
                              <a:solidFill>
                                <a:schemeClr val="tx1">
                                  <a:lumMod val="50000"/>
                                </a:schemeClr>
                              </a:solidFill>
                              <a:latin typeface="Cambria Math" panose="02040503050406030204" pitchFamily="18" charset="0"/>
                              <a:ea typeface="Cambria Math" panose="02040503050406030204" pitchFamily="18" charset="0"/>
                            </a:rPr>
                            <m:t>2</m:t>
                          </m:r>
                        </m:sup>
                      </m:sSup>
                      <m:r>
                        <a:rPr lang="en-IN" sz="1600" i="1">
                          <a:solidFill>
                            <a:schemeClr val="tx1">
                              <a:lumMod val="50000"/>
                            </a:schemeClr>
                          </a:solidFill>
                          <a:latin typeface="Cambria Math" panose="02040503050406030204" pitchFamily="18" charset="0"/>
                          <a:ea typeface="Cambria Math" panose="02040503050406030204" pitchFamily="18" charset="0"/>
                        </a:rPr>
                        <m:t>,</m:t>
                      </m:r>
                      <m:r>
                        <a:rPr lang="en-IN" sz="1600" i="1">
                          <a:solidFill>
                            <a:schemeClr val="tx1">
                              <a:lumMod val="50000"/>
                            </a:schemeClr>
                          </a:solidFill>
                          <a:latin typeface="Cambria Math" panose="02040503050406030204" pitchFamily="18" charset="0"/>
                          <a:ea typeface="Cambria Math" panose="02040503050406030204" pitchFamily="18" charset="0"/>
                        </a:rPr>
                        <m:t>𝑦</m:t>
                      </m:r>
                      <m:r>
                        <a:rPr lang="en-IN" sz="1600" i="1">
                          <a:solidFill>
                            <a:schemeClr val="tx1">
                              <a:lumMod val="50000"/>
                            </a:schemeClr>
                          </a:solidFill>
                          <a:latin typeface="Cambria Math" panose="02040503050406030204" pitchFamily="18" charset="0"/>
                          <a:ea typeface="Cambria Math" panose="02040503050406030204" pitchFamily="18" charset="0"/>
                        </a:rPr>
                        <m:t>]</m:t>
                      </m:r>
                    </m:oMath>
                  </m:oMathPara>
                </a14:m>
                <a:endParaRPr lang="en-IN" sz="1600" dirty="0">
                  <a:solidFill>
                    <a:schemeClr val="tx1">
                      <a:lumMod val="50000"/>
                    </a:schemeClr>
                  </a:solidFill>
                  <a:latin typeface="Akatab" panose="020B0604020202020204" charset="0"/>
                  <a:ea typeface="Akatab" panose="020B0604020202020204" charset="0"/>
                  <a:cs typeface="Akatab" panose="020B0604020202020204" charset="0"/>
                </a:endParaRPr>
              </a:p>
              <a:p>
                <a:endParaRPr lang="en-IN" sz="1600" dirty="0">
                  <a:solidFill>
                    <a:schemeClr val="tx1">
                      <a:lumMod val="50000"/>
                    </a:schemeClr>
                  </a:solidFill>
                  <a:latin typeface="Akatab" panose="020B0604020202020204" charset="0"/>
                  <a:ea typeface="Akatab" panose="020B0604020202020204" charset="0"/>
                  <a:cs typeface="Akatab" panose="020B0604020202020204" charset="0"/>
                </a:endParaRPr>
              </a:p>
              <a:p>
                <a:pPr algn="ctr"/>
                <a:r>
                  <a:rPr lang="en-IN" sz="1600" dirty="0">
                    <a:solidFill>
                      <a:schemeClr val="tx1">
                        <a:lumMod val="50000"/>
                      </a:schemeClr>
                    </a:solidFill>
                    <a:latin typeface="Akatab" panose="020B0604020202020204" charset="0"/>
                    <a:ea typeface="Akatab" panose="020B0604020202020204" charset="0"/>
                    <a:cs typeface="Akatab" panose="020B0604020202020204" charset="0"/>
                  </a:rPr>
                  <a:t>=</a:t>
                </a:r>
                <a14:m>
                  <m:oMath xmlns:m="http://schemas.openxmlformats.org/officeDocument/2006/math">
                    <m:nary>
                      <m:naryPr>
                        <m:chr m:val="∑"/>
                        <m:ctrlPr>
                          <a:rPr lang="en-IN" sz="1600" i="1">
                            <a:solidFill>
                              <a:schemeClr val="tx1">
                                <a:lumMod val="50000"/>
                              </a:schemeClr>
                            </a:solidFill>
                            <a:latin typeface="Cambria Math" panose="02040503050406030204" pitchFamily="18" charset="0"/>
                            <a:ea typeface="Cambria Math" panose="02040503050406030204" pitchFamily="18" charset="0"/>
                          </a:rPr>
                        </m:ctrlPr>
                      </m:naryPr>
                      <m:sub>
                        <m:r>
                          <m:rPr>
                            <m:brk m:alnAt="23"/>
                          </m:rPr>
                          <a:rPr lang="en-IN" sz="1600" i="1">
                            <a:solidFill>
                              <a:schemeClr val="tx1">
                                <a:lumMod val="50000"/>
                              </a:schemeClr>
                            </a:solidFill>
                            <a:latin typeface="Cambria Math" panose="02040503050406030204" pitchFamily="18" charset="0"/>
                            <a:ea typeface="Cambria Math" panose="02040503050406030204" pitchFamily="18" charset="0"/>
                          </a:rPr>
                          <m:t>𝑖</m:t>
                        </m:r>
                        <m:r>
                          <a:rPr lang="en-IN" sz="1600" i="1">
                            <a:solidFill>
                              <a:schemeClr val="tx1">
                                <a:lumMod val="50000"/>
                              </a:schemeClr>
                            </a:solidFill>
                            <a:latin typeface="Cambria Math" panose="02040503050406030204" pitchFamily="18" charset="0"/>
                            <a:ea typeface="Cambria Math" panose="02040503050406030204" pitchFamily="18" charset="0"/>
                          </a:rPr>
                          <m:t>=1</m:t>
                        </m:r>
                      </m:sub>
                      <m:sup>
                        <m:r>
                          <a:rPr lang="en-IN" sz="1600" i="1">
                            <a:solidFill>
                              <a:schemeClr val="tx1">
                                <a:lumMod val="50000"/>
                              </a:schemeClr>
                            </a:solidFill>
                            <a:latin typeface="Cambria Math" panose="02040503050406030204" pitchFamily="18" charset="0"/>
                            <a:ea typeface="Cambria Math" panose="02040503050406030204" pitchFamily="18" charset="0"/>
                          </a:rPr>
                          <m:t>𝑛</m:t>
                        </m:r>
                      </m:sup>
                      <m:e>
                        <m:r>
                          <a:rPr lang="en-IN" sz="1600" i="1">
                            <a:solidFill>
                              <a:schemeClr val="tx1">
                                <a:lumMod val="50000"/>
                              </a:schemeClr>
                            </a:solidFill>
                            <a:latin typeface="Cambria Math" panose="02040503050406030204" pitchFamily="18" charset="0"/>
                            <a:ea typeface="Cambria Math" panose="02040503050406030204" pitchFamily="18" charset="0"/>
                          </a:rPr>
                          <m:t>(</m:t>
                        </m:r>
                        <m:sSub>
                          <m:sSubPr>
                            <m:ctrlPr>
                              <a:rPr lang="en-IN" sz="1600" i="1">
                                <a:solidFill>
                                  <a:schemeClr val="tx1">
                                    <a:lumMod val="50000"/>
                                  </a:schemeClr>
                                </a:solidFill>
                                <a:latin typeface="Cambria Math" panose="02040503050406030204" pitchFamily="18" charset="0"/>
                                <a:ea typeface="Cambria Math" panose="02040503050406030204" pitchFamily="18" charset="0"/>
                              </a:rPr>
                            </m:ctrlPr>
                          </m:sSubPr>
                          <m:e>
                            <m:r>
                              <a:rPr lang="en-IN" sz="1600" i="1">
                                <a:solidFill>
                                  <a:schemeClr val="tx1">
                                    <a:lumMod val="50000"/>
                                  </a:schemeClr>
                                </a:solidFill>
                                <a:latin typeface="Cambria Math" panose="02040503050406030204" pitchFamily="18" charset="0"/>
                                <a:ea typeface="Cambria Math" panose="02040503050406030204" pitchFamily="18" charset="0"/>
                              </a:rPr>
                              <m:t>𝑎</m:t>
                            </m:r>
                          </m:e>
                          <m:sub>
                            <m:r>
                              <a:rPr lang="en-IN" sz="1600" i="1">
                                <a:solidFill>
                                  <a:schemeClr val="tx1">
                                    <a:lumMod val="50000"/>
                                  </a:schemeClr>
                                </a:solidFill>
                                <a:latin typeface="Cambria Math" panose="02040503050406030204" pitchFamily="18" charset="0"/>
                                <a:ea typeface="Cambria Math" panose="02040503050406030204" pitchFamily="18" charset="0"/>
                              </a:rPr>
                              <m:t>𝑖</m:t>
                            </m:r>
                          </m:sub>
                        </m:sSub>
                        <m:r>
                          <a:rPr lang="en-IN" sz="1600" i="1">
                            <a:solidFill>
                              <a:schemeClr val="tx1">
                                <a:lumMod val="50000"/>
                              </a:schemeClr>
                            </a:solidFill>
                            <a:latin typeface="Cambria Math" panose="02040503050406030204" pitchFamily="18" charset="0"/>
                            <a:ea typeface="Cambria Math" panose="02040503050406030204" pitchFamily="18" charset="0"/>
                          </a:rPr>
                          <m:t>+</m:t>
                        </m:r>
                        <m:f>
                          <m:fPr>
                            <m:ctrlPr>
                              <a:rPr lang="en-IN" sz="1600" i="1">
                                <a:solidFill>
                                  <a:schemeClr val="tx1">
                                    <a:lumMod val="50000"/>
                                  </a:schemeClr>
                                </a:solidFill>
                                <a:latin typeface="Cambria Math" panose="02040503050406030204" pitchFamily="18" charset="0"/>
                                <a:ea typeface="Cambria Math" panose="02040503050406030204" pitchFamily="18" charset="0"/>
                              </a:rPr>
                            </m:ctrlPr>
                          </m:fPr>
                          <m:num>
                            <m:nary>
                              <m:naryPr>
                                <m:chr m:val="∑"/>
                                <m:ctrlPr>
                                  <a:rPr lang="en-IN" sz="1600" i="1">
                                    <a:solidFill>
                                      <a:schemeClr val="tx1">
                                        <a:lumMod val="50000"/>
                                      </a:schemeClr>
                                    </a:solidFill>
                                    <a:latin typeface="Cambria Math" panose="02040503050406030204" pitchFamily="18" charset="0"/>
                                    <a:ea typeface="Cambria Math" panose="02040503050406030204" pitchFamily="18" charset="0"/>
                                  </a:rPr>
                                </m:ctrlPr>
                              </m:naryPr>
                              <m:sub>
                                <m:r>
                                  <m:rPr>
                                    <m:brk m:alnAt="23"/>
                                  </m:rPr>
                                  <a:rPr lang="en-IN" sz="1600" i="1">
                                    <a:solidFill>
                                      <a:schemeClr val="tx1">
                                        <a:lumMod val="50000"/>
                                      </a:schemeClr>
                                    </a:solidFill>
                                    <a:latin typeface="Cambria Math" panose="02040503050406030204" pitchFamily="18" charset="0"/>
                                    <a:ea typeface="Cambria Math" panose="02040503050406030204" pitchFamily="18" charset="0"/>
                                  </a:rPr>
                                  <m:t>𝑖</m:t>
                                </m:r>
                                <m:r>
                                  <a:rPr lang="en-IN" sz="1600" i="1">
                                    <a:solidFill>
                                      <a:schemeClr val="tx1">
                                        <a:lumMod val="50000"/>
                                      </a:schemeClr>
                                    </a:solidFill>
                                    <a:latin typeface="Cambria Math" panose="02040503050406030204" pitchFamily="18" charset="0"/>
                                    <a:ea typeface="Cambria Math" panose="02040503050406030204" pitchFamily="18" charset="0"/>
                                  </a:rPr>
                                  <m:t>=</m:t>
                                </m:r>
                                <m:r>
                                  <a:rPr lang="en-IN" sz="1600" i="1">
                                    <a:solidFill>
                                      <a:schemeClr val="tx1">
                                        <a:lumMod val="50000"/>
                                      </a:schemeClr>
                                    </a:solidFill>
                                    <a:latin typeface="Cambria Math" panose="02040503050406030204" pitchFamily="18" charset="0"/>
                                    <a:ea typeface="Cambria Math" panose="02040503050406030204" pitchFamily="18" charset="0"/>
                                  </a:rPr>
                                  <m:t>𝑛</m:t>
                                </m:r>
                                <m:r>
                                  <a:rPr lang="en-IN" sz="1600" i="1">
                                    <a:solidFill>
                                      <a:schemeClr val="tx1">
                                        <a:lumMod val="50000"/>
                                      </a:schemeClr>
                                    </a:solidFill>
                                    <a:latin typeface="Cambria Math" panose="02040503050406030204" pitchFamily="18" charset="0"/>
                                    <a:ea typeface="Cambria Math" panose="02040503050406030204" pitchFamily="18" charset="0"/>
                                  </a:rPr>
                                  <m:t>+1</m:t>
                                </m:r>
                              </m:sub>
                              <m:sup>
                                <m:r>
                                  <a:rPr lang="en-IN" sz="1600" i="1">
                                    <a:solidFill>
                                      <a:schemeClr val="tx1">
                                        <a:lumMod val="50000"/>
                                      </a:schemeClr>
                                    </a:solidFill>
                                    <a:latin typeface="Cambria Math" panose="02040503050406030204" pitchFamily="18" charset="0"/>
                                    <a:ea typeface="Cambria Math" panose="02040503050406030204" pitchFamily="18" charset="0"/>
                                  </a:rPr>
                                  <m:t>𝑁</m:t>
                                </m:r>
                              </m:sup>
                              <m:e>
                                <m:sSub>
                                  <m:sSubPr>
                                    <m:ctrlPr>
                                      <a:rPr lang="en-IN" sz="1600" i="1">
                                        <a:solidFill>
                                          <a:schemeClr val="tx1">
                                            <a:lumMod val="50000"/>
                                          </a:schemeClr>
                                        </a:solidFill>
                                        <a:latin typeface="Cambria Math" panose="02040503050406030204" pitchFamily="18" charset="0"/>
                                        <a:ea typeface="Cambria Math" panose="02040503050406030204" pitchFamily="18" charset="0"/>
                                      </a:rPr>
                                    </m:ctrlPr>
                                  </m:sSubPr>
                                  <m:e>
                                    <m:r>
                                      <a:rPr lang="en-IN" sz="1600" i="1">
                                        <a:solidFill>
                                          <a:schemeClr val="tx1">
                                            <a:lumMod val="50000"/>
                                          </a:schemeClr>
                                        </a:solidFill>
                                        <a:latin typeface="Cambria Math" panose="02040503050406030204" pitchFamily="18" charset="0"/>
                                        <a:ea typeface="Cambria Math" panose="02040503050406030204" pitchFamily="18" charset="0"/>
                                      </a:rPr>
                                      <m:t>𝑎</m:t>
                                    </m:r>
                                  </m:e>
                                  <m:sub>
                                    <m:r>
                                      <a:rPr lang="en-IN" sz="1600" i="1">
                                        <a:solidFill>
                                          <a:schemeClr val="tx1">
                                            <a:lumMod val="50000"/>
                                          </a:schemeClr>
                                        </a:solidFill>
                                        <a:latin typeface="Cambria Math" panose="02040503050406030204" pitchFamily="18" charset="0"/>
                                        <a:ea typeface="Cambria Math" panose="02040503050406030204" pitchFamily="18" charset="0"/>
                                      </a:rPr>
                                      <m:t>𝑖</m:t>
                                    </m:r>
                                  </m:sub>
                                </m:sSub>
                              </m:e>
                            </m:nary>
                          </m:num>
                          <m:den>
                            <m:sSub>
                              <m:sSubPr>
                                <m:ctrlPr>
                                  <a:rPr lang="en-IN" sz="1600" i="1">
                                    <a:solidFill>
                                      <a:schemeClr val="tx1">
                                        <a:lumMod val="50000"/>
                                      </a:schemeClr>
                                    </a:solidFill>
                                    <a:latin typeface="Cambria Math" panose="02040503050406030204" pitchFamily="18" charset="0"/>
                                    <a:ea typeface="Cambria Math" panose="02040503050406030204" pitchFamily="18" charset="0"/>
                                  </a:rPr>
                                </m:ctrlPr>
                              </m:sSubPr>
                              <m:e>
                                <m:r>
                                  <a:rPr lang="en-IN" sz="1600" i="1">
                                    <a:solidFill>
                                      <a:schemeClr val="tx1">
                                        <a:lumMod val="50000"/>
                                      </a:schemeClr>
                                    </a:solidFill>
                                    <a:latin typeface="Cambria Math" panose="02040503050406030204" pitchFamily="18" charset="0"/>
                                    <a:ea typeface="Cambria Math" panose="02040503050406030204" pitchFamily="18" charset="0"/>
                                  </a:rPr>
                                  <m:t>𝑛</m:t>
                                </m:r>
                              </m:e>
                              <m:sub>
                                <m:r>
                                  <a:rPr lang="en-IN" sz="1600" i="1">
                                    <a:solidFill>
                                      <a:schemeClr val="tx1">
                                        <a:lumMod val="50000"/>
                                      </a:schemeClr>
                                    </a:solidFill>
                                    <a:latin typeface="Cambria Math" panose="02040503050406030204" pitchFamily="18" charset="0"/>
                                    <a:ea typeface="Cambria Math" panose="02040503050406030204" pitchFamily="18" charset="0"/>
                                  </a:rPr>
                                  <m:t>0</m:t>
                                </m:r>
                              </m:sub>
                            </m:sSub>
                            <m:r>
                              <a:rPr lang="en-IN" sz="1600" i="1">
                                <a:solidFill>
                                  <a:schemeClr val="tx1">
                                    <a:lumMod val="50000"/>
                                  </a:schemeClr>
                                </a:solidFill>
                                <a:latin typeface="Cambria Math" panose="02040503050406030204" pitchFamily="18" charset="0"/>
                                <a:ea typeface="Cambria Math" panose="02040503050406030204" pitchFamily="18" charset="0"/>
                              </a:rPr>
                              <m:t>+</m:t>
                            </m:r>
                            <m:r>
                              <a:rPr lang="en-IN" sz="1600" i="1">
                                <a:solidFill>
                                  <a:schemeClr val="tx1">
                                    <a:lumMod val="50000"/>
                                  </a:schemeClr>
                                </a:solidFill>
                                <a:latin typeface="Cambria Math" panose="02040503050406030204" pitchFamily="18" charset="0"/>
                                <a:ea typeface="Cambria Math" panose="02040503050406030204" pitchFamily="18" charset="0"/>
                              </a:rPr>
                              <m:t>𝑛</m:t>
                            </m:r>
                          </m:den>
                        </m:f>
                        <m:r>
                          <a:rPr lang="en-IN" sz="1600" i="1">
                            <a:solidFill>
                              <a:schemeClr val="tx1">
                                <a:lumMod val="50000"/>
                              </a:schemeClr>
                            </a:solidFill>
                            <a:latin typeface="Cambria Math" panose="02040503050406030204" pitchFamily="18" charset="0"/>
                            <a:ea typeface="Cambria Math" panose="02040503050406030204" pitchFamily="18" charset="0"/>
                          </a:rPr>
                          <m:t>)</m:t>
                        </m:r>
                      </m:e>
                    </m:nary>
                    <m:sSub>
                      <m:sSubPr>
                        <m:ctrlPr>
                          <a:rPr lang="en-IN" sz="1600" i="1">
                            <a:solidFill>
                              <a:schemeClr val="tx1">
                                <a:lumMod val="50000"/>
                              </a:schemeClr>
                            </a:solidFill>
                            <a:latin typeface="Cambria Math" panose="02040503050406030204" pitchFamily="18" charset="0"/>
                            <a:ea typeface="Cambria Math" panose="02040503050406030204" pitchFamily="18" charset="0"/>
                          </a:rPr>
                        </m:ctrlPr>
                      </m:sSubPr>
                      <m:e>
                        <m:r>
                          <a:rPr lang="en-IN" sz="1600" i="1">
                            <a:solidFill>
                              <a:schemeClr val="tx1">
                                <a:lumMod val="50000"/>
                              </a:schemeClr>
                            </a:solidFill>
                            <a:latin typeface="Cambria Math" panose="02040503050406030204" pitchFamily="18" charset="0"/>
                            <a:ea typeface="Cambria Math" panose="02040503050406030204" pitchFamily="18" charset="0"/>
                          </a:rPr>
                          <m:t>𝑦</m:t>
                        </m:r>
                      </m:e>
                      <m:sub>
                        <m:r>
                          <a:rPr lang="en-IN" sz="1600" i="1">
                            <a:solidFill>
                              <a:schemeClr val="tx1">
                                <a:lumMod val="50000"/>
                              </a:schemeClr>
                            </a:solidFill>
                            <a:latin typeface="Cambria Math" panose="02040503050406030204" pitchFamily="18" charset="0"/>
                            <a:ea typeface="Cambria Math" panose="02040503050406030204" pitchFamily="18" charset="0"/>
                          </a:rPr>
                          <m:t>𝑖</m:t>
                        </m:r>
                      </m:sub>
                    </m:sSub>
                    <m:r>
                      <a:rPr lang="en-IN" sz="1600" i="1">
                        <a:solidFill>
                          <a:schemeClr val="tx1">
                            <a:lumMod val="50000"/>
                          </a:schemeClr>
                        </a:solidFill>
                        <a:latin typeface="Cambria Math" panose="02040503050406030204" pitchFamily="18" charset="0"/>
                        <a:ea typeface="Cambria Math" panose="02040503050406030204" pitchFamily="18" charset="0"/>
                      </a:rPr>
                      <m:t>+</m:t>
                    </m:r>
                    <m:sSub>
                      <m:sSubPr>
                        <m:ctrlPr>
                          <a:rPr lang="en-IN" sz="1600" i="1">
                            <a:solidFill>
                              <a:schemeClr val="tx1">
                                <a:lumMod val="50000"/>
                              </a:schemeClr>
                            </a:solidFill>
                            <a:latin typeface="Cambria Math" panose="02040503050406030204" pitchFamily="18" charset="0"/>
                            <a:ea typeface="Cambria Math" panose="02040503050406030204" pitchFamily="18" charset="0"/>
                          </a:rPr>
                        </m:ctrlPr>
                      </m:sSubPr>
                      <m:e>
                        <m:r>
                          <a:rPr lang="en-IN" sz="1600" i="1">
                            <a:solidFill>
                              <a:schemeClr val="tx1">
                                <a:lumMod val="50000"/>
                              </a:schemeClr>
                            </a:solidFill>
                            <a:latin typeface="Cambria Math" panose="02040503050406030204" pitchFamily="18" charset="0"/>
                            <a:ea typeface="Cambria Math" panose="02040503050406030204" pitchFamily="18" charset="0"/>
                          </a:rPr>
                          <m:t>𝑛</m:t>
                        </m:r>
                      </m:e>
                      <m:sub>
                        <m:r>
                          <a:rPr lang="en-IN" sz="1600" i="1">
                            <a:solidFill>
                              <a:schemeClr val="tx1">
                                <a:lumMod val="50000"/>
                              </a:schemeClr>
                            </a:solidFill>
                            <a:latin typeface="Cambria Math" panose="02040503050406030204" pitchFamily="18" charset="0"/>
                            <a:ea typeface="Cambria Math" panose="02040503050406030204" pitchFamily="18" charset="0"/>
                          </a:rPr>
                          <m:t>0</m:t>
                        </m:r>
                      </m:sub>
                    </m:sSub>
                    <m:f>
                      <m:fPr>
                        <m:ctrlPr>
                          <a:rPr lang="en-IN" sz="1600" i="1">
                            <a:solidFill>
                              <a:schemeClr val="tx1">
                                <a:lumMod val="50000"/>
                              </a:schemeClr>
                            </a:solidFill>
                            <a:latin typeface="Cambria Math" panose="02040503050406030204" pitchFamily="18" charset="0"/>
                            <a:ea typeface="Cambria Math" panose="02040503050406030204" pitchFamily="18" charset="0"/>
                          </a:rPr>
                        </m:ctrlPr>
                      </m:fPr>
                      <m:num>
                        <m:nary>
                          <m:naryPr>
                            <m:chr m:val="∑"/>
                            <m:ctrlPr>
                              <a:rPr lang="en-IN" sz="1600" i="1">
                                <a:solidFill>
                                  <a:schemeClr val="tx1">
                                    <a:lumMod val="50000"/>
                                  </a:schemeClr>
                                </a:solidFill>
                                <a:latin typeface="Cambria Math" panose="02040503050406030204" pitchFamily="18" charset="0"/>
                                <a:ea typeface="Cambria Math" panose="02040503050406030204" pitchFamily="18" charset="0"/>
                              </a:rPr>
                            </m:ctrlPr>
                          </m:naryPr>
                          <m:sub>
                            <m:r>
                              <m:rPr>
                                <m:brk m:alnAt="23"/>
                              </m:rPr>
                              <a:rPr lang="en-IN" sz="1600" i="1">
                                <a:solidFill>
                                  <a:schemeClr val="tx1">
                                    <a:lumMod val="50000"/>
                                  </a:schemeClr>
                                </a:solidFill>
                                <a:latin typeface="Cambria Math" panose="02040503050406030204" pitchFamily="18" charset="0"/>
                                <a:ea typeface="Cambria Math" panose="02040503050406030204" pitchFamily="18" charset="0"/>
                              </a:rPr>
                              <m:t>𝑖</m:t>
                            </m:r>
                            <m:r>
                              <a:rPr lang="en-IN" sz="1600" i="1">
                                <a:solidFill>
                                  <a:schemeClr val="tx1">
                                    <a:lumMod val="50000"/>
                                  </a:schemeClr>
                                </a:solidFill>
                                <a:latin typeface="Cambria Math" panose="02040503050406030204" pitchFamily="18" charset="0"/>
                                <a:ea typeface="Cambria Math" panose="02040503050406030204" pitchFamily="18" charset="0"/>
                              </a:rPr>
                              <m:t>=</m:t>
                            </m:r>
                            <m:r>
                              <a:rPr lang="en-IN" sz="1600" i="1">
                                <a:solidFill>
                                  <a:schemeClr val="tx1">
                                    <a:lumMod val="50000"/>
                                  </a:schemeClr>
                                </a:solidFill>
                                <a:latin typeface="Cambria Math" panose="02040503050406030204" pitchFamily="18" charset="0"/>
                                <a:ea typeface="Cambria Math" panose="02040503050406030204" pitchFamily="18" charset="0"/>
                              </a:rPr>
                              <m:t>𝑛</m:t>
                            </m:r>
                            <m:r>
                              <a:rPr lang="en-IN" sz="1600" i="1">
                                <a:solidFill>
                                  <a:schemeClr val="tx1">
                                    <a:lumMod val="50000"/>
                                  </a:schemeClr>
                                </a:solidFill>
                                <a:latin typeface="Cambria Math" panose="02040503050406030204" pitchFamily="18" charset="0"/>
                                <a:ea typeface="Cambria Math" panose="02040503050406030204" pitchFamily="18" charset="0"/>
                              </a:rPr>
                              <m:t>+1</m:t>
                            </m:r>
                          </m:sub>
                          <m:sup>
                            <m:r>
                              <a:rPr lang="en-IN" sz="1600" i="1">
                                <a:solidFill>
                                  <a:schemeClr val="tx1">
                                    <a:lumMod val="50000"/>
                                  </a:schemeClr>
                                </a:solidFill>
                                <a:latin typeface="Cambria Math" panose="02040503050406030204" pitchFamily="18" charset="0"/>
                                <a:ea typeface="Cambria Math" panose="02040503050406030204" pitchFamily="18" charset="0"/>
                              </a:rPr>
                              <m:t>𝑁</m:t>
                            </m:r>
                          </m:sup>
                          <m:e>
                            <m:sSub>
                              <m:sSubPr>
                                <m:ctrlPr>
                                  <a:rPr lang="en-IN" sz="1600" i="1">
                                    <a:solidFill>
                                      <a:schemeClr val="tx1">
                                        <a:lumMod val="50000"/>
                                      </a:schemeClr>
                                    </a:solidFill>
                                    <a:latin typeface="Cambria Math" panose="02040503050406030204" pitchFamily="18" charset="0"/>
                                    <a:ea typeface="Cambria Math" panose="02040503050406030204" pitchFamily="18" charset="0"/>
                                  </a:rPr>
                                </m:ctrlPr>
                              </m:sSubPr>
                              <m:e>
                                <m:r>
                                  <a:rPr lang="en-IN" sz="1600" i="1">
                                    <a:solidFill>
                                      <a:schemeClr val="tx1">
                                        <a:lumMod val="50000"/>
                                      </a:schemeClr>
                                    </a:solidFill>
                                    <a:latin typeface="Cambria Math" panose="02040503050406030204" pitchFamily="18" charset="0"/>
                                    <a:ea typeface="Cambria Math" panose="02040503050406030204" pitchFamily="18" charset="0"/>
                                  </a:rPr>
                                  <m:t>𝑎</m:t>
                                </m:r>
                              </m:e>
                              <m:sub>
                                <m:r>
                                  <a:rPr lang="en-IN" sz="1600" i="1">
                                    <a:solidFill>
                                      <a:schemeClr val="tx1">
                                        <a:lumMod val="50000"/>
                                      </a:schemeClr>
                                    </a:solidFill>
                                    <a:latin typeface="Cambria Math" panose="02040503050406030204" pitchFamily="18" charset="0"/>
                                    <a:ea typeface="Cambria Math" panose="02040503050406030204" pitchFamily="18" charset="0"/>
                                  </a:rPr>
                                  <m:t>𝑖</m:t>
                                </m:r>
                              </m:sub>
                            </m:sSub>
                          </m:e>
                        </m:nary>
                      </m:num>
                      <m:den>
                        <m:sSub>
                          <m:sSubPr>
                            <m:ctrlPr>
                              <a:rPr lang="en-IN" sz="1600" i="1">
                                <a:solidFill>
                                  <a:schemeClr val="tx1">
                                    <a:lumMod val="50000"/>
                                  </a:schemeClr>
                                </a:solidFill>
                                <a:latin typeface="Cambria Math" panose="02040503050406030204" pitchFamily="18" charset="0"/>
                                <a:ea typeface="Cambria Math" panose="02040503050406030204" pitchFamily="18" charset="0"/>
                              </a:rPr>
                            </m:ctrlPr>
                          </m:sSubPr>
                          <m:e>
                            <m:r>
                              <a:rPr lang="en-IN" sz="1600" i="1">
                                <a:solidFill>
                                  <a:schemeClr val="tx1">
                                    <a:lumMod val="50000"/>
                                  </a:schemeClr>
                                </a:solidFill>
                                <a:latin typeface="Cambria Math" panose="02040503050406030204" pitchFamily="18" charset="0"/>
                                <a:ea typeface="Cambria Math" panose="02040503050406030204" pitchFamily="18" charset="0"/>
                              </a:rPr>
                              <m:t>𝑛</m:t>
                            </m:r>
                          </m:e>
                          <m:sub>
                            <m:r>
                              <a:rPr lang="en-IN" sz="1600" i="1">
                                <a:solidFill>
                                  <a:schemeClr val="tx1">
                                    <a:lumMod val="50000"/>
                                  </a:schemeClr>
                                </a:solidFill>
                                <a:latin typeface="Cambria Math" panose="02040503050406030204" pitchFamily="18" charset="0"/>
                                <a:ea typeface="Cambria Math" panose="02040503050406030204" pitchFamily="18" charset="0"/>
                              </a:rPr>
                              <m:t>0</m:t>
                            </m:r>
                          </m:sub>
                        </m:sSub>
                        <m:r>
                          <a:rPr lang="en-IN" sz="1600" i="1">
                            <a:solidFill>
                              <a:schemeClr val="tx1">
                                <a:lumMod val="50000"/>
                              </a:schemeClr>
                            </a:solidFill>
                            <a:latin typeface="Cambria Math" panose="02040503050406030204" pitchFamily="18" charset="0"/>
                            <a:ea typeface="Cambria Math" panose="02040503050406030204" pitchFamily="18" charset="0"/>
                          </a:rPr>
                          <m:t>+</m:t>
                        </m:r>
                        <m:r>
                          <a:rPr lang="en-IN" sz="1600" i="1">
                            <a:solidFill>
                              <a:schemeClr val="tx1">
                                <a:lumMod val="50000"/>
                              </a:schemeClr>
                            </a:solidFill>
                            <a:latin typeface="Cambria Math" panose="02040503050406030204" pitchFamily="18" charset="0"/>
                            <a:ea typeface="Cambria Math" panose="02040503050406030204" pitchFamily="18" charset="0"/>
                          </a:rPr>
                          <m:t>𝑛</m:t>
                        </m:r>
                      </m:den>
                    </m:f>
                  </m:oMath>
                </a14:m>
                <a:endParaRPr lang="en-IN" sz="1600" dirty="0">
                  <a:solidFill>
                    <a:schemeClr val="tx1">
                      <a:lumMod val="50000"/>
                    </a:schemeClr>
                  </a:solidFill>
                  <a:latin typeface="Akatab" panose="020B0604020202020204" charset="0"/>
                  <a:ea typeface="Akatab" panose="020B0604020202020204" charset="0"/>
                  <a:cs typeface="Akatab" panose="020B0604020202020204" charset="0"/>
                </a:endParaRPr>
              </a:p>
              <a:p>
                <a:pPr algn="ctr"/>
                <a:endParaRPr lang="en-IN" sz="1600" dirty="0">
                  <a:solidFill>
                    <a:schemeClr val="tx1">
                      <a:lumMod val="50000"/>
                    </a:schemeClr>
                  </a:solidFill>
                  <a:latin typeface="Akatab" panose="020B0604020202020204" charset="0"/>
                  <a:ea typeface="Akatab" panose="020B0604020202020204" charset="0"/>
                  <a:cs typeface="Akatab" panose="020B0604020202020204" charset="0"/>
                </a:endParaRPr>
              </a:p>
              <a:p>
                <a:pPr marL="285750" indent="-285750">
                  <a:buFont typeface="Arial" panose="020B0604020202020204" pitchFamily="34" charset="0"/>
                  <a:buChar char="•"/>
                </a:pPr>
                <a:r>
                  <a:rPr lang="en-US" sz="1600" dirty="0">
                    <a:solidFill>
                      <a:schemeClr val="tx1">
                        <a:lumMod val="50000"/>
                      </a:schemeClr>
                    </a:solidFill>
                    <a:latin typeface="Akatab" panose="020B0604020202020204" charset="0"/>
                    <a:ea typeface="Akatab" panose="020B0604020202020204" charset="0"/>
                    <a:cs typeface="Akatab" panose="020B0604020202020204" charset="0"/>
                  </a:rPr>
                  <a:t>Setting </a:t>
                </a:r>
                <a14:m>
                  <m:oMath xmlns:m="http://schemas.openxmlformats.org/officeDocument/2006/math">
                    <m:sSub>
                      <m:sSubPr>
                        <m:ctrlPr>
                          <a:rPr lang="en-IN" sz="1600" i="1" dirty="0">
                            <a:solidFill>
                              <a:schemeClr val="tx1">
                                <a:lumMod val="50000"/>
                              </a:schemeClr>
                            </a:solidFill>
                            <a:latin typeface="Cambria Math" panose="02040503050406030204" pitchFamily="18" charset="0"/>
                            <a:ea typeface="Cambria Math" panose="02040503050406030204" pitchFamily="18" charset="0"/>
                          </a:rPr>
                        </m:ctrlPr>
                      </m:sSubPr>
                      <m:e>
                        <m:r>
                          <a:rPr lang="en-IN" sz="1600" i="1" dirty="0">
                            <a:solidFill>
                              <a:schemeClr val="tx1">
                                <a:lumMod val="50000"/>
                              </a:schemeClr>
                            </a:solidFill>
                            <a:latin typeface="Cambria Math" panose="02040503050406030204" pitchFamily="18" charset="0"/>
                            <a:ea typeface="Cambria Math" panose="02040503050406030204" pitchFamily="18" charset="0"/>
                          </a:rPr>
                          <m:t>𝑎</m:t>
                        </m:r>
                      </m:e>
                      <m:sub>
                        <m:r>
                          <a:rPr lang="en-IN" sz="1600" i="1" dirty="0">
                            <a:solidFill>
                              <a:schemeClr val="tx1">
                                <a:lumMod val="50000"/>
                              </a:schemeClr>
                            </a:solidFill>
                            <a:latin typeface="Cambria Math" panose="02040503050406030204" pitchFamily="18" charset="0"/>
                            <a:ea typeface="Cambria Math" panose="02040503050406030204" pitchFamily="18" charset="0"/>
                          </a:rPr>
                          <m:t>𝑖</m:t>
                        </m:r>
                      </m:sub>
                    </m:sSub>
                    <m:r>
                      <a:rPr lang="en-IN" sz="1600" i="1" dirty="0">
                        <a:solidFill>
                          <a:schemeClr val="tx1">
                            <a:lumMod val="50000"/>
                          </a:schemeClr>
                        </a:solidFill>
                        <a:latin typeface="Cambria Math" panose="02040503050406030204" pitchFamily="18" charset="0"/>
                        <a:ea typeface="Cambria Math" panose="02040503050406030204" pitchFamily="18" charset="0"/>
                      </a:rPr>
                      <m:t>=1, </m:t>
                    </m:r>
                  </m:oMath>
                </a14:m>
                <a:r>
                  <a:rPr lang="en-US" sz="1600" dirty="0">
                    <a:solidFill>
                      <a:schemeClr val="tx1">
                        <a:lumMod val="50000"/>
                      </a:schemeClr>
                    </a:solidFill>
                    <a:latin typeface="Akatab" panose="020B0604020202020204" charset="0"/>
                    <a:ea typeface="Akatab" panose="020B0604020202020204" charset="0"/>
                    <a:cs typeface="Akatab" panose="020B0604020202020204" charset="0"/>
                  </a:rPr>
                  <a:t>gives the posterior mean/variance of the population total.</a:t>
                </a:r>
                <a:endParaRPr lang="en-IN" sz="1100" dirty="0">
                  <a:solidFill>
                    <a:schemeClr val="tx1">
                      <a:lumMod val="50000"/>
                    </a:schemeClr>
                  </a:solidFill>
                  <a:latin typeface="Akatab" panose="020B0604020202020204" charset="0"/>
                  <a:ea typeface="Akatab" panose="020B0604020202020204" charset="0"/>
                  <a:cs typeface="Akatab" panose="020B0604020202020204" charset="0"/>
                </a:endParaRPr>
              </a:p>
            </p:txBody>
          </p:sp>
        </mc:Choice>
        <mc:Fallback xmlns="">
          <p:sp>
            <p:nvSpPr>
              <p:cNvPr id="446" name="Google Shape;446;p45"/>
              <p:cNvSpPr txBox="1">
                <a:spLocks noGrp="1" noRot="1" noChangeAspect="1" noMove="1" noResize="1" noEditPoints="1" noAdjustHandles="1" noChangeArrowheads="1" noChangeShapeType="1" noTextEdit="1"/>
              </p:cNvSpPr>
              <p:nvPr>
                <p:ph type="subTitle" idx="2"/>
              </p:nvPr>
            </p:nvSpPr>
            <p:spPr>
              <a:xfrm>
                <a:off x="1101213" y="1197803"/>
                <a:ext cx="6941573" cy="2983868"/>
              </a:xfrm>
              <a:prstGeom prst="rect">
                <a:avLst/>
              </a:prstGeom>
              <a:blipFill>
                <a:blip r:embed="rId3"/>
                <a:stretch>
                  <a:fillRect t="-2041" b="-1837"/>
                </a:stretch>
              </a:blipFill>
            </p:spPr>
            <p:txBody>
              <a:bodyPr/>
              <a:lstStyle/>
              <a:p>
                <a:r>
                  <a:rPr lang="en-IN">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IN" sz="2800" b="1" dirty="0"/>
              <a:t>Model 2: Approximate HT</a:t>
            </a:r>
            <a:endParaRPr sz="2800" b="1" dirty="0"/>
          </a:p>
        </p:txBody>
      </p:sp>
      <mc:AlternateContent xmlns:mc="http://schemas.openxmlformats.org/markup-compatibility/2006" xmlns:a14="http://schemas.microsoft.com/office/drawing/2010/main">
        <mc:Choice Requires="a14">
          <p:sp>
            <p:nvSpPr>
              <p:cNvPr id="446" name="Google Shape;446;p45"/>
              <p:cNvSpPr txBox="1">
                <a:spLocks noGrp="1"/>
              </p:cNvSpPr>
              <p:nvPr>
                <p:ph type="subTitle" idx="2"/>
              </p:nvPr>
            </p:nvSpPr>
            <p:spPr>
              <a:xfrm>
                <a:off x="1101213" y="1345287"/>
                <a:ext cx="6941573" cy="2983868"/>
              </a:xfrm>
              <a:prstGeom prst="rect">
                <a:avLst/>
              </a:prstGeom>
            </p:spPr>
            <p:txBody>
              <a:bodyPr spcFirstLastPara="1" wrap="square" lIns="91425" tIns="91425" rIns="91425" bIns="91425" anchor="t" anchorCtr="0">
                <a:noAutofit/>
              </a:bodyPr>
              <a:lstStyle/>
              <a:p>
                <a:pPr marL="285750" lvl="0" indent="-285750" eaLnBrk="0" fontAlgn="base" hangingPunct="0">
                  <a:spcBef>
                    <a:spcPct val="0"/>
                  </a:spcBef>
                  <a:spcAft>
                    <a:spcPct val="0"/>
                  </a:spcAft>
                  <a:buClrTx/>
                  <a:buSzTx/>
                  <a:buFont typeface="Arial" panose="020B0604020202020204" pitchFamily="34" charset="0"/>
                  <a:buChar char="•"/>
                </a:pPr>
                <a:r>
                  <a:rPr lang="en-US" altLang="en-US" sz="1600" dirty="0">
                    <a:solidFill>
                      <a:schemeClr val="tx1">
                        <a:lumMod val="50000"/>
                      </a:schemeClr>
                    </a:solidFill>
                    <a:latin typeface="Akatab" panose="020B0604020202020204" charset="0"/>
                    <a:ea typeface="Akatab" panose="020B0604020202020204" charset="0"/>
                    <a:cs typeface="Akatab" panose="020B0604020202020204" charset="0"/>
                  </a:rPr>
                  <a:t>Model: </a:t>
                </a:r>
                <a14:m>
                  <m:oMath xmlns:m="http://schemas.openxmlformats.org/officeDocument/2006/math">
                    <m:sSub>
                      <m:sSubPr>
                        <m:ctrlPr>
                          <a:rPr lang="en-US" altLang="en-US" sz="1600" i="1">
                            <a:solidFill>
                              <a:schemeClr val="tx1">
                                <a:lumMod val="50000"/>
                              </a:schemeClr>
                            </a:solidFill>
                            <a:latin typeface="Cambria Math" panose="02040503050406030204" pitchFamily="18" charset="0"/>
                          </a:rPr>
                        </m:ctrlPr>
                      </m:sSubPr>
                      <m:e>
                        <m:r>
                          <a:rPr lang="en-IN" altLang="en-US" sz="1600" i="1">
                            <a:solidFill>
                              <a:schemeClr val="tx1">
                                <a:lumMod val="50000"/>
                              </a:schemeClr>
                            </a:solidFill>
                            <a:latin typeface="Cambria Math" panose="02040503050406030204" pitchFamily="18" charset="0"/>
                          </a:rPr>
                          <m:t>𝑌</m:t>
                        </m:r>
                      </m:e>
                      <m:sub>
                        <m:r>
                          <a:rPr lang="en-IN" altLang="en-US" sz="1600" i="1">
                            <a:solidFill>
                              <a:schemeClr val="tx1">
                                <a:lumMod val="50000"/>
                              </a:schemeClr>
                            </a:solidFill>
                            <a:latin typeface="Cambria Math" panose="02040503050406030204" pitchFamily="18" charset="0"/>
                          </a:rPr>
                          <m:t>𝑖</m:t>
                        </m:r>
                      </m:sub>
                    </m:sSub>
                    <m:r>
                      <a:rPr lang="en-IN" altLang="en-US" sz="1600" i="1">
                        <a:solidFill>
                          <a:schemeClr val="tx1">
                            <a:lumMod val="50000"/>
                          </a:schemeClr>
                        </a:solidFill>
                        <a:latin typeface="Cambria Math" panose="02040503050406030204" pitchFamily="18" charset="0"/>
                      </a:rPr>
                      <m:t>=</m:t>
                    </m:r>
                    <m:sSub>
                      <m:sSubPr>
                        <m:ctrlPr>
                          <a:rPr lang="en-IN" altLang="en-US" sz="1600" i="1">
                            <a:solidFill>
                              <a:schemeClr val="tx1">
                                <a:lumMod val="50000"/>
                              </a:schemeClr>
                            </a:solidFill>
                            <a:latin typeface="Cambria Math" panose="02040503050406030204" pitchFamily="18" charset="0"/>
                          </a:rPr>
                        </m:ctrlPr>
                      </m:sSubPr>
                      <m:e>
                        <m:r>
                          <a:rPr lang="en-IN" altLang="en-US" sz="1600" i="1">
                            <a:solidFill>
                              <a:schemeClr val="tx1">
                                <a:lumMod val="50000"/>
                              </a:schemeClr>
                            </a:solidFill>
                            <a:latin typeface="Cambria Math" panose="02040503050406030204" pitchFamily="18" charset="0"/>
                            <a:ea typeface="Cambria Math" panose="02040503050406030204" pitchFamily="18" charset="0"/>
                          </a:rPr>
                          <m:t>𝜋</m:t>
                        </m:r>
                      </m:e>
                      <m:sub>
                        <m:r>
                          <a:rPr lang="en-IN" altLang="en-US" sz="1600" i="1">
                            <a:solidFill>
                              <a:schemeClr val="tx1">
                                <a:lumMod val="50000"/>
                              </a:schemeClr>
                            </a:solidFill>
                            <a:latin typeface="Cambria Math" panose="02040503050406030204" pitchFamily="18" charset="0"/>
                          </a:rPr>
                          <m:t>𝑖</m:t>
                        </m:r>
                      </m:sub>
                    </m:sSub>
                    <m:sSub>
                      <m:sSubPr>
                        <m:ctrlPr>
                          <a:rPr lang="en-IN" altLang="en-US" sz="1600" i="1">
                            <a:solidFill>
                              <a:schemeClr val="tx1">
                                <a:lumMod val="50000"/>
                              </a:schemeClr>
                            </a:solidFill>
                            <a:latin typeface="Cambria Math" panose="02040503050406030204" pitchFamily="18" charset="0"/>
                          </a:rPr>
                        </m:ctrlPr>
                      </m:sSubPr>
                      <m:e>
                        <m:r>
                          <a:rPr lang="en-IN" altLang="en-US" sz="1600" i="1">
                            <a:solidFill>
                              <a:schemeClr val="tx1">
                                <a:lumMod val="50000"/>
                              </a:schemeClr>
                            </a:solidFill>
                            <a:latin typeface="Cambria Math" panose="02040503050406030204" pitchFamily="18" charset="0"/>
                            <a:ea typeface="Cambria Math" panose="02040503050406030204" pitchFamily="18" charset="0"/>
                          </a:rPr>
                          <m:t>𝛽</m:t>
                        </m:r>
                      </m:e>
                      <m:sub>
                        <m:r>
                          <a:rPr lang="en-IN" altLang="en-US" sz="1600" i="1">
                            <a:solidFill>
                              <a:schemeClr val="tx1">
                                <a:lumMod val="50000"/>
                              </a:schemeClr>
                            </a:solidFill>
                            <a:latin typeface="Cambria Math" panose="02040503050406030204" pitchFamily="18" charset="0"/>
                          </a:rPr>
                          <m:t>𝑖</m:t>
                        </m:r>
                      </m:sub>
                    </m:sSub>
                    <m:r>
                      <a:rPr lang="en-IN" altLang="en-US" sz="1600" i="1">
                        <a:solidFill>
                          <a:schemeClr val="tx1">
                            <a:lumMod val="50000"/>
                          </a:schemeClr>
                        </a:solidFill>
                        <a:latin typeface="Cambria Math" panose="02040503050406030204" pitchFamily="18" charset="0"/>
                      </a:rPr>
                      <m:t>+</m:t>
                    </m:r>
                    <m:sSub>
                      <m:sSubPr>
                        <m:ctrlPr>
                          <a:rPr lang="en-IN" altLang="en-US" sz="1600" i="1">
                            <a:solidFill>
                              <a:schemeClr val="tx1">
                                <a:lumMod val="50000"/>
                              </a:schemeClr>
                            </a:solidFill>
                            <a:latin typeface="Cambria Math" panose="02040503050406030204" pitchFamily="18" charset="0"/>
                          </a:rPr>
                        </m:ctrlPr>
                      </m:sSubPr>
                      <m:e>
                        <m:r>
                          <a:rPr lang="en-IN" altLang="en-US" sz="1600" i="1">
                            <a:solidFill>
                              <a:schemeClr val="tx1">
                                <a:lumMod val="50000"/>
                              </a:schemeClr>
                            </a:solidFill>
                            <a:latin typeface="Cambria Math" panose="02040503050406030204" pitchFamily="18" charset="0"/>
                            <a:ea typeface="Cambria Math" panose="02040503050406030204" pitchFamily="18" charset="0"/>
                          </a:rPr>
                          <m:t>𝜋</m:t>
                        </m:r>
                      </m:e>
                      <m:sub>
                        <m:r>
                          <a:rPr lang="en-IN" altLang="en-US" sz="1600" i="1">
                            <a:solidFill>
                              <a:schemeClr val="tx1">
                                <a:lumMod val="50000"/>
                              </a:schemeClr>
                            </a:solidFill>
                            <a:latin typeface="Cambria Math" panose="02040503050406030204" pitchFamily="18" charset="0"/>
                          </a:rPr>
                          <m:t>𝑖</m:t>
                        </m:r>
                      </m:sub>
                    </m:sSub>
                    <m:sSub>
                      <m:sSubPr>
                        <m:ctrlPr>
                          <a:rPr lang="en-IN" altLang="en-US" sz="1600" i="1">
                            <a:solidFill>
                              <a:schemeClr val="tx1">
                                <a:lumMod val="50000"/>
                              </a:schemeClr>
                            </a:solidFill>
                            <a:latin typeface="Cambria Math" panose="02040503050406030204" pitchFamily="18" charset="0"/>
                          </a:rPr>
                        </m:ctrlPr>
                      </m:sSubPr>
                      <m:e>
                        <m:r>
                          <a:rPr lang="en-IN" altLang="en-US" sz="1600" i="1">
                            <a:solidFill>
                              <a:schemeClr val="tx1">
                                <a:lumMod val="50000"/>
                              </a:schemeClr>
                            </a:solidFill>
                            <a:latin typeface="Cambria Math" panose="02040503050406030204" pitchFamily="18" charset="0"/>
                            <a:ea typeface="Cambria Math" panose="02040503050406030204" pitchFamily="18" charset="0"/>
                          </a:rPr>
                          <m:t>𝜀</m:t>
                        </m:r>
                      </m:e>
                      <m:sub>
                        <m:r>
                          <a:rPr lang="en-IN" altLang="en-US" sz="1600" i="1">
                            <a:solidFill>
                              <a:schemeClr val="tx1">
                                <a:lumMod val="50000"/>
                              </a:schemeClr>
                            </a:solidFill>
                            <a:latin typeface="Cambria Math" panose="02040503050406030204" pitchFamily="18" charset="0"/>
                          </a:rPr>
                          <m:t>𝑖</m:t>
                        </m:r>
                        <m:r>
                          <a:rPr lang="en-IN" altLang="en-US" sz="1600" i="1">
                            <a:solidFill>
                              <a:schemeClr val="tx1">
                                <a:lumMod val="50000"/>
                              </a:schemeClr>
                            </a:solidFill>
                            <a:latin typeface="Cambria Math" panose="02040503050406030204" pitchFamily="18" charset="0"/>
                          </a:rPr>
                          <m:t> </m:t>
                        </m:r>
                      </m:sub>
                    </m:sSub>
                  </m:oMath>
                </a14:m>
                <a:r>
                  <a:rPr lang="en-IN" altLang="en-US" sz="1600" i="1" dirty="0">
                    <a:solidFill>
                      <a:schemeClr val="tx1">
                        <a:lumMod val="50000"/>
                      </a:schemeClr>
                    </a:solidFill>
                    <a:latin typeface="Akatab" panose="020B0604020202020204" charset="0"/>
                    <a:ea typeface="Akatab" panose="020B0604020202020204" charset="0"/>
                    <a:cs typeface="Akatab" panose="020B0604020202020204" charset="0"/>
                  </a:rPr>
                  <a:t>, </a:t>
                </a:r>
                <a14:m>
                  <m:oMath xmlns:m="http://schemas.openxmlformats.org/officeDocument/2006/math">
                    <m:r>
                      <a:rPr lang="en-IN" altLang="en-US" sz="1600" i="1">
                        <a:solidFill>
                          <a:schemeClr val="tx1">
                            <a:lumMod val="50000"/>
                          </a:schemeClr>
                        </a:solidFill>
                        <a:latin typeface="Cambria Math" panose="02040503050406030204" pitchFamily="18" charset="0"/>
                      </a:rPr>
                      <m:t> </m:t>
                    </m:r>
                    <m:sSub>
                      <m:sSubPr>
                        <m:ctrlPr>
                          <a:rPr lang="en-IN" altLang="en-US" sz="1600" i="1">
                            <a:solidFill>
                              <a:schemeClr val="tx1">
                                <a:lumMod val="50000"/>
                              </a:schemeClr>
                            </a:solidFill>
                            <a:latin typeface="Cambria Math" panose="02040503050406030204" pitchFamily="18" charset="0"/>
                          </a:rPr>
                        </m:ctrlPr>
                      </m:sSubPr>
                      <m:e>
                        <m:r>
                          <a:rPr lang="en-IN" altLang="en-US" sz="1600" i="1">
                            <a:solidFill>
                              <a:schemeClr val="tx1">
                                <a:lumMod val="50000"/>
                              </a:schemeClr>
                            </a:solidFill>
                            <a:latin typeface="Cambria Math" panose="02040503050406030204" pitchFamily="18" charset="0"/>
                            <a:ea typeface="Cambria Math" panose="02040503050406030204" pitchFamily="18" charset="0"/>
                          </a:rPr>
                          <m:t>𝜀</m:t>
                        </m:r>
                      </m:e>
                      <m:sub>
                        <m:r>
                          <a:rPr lang="en-IN" altLang="en-US" sz="1600" i="1">
                            <a:solidFill>
                              <a:schemeClr val="tx1">
                                <a:lumMod val="50000"/>
                              </a:schemeClr>
                            </a:solidFill>
                            <a:latin typeface="Cambria Math" panose="02040503050406030204" pitchFamily="18" charset="0"/>
                          </a:rPr>
                          <m:t>𝑖</m:t>
                        </m:r>
                      </m:sub>
                    </m:sSub>
                    <m:r>
                      <a:rPr lang="en-IN" altLang="en-US" sz="1600" i="1">
                        <a:solidFill>
                          <a:schemeClr val="tx1">
                            <a:lumMod val="50000"/>
                          </a:schemeClr>
                        </a:solidFill>
                        <a:latin typeface="Cambria Math" panose="02040503050406030204" pitchFamily="18" charset="0"/>
                      </a:rPr>
                      <m:t> ~</m:t>
                    </m:r>
                    <m:r>
                      <a:rPr lang="en-IN" altLang="en-US" sz="1600" i="1">
                        <a:solidFill>
                          <a:schemeClr val="tx1">
                            <a:lumMod val="50000"/>
                          </a:schemeClr>
                        </a:solidFill>
                        <a:latin typeface="Cambria Math" panose="02040503050406030204" pitchFamily="18" charset="0"/>
                      </a:rPr>
                      <m:t>𝑁</m:t>
                    </m:r>
                    <m:d>
                      <m:dPr>
                        <m:ctrlPr>
                          <a:rPr lang="en-IN" altLang="en-US" sz="1600" i="1">
                            <a:solidFill>
                              <a:schemeClr val="tx1">
                                <a:lumMod val="50000"/>
                              </a:schemeClr>
                            </a:solidFill>
                            <a:latin typeface="Cambria Math" panose="02040503050406030204" pitchFamily="18" charset="0"/>
                          </a:rPr>
                        </m:ctrlPr>
                      </m:dPr>
                      <m:e>
                        <m:r>
                          <a:rPr lang="en-IN" altLang="en-US" sz="1600" i="1">
                            <a:solidFill>
                              <a:schemeClr val="tx1">
                                <a:lumMod val="50000"/>
                              </a:schemeClr>
                            </a:solidFill>
                            <a:latin typeface="Cambria Math" panose="02040503050406030204" pitchFamily="18" charset="0"/>
                          </a:rPr>
                          <m:t>0,1</m:t>
                        </m:r>
                      </m:e>
                    </m:d>
                  </m:oMath>
                </a14:m>
                <a:r>
                  <a:rPr lang="en-IN" altLang="en-US" sz="1600" i="1" dirty="0">
                    <a:solidFill>
                      <a:schemeClr val="tx1">
                        <a:lumMod val="50000"/>
                      </a:schemeClr>
                    </a:solidFill>
                    <a:latin typeface="Akatab" panose="020B0604020202020204" charset="0"/>
                    <a:ea typeface="Akatab" panose="020B0604020202020204" charset="0"/>
                    <a:cs typeface="Akatab" panose="020B0604020202020204" charset="0"/>
                  </a:rPr>
                  <a:t>, </a:t>
                </a:r>
                <a:r>
                  <a:rPr lang="en-IN" altLang="en-US" sz="1600" dirty="0">
                    <a:solidFill>
                      <a:schemeClr val="tx1">
                        <a:lumMod val="50000"/>
                      </a:schemeClr>
                    </a:solidFill>
                    <a:latin typeface="Akatab" panose="020B0604020202020204" charset="0"/>
                    <a:ea typeface="Akatab" panose="020B0604020202020204" charset="0"/>
                    <a:cs typeface="Akatab" panose="020B0604020202020204" charset="0"/>
                  </a:rPr>
                  <a:t>flat prior</a:t>
                </a:r>
                <a:r>
                  <a:rPr lang="en-IN" altLang="en-US" sz="1600" i="1" dirty="0">
                    <a:solidFill>
                      <a:schemeClr val="tx1">
                        <a:lumMod val="50000"/>
                      </a:schemeClr>
                    </a:solidFill>
                    <a:latin typeface="Akatab" panose="020B0604020202020204" charset="0"/>
                    <a:ea typeface="Akatab" panose="020B0604020202020204" charset="0"/>
                    <a:cs typeface="Akatab" panose="020B0604020202020204" charset="0"/>
                  </a:rPr>
                  <a:t> </a:t>
                </a:r>
                <a14:m>
                  <m:oMath xmlns:m="http://schemas.openxmlformats.org/officeDocument/2006/math">
                    <m:r>
                      <a:rPr lang="en-IN" altLang="en-US" sz="1600" i="1">
                        <a:solidFill>
                          <a:schemeClr val="tx1">
                            <a:lumMod val="50000"/>
                          </a:schemeClr>
                        </a:solidFill>
                        <a:latin typeface="Cambria Math" panose="02040503050406030204" pitchFamily="18" charset="0"/>
                      </a:rPr>
                      <m:t>𝑝</m:t>
                    </m:r>
                    <m:d>
                      <m:dPr>
                        <m:ctrlPr>
                          <a:rPr lang="en-IN" altLang="en-US" sz="1600" i="1">
                            <a:solidFill>
                              <a:schemeClr val="tx1">
                                <a:lumMod val="50000"/>
                              </a:schemeClr>
                            </a:solidFill>
                            <a:latin typeface="Cambria Math" panose="02040503050406030204" pitchFamily="18" charset="0"/>
                          </a:rPr>
                        </m:ctrlPr>
                      </m:dPr>
                      <m:e>
                        <m:r>
                          <a:rPr lang="en-IN" altLang="en-US" sz="1600" i="1">
                            <a:solidFill>
                              <a:schemeClr val="tx1">
                                <a:lumMod val="50000"/>
                              </a:schemeClr>
                            </a:solidFill>
                            <a:latin typeface="Cambria Math" panose="02040503050406030204" pitchFamily="18" charset="0"/>
                            <a:ea typeface="Cambria Math" panose="02040503050406030204" pitchFamily="18" charset="0"/>
                          </a:rPr>
                          <m:t>𝛽</m:t>
                        </m:r>
                      </m:e>
                    </m:d>
                    <m:r>
                      <a:rPr lang="en-IN" altLang="en-US" sz="1600" i="1">
                        <a:solidFill>
                          <a:schemeClr val="tx1">
                            <a:lumMod val="50000"/>
                          </a:schemeClr>
                        </a:solidFill>
                        <a:latin typeface="Cambria Math" panose="02040503050406030204" pitchFamily="18" charset="0"/>
                        <a:ea typeface="Cambria Math" panose="02040503050406030204" pitchFamily="18" charset="0"/>
                      </a:rPr>
                      <m:t>∝1</m:t>
                    </m:r>
                  </m:oMath>
                </a14:m>
                <a:endParaRPr lang="en-US" altLang="en-US" sz="1600" i="1" dirty="0">
                  <a:solidFill>
                    <a:schemeClr val="tx1">
                      <a:lumMod val="50000"/>
                    </a:schemeClr>
                  </a:solidFill>
                  <a:latin typeface="Akatab" panose="020B0604020202020204" charset="0"/>
                  <a:ea typeface="Akatab" panose="020B0604020202020204" charset="0"/>
                  <a:cs typeface="Akatab" panose="020B0604020202020204" charset="0"/>
                </a:endParaRPr>
              </a:p>
              <a:p>
                <a:pPr marL="285750" lvl="0" indent="-285750" eaLnBrk="0" fontAlgn="base" hangingPunct="0">
                  <a:spcBef>
                    <a:spcPct val="0"/>
                  </a:spcBef>
                  <a:spcAft>
                    <a:spcPct val="0"/>
                  </a:spcAft>
                  <a:buClrTx/>
                  <a:buSzTx/>
                  <a:buFont typeface="Arial" panose="020B0604020202020204" pitchFamily="34" charset="0"/>
                  <a:buChar char="•"/>
                </a:pPr>
                <a:r>
                  <a:rPr lang="en-US" altLang="en-US" sz="1600" dirty="0">
                    <a:solidFill>
                      <a:schemeClr val="tx1">
                        <a:lumMod val="50000"/>
                      </a:schemeClr>
                    </a:solidFill>
                    <a:latin typeface="Akatab" panose="020B0604020202020204" charset="0"/>
                    <a:ea typeface="Akatab" panose="020B0604020202020204" charset="0"/>
                    <a:cs typeface="Akatab" panose="020B0604020202020204" charset="0"/>
                  </a:rPr>
                  <a:t>Posterior mean of total:</a:t>
                </a:r>
                <a:endParaRPr lang="en-US" altLang="en-US" sz="1600" i="1" dirty="0">
                  <a:solidFill>
                    <a:schemeClr val="tx1">
                      <a:lumMod val="50000"/>
                    </a:schemeClr>
                  </a:solidFill>
                  <a:latin typeface="Akatab" panose="020B0604020202020204" charset="0"/>
                  <a:ea typeface="Akatab" panose="020B0604020202020204" charset="0"/>
                  <a:cs typeface="Akatab" panose="020B0604020202020204" charset="0"/>
                </a:endParaRPr>
              </a:p>
              <a:p>
                <a:pPr marL="0" lvl="0" indent="0" eaLnBrk="0" fontAlgn="base" hangingPunct="0">
                  <a:spcBef>
                    <a:spcPct val="0"/>
                  </a:spcBef>
                  <a:spcAft>
                    <a:spcPct val="0"/>
                  </a:spcAft>
                  <a:buClrTx/>
                  <a:buSzTx/>
                </a:pPr>
                <a14:m>
                  <m:oMathPara xmlns:m="http://schemas.openxmlformats.org/officeDocument/2006/math">
                    <m:oMathParaPr>
                      <m:jc m:val="centerGroup"/>
                    </m:oMathParaPr>
                    <m:oMath xmlns:m="http://schemas.openxmlformats.org/officeDocument/2006/math">
                      <m:r>
                        <a:rPr lang="en-US" altLang="en-US" sz="1600" i="1">
                          <a:solidFill>
                            <a:schemeClr val="tx1">
                              <a:lumMod val="50000"/>
                            </a:schemeClr>
                          </a:solidFill>
                          <a:latin typeface="Cambria Math" panose="02040503050406030204" pitchFamily="18" charset="0"/>
                          <a:ea typeface="Cambria Math" panose="02040503050406030204" pitchFamily="18" charset="0"/>
                        </a:rPr>
                        <m:t>𝔼</m:t>
                      </m:r>
                      <m:r>
                        <a:rPr lang="en-IN" altLang="en-US" sz="1600">
                          <a:solidFill>
                            <a:schemeClr val="tx1">
                              <a:lumMod val="50000"/>
                            </a:schemeClr>
                          </a:solidFill>
                          <a:latin typeface="Cambria Math" panose="02040503050406030204" pitchFamily="18" charset="0"/>
                          <a:ea typeface="Cambria Math" panose="02040503050406030204" pitchFamily="18" charset="0"/>
                        </a:rPr>
                        <m:t>[</m:t>
                      </m:r>
                      <m:nary>
                        <m:naryPr>
                          <m:chr m:val="∑"/>
                          <m:ctrlPr>
                            <a:rPr lang="en-IN" altLang="en-US" sz="1600" i="1">
                              <a:solidFill>
                                <a:schemeClr val="tx1">
                                  <a:lumMod val="50000"/>
                                </a:schemeClr>
                              </a:solidFill>
                              <a:latin typeface="Cambria Math" panose="02040503050406030204" pitchFamily="18" charset="0"/>
                              <a:ea typeface="Cambria Math" panose="02040503050406030204" pitchFamily="18" charset="0"/>
                            </a:rPr>
                          </m:ctrlPr>
                        </m:naryPr>
                        <m:sub>
                          <m:r>
                            <m:rPr>
                              <m:brk m:alnAt="23"/>
                            </m:rPr>
                            <a:rPr lang="en-IN" altLang="en-US" sz="1600" i="1">
                              <a:solidFill>
                                <a:schemeClr val="tx1">
                                  <a:lumMod val="50000"/>
                                </a:schemeClr>
                              </a:solidFill>
                              <a:latin typeface="Cambria Math" panose="02040503050406030204" pitchFamily="18" charset="0"/>
                              <a:ea typeface="Cambria Math" panose="02040503050406030204" pitchFamily="18" charset="0"/>
                            </a:rPr>
                            <m:t>𝑖</m:t>
                          </m:r>
                          <m:r>
                            <a:rPr lang="en-IN" altLang="en-US" sz="1600" i="1">
                              <a:solidFill>
                                <a:schemeClr val="tx1">
                                  <a:lumMod val="50000"/>
                                </a:schemeClr>
                              </a:solidFill>
                              <a:latin typeface="Cambria Math" panose="02040503050406030204" pitchFamily="18" charset="0"/>
                              <a:ea typeface="Cambria Math" panose="02040503050406030204" pitchFamily="18" charset="0"/>
                            </a:rPr>
                            <m:t>=1</m:t>
                          </m:r>
                        </m:sub>
                        <m:sup>
                          <m:r>
                            <a:rPr lang="en-IN" altLang="en-US" sz="1600" i="1">
                              <a:solidFill>
                                <a:schemeClr val="tx1">
                                  <a:lumMod val="50000"/>
                                </a:schemeClr>
                              </a:solidFill>
                              <a:latin typeface="Cambria Math" panose="02040503050406030204" pitchFamily="18" charset="0"/>
                              <a:ea typeface="Cambria Math" panose="02040503050406030204" pitchFamily="18" charset="0"/>
                            </a:rPr>
                            <m:t>𝑁</m:t>
                          </m:r>
                        </m:sup>
                        <m:e>
                          <m:sSub>
                            <m:sSubPr>
                              <m:ctrlPr>
                                <a:rPr lang="en-IN" altLang="en-US" sz="1600" i="1">
                                  <a:solidFill>
                                    <a:schemeClr val="tx1">
                                      <a:lumMod val="50000"/>
                                    </a:schemeClr>
                                  </a:solidFill>
                                  <a:latin typeface="Cambria Math" panose="02040503050406030204" pitchFamily="18" charset="0"/>
                                  <a:ea typeface="Cambria Math" panose="02040503050406030204" pitchFamily="18" charset="0"/>
                                </a:rPr>
                              </m:ctrlPr>
                            </m:sSubPr>
                            <m:e>
                              <m:r>
                                <a:rPr lang="en-IN" altLang="en-US" sz="1600" i="1">
                                  <a:solidFill>
                                    <a:schemeClr val="tx1">
                                      <a:lumMod val="50000"/>
                                    </a:schemeClr>
                                  </a:solidFill>
                                  <a:latin typeface="Cambria Math" panose="02040503050406030204" pitchFamily="18" charset="0"/>
                                  <a:ea typeface="Cambria Math" panose="02040503050406030204" pitchFamily="18" charset="0"/>
                                </a:rPr>
                                <m:t>𝑌</m:t>
                              </m:r>
                            </m:e>
                            <m:sub>
                              <m:r>
                                <a:rPr lang="en-IN" altLang="en-US" sz="1600" i="1">
                                  <a:solidFill>
                                    <a:schemeClr val="tx1">
                                      <a:lumMod val="50000"/>
                                    </a:schemeClr>
                                  </a:solidFill>
                                  <a:latin typeface="Cambria Math" panose="02040503050406030204" pitchFamily="18" charset="0"/>
                                  <a:ea typeface="Cambria Math" panose="02040503050406030204" pitchFamily="18" charset="0"/>
                                </a:rPr>
                                <m:t>𝑖</m:t>
                              </m:r>
                            </m:sub>
                          </m:sSub>
                        </m:e>
                      </m:nary>
                      <m:r>
                        <a:rPr lang="en-IN" altLang="en-US" sz="1600" i="1">
                          <a:solidFill>
                            <a:schemeClr val="tx1">
                              <a:lumMod val="50000"/>
                            </a:schemeClr>
                          </a:solidFill>
                          <a:latin typeface="Cambria Math" panose="02040503050406030204" pitchFamily="18" charset="0"/>
                          <a:ea typeface="Cambria Math" panose="02040503050406030204" pitchFamily="18" charset="0"/>
                        </a:rPr>
                        <m:t>|</m:t>
                      </m:r>
                      <m:r>
                        <a:rPr lang="en-IN" altLang="en-US" sz="1600" i="1">
                          <a:solidFill>
                            <a:schemeClr val="tx1">
                              <a:lumMod val="50000"/>
                            </a:schemeClr>
                          </a:solidFill>
                          <a:latin typeface="Cambria Math" panose="02040503050406030204" pitchFamily="18" charset="0"/>
                          <a:ea typeface="Cambria Math" panose="02040503050406030204" pitchFamily="18" charset="0"/>
                        </a:rPr>
                        <m:t>𝑦</m:t>
                      </m:r>
                      <m:r>
                        <a:rPr lang="en-IN" altLang="en-US" sz="1600" i="1">
                          <a:solidFill>
                            <a:schemeClr val="tx1">
                              <a:lumMod val="50000"/>
                            </a:schemeClr>
                          </a:solidFill>
                          <a:latin typeface="Cambria Math" panose="02040503050406030204" pitchFamily="18" charset="0"/>
                          <a:ea typeface="Cambria Math" panose="02040503050406030204" pitchFamily="18" charset="0"/>
                        </a:rPr>
                        <m:t>]</m:t>
                      </m:r>
                      <m:r>
                        <a:rPr lang="en-IN" altLang="en-US" sz="1600">
                          <a:solidFill>
                            <a:schemeClr val="tx1">
                              <a:lumMod val="50000"/>
                            </a:schemeClr>
                          </a:solidFill>
                          <a:latin typeface="Cambria Math" panose="02040503050406030204" pitchFamily="18" charset="0"/>
                          <a:ea typeface="Cambria Math" panose="02040503050406030204" pitchFamily="18" charset="0"/>
                        </a:rPr>
                        <m:t>=</m:t>
                      </m:r>
                      <m:nary>
                        <m:naryPr>
                          <m:chr m:val="∑"/>
                          <m:ctrlPr>
                            <a:rPr lang="en-IN" altLang="en-US" sz="1600" i="1">
                              <a:solidFill>
                                <a:schemeClr val="tx1">
                                  <a:lumMod val="50000"/>
                                </a:schemeClr>
                              </a:solidFill>
                              <a:latin typeface="Cambria Math" panose="02040503050406030204" pitchFamily="18" charset="0"/>
                              <a:ea typeface="Cambria Math" panose="02040503050406030204" pitchFamily="18" charset="0"/>
                            </a:rPr>
                          </m:ctrlPr>
                        </m:naryPr>
                        <m:sub>
                          <m:r>
                            <m:rPr>
                              <m:brk m:alnAt="23"/>
                            </m:rPr>
                            <a:rPr lang="en-IN" altLang="en-US" sz="1600" i="1">
                              <a:solidFill>
                                <a:schemeClr val="tx1">
                                  <a:lumMod val="50000"/>
                                </a:schemeClr>
                              </a:solidFill>
                              <a:latin typeface="Cambria Math" panose="02040503050406030204" pitchFamily="18" charset="0"/>
                              <a:ea typeface="Cambria Math" panose="02040503050406030204" pitchFamily="18" charset="0"/>
                            </a:rPr>
                            <m:t>𝑖</m:t>
                          </m:r>
                          <m:r>
                            <a:rPr lang="en-IN" altLang="en-US" sz="1600" i="1">
                              <a:solidFill>
                                <a:schemeClr val="tx1">
                                  <a:lumMod val="50000"/>
                                </a:schemeClr>
                              </a:solidFill>
                              <a:latin typeface="Cambria Math" panose="02040503050406030204" pitchFamily="18" charset="0"/>
                              <a:ea typeface="Cambria Math" panose="02040503050406030204" pitchFamily="18" charset="0"/>
                            </a:rPr>
                            <m:t>=1</m:t>
                          </m:r>
                        </m:sub>
                        <m:sup>
                          <m:r>
                            <a:rPr lang="en-IN" altLang="en-US" sz="1600" i="1">
                              <a:solidFill>
                                <a:schemeClr val="tx1">
                                  <a:lumMod val="50000"/>
                                </a:schemeClr>
                              </a:solidFill>
                              <a:latin typeface="Cambria Math" panose="02040503050406030204" pitchFamily="18" charset="0"/>
                              <a:ea typeface="Cambria Math" panose="02040503050406030204" pitchFamily="18" charset="0"/>
                            </a:rPr>
                            <m:t>𝑛</m:t>
                          </m:r>
                        </m:sup>
                        <m:e>
                          <m:sSub>
                            <m:sSubPr>
                              <m:ctrlPr>
                                <a:rPr lang="en-IN" altLang="en-US" sz="1600" i="1">
                                  <a:solidFill>
                                    <a:schemeClr val="tx1">
                                      <a:lumMod val="50000"/>
                                    </a:schemeClr>
                                  </a:solidFill>
                                  <a:latin typeface="Cambria Math" panose="02040503050406030204" pitchFamily="18" charset="0"/>
                                  <a:ea typeface="Cambria Math" panose="02040503050406030204" pitchFamily="18" charset="0"/>
                                </a:rPr>
                              </m:ctrlPr>
                            </m:sSubPr>
                            <m:e>
                              <m:r>
                                <a:rPr lang="en-IN" altLang="en-US" sz="1600" i="1">
                                  <a:solidFill>
                                    <a:schemeClr val="tx1">
                                      <a:lumMod val="50000"/>
                                    </a:schemeClr>
                                  </a:solidFill>
                                  <a:latin typeface="Cambria Math" panose="02040503050406030204" pitchFamily="18" charset="0"/>
                                  <a:ea typeface="Cambria Math" panose="02040503050406030204" pitchFamily="18" charset="0"/>
                                </a:rPr>
                                <m:t>𝑦</m:t>
                              </m:r>
                            </m:e>
                            <m:sub>
                              <m:r>
                                <a:rPr lang="en-IN" altLang="en-US" sz="1600" i="1">
                                  <a:solidFill>
                                    <a:schemeClr val="tx1">
                                      <a:lumMod val="50000"/>
                                    </a:schemeClr>
                                  </a:solidFill>
                                  <a:latin typeface="Cambria Math" panose="02040503050406030204" pitchFamily="18" charset="0"/>
                                  <a:ea typeface="Cambria Math" panose="02040503050406030204" pitchFamily="18" charset="0"/>
                                </a:rPr>
                                <m:t>𝑖</m:t>
                              </m:r>
                            </m:sub>
                          </m:sSub>
                        </m:e>
                      </m:nary>
                      <m:r>
                        <a:rPr lang="en-IN" altLang="en-US" sz="1600" i="1">
                          <a:solidFill>
                            <a:schemeClr val="tx1">
                              <a:lumMod val="50000"/>
                            </a:schemeClr>
                          </a:solidFill>
                          <a:latin typeface="Cambria Math" panose="02040503050406030204" pitchFamily="18" charset="0"/>
                          <a:ea typeface="Cambria Math" panose="02040503050406030204" pitchFamily="18" charset="0"/>
                        </a:rPr>
                        <m:t>+</m:t>
                      </m:r>
                      <m:nary>
                        <m:naryPr>
                          <m:chr m:val="∑"/>
                          <m:ctrlPr>
                            <a:rPr lang="en-IN" altLang="en-US" sz="1600" i="1">
                              <a:solidFill>
                                <a:schemeClr val="tx1">
                                  <a:lumMod val="50000"/>
                                </a:schemeClr>
                              </a:solidFill>
                              <a:latin typeface="Cambria Math" panose="02040503050406030204" pitchFamily="18" charset="0"/>
                              <a:ea typeface="Cambria Math" panose="02040503050406030204" pitchFamily="18" charset="0"/>
                            </a:rPr>
                          </m:ctrlPr>
                        </m:naryPr>
                        <m:sub>
                          <m:r>
                            <m:rPr>
                              <m:brk m:alnAt="23"/>
                            </m:rPr>
                            <a:rPr lang="en-IN" altLang="en-US" sz="1600" i="1">
                              <a:solidFill>
                                <a:schemeClr val="tx1">
                                  <a:lumMod val="50000"/>
                                </a:schemeClr>
                              </a:solidFill>
                              <a:latin typeface="Cambria Math" panose="02040503050406030204" pitchFamily="18" charset="0"/>
                              <a:ea typeface="Cambria Math" panose="02040503050406030204" pitchFamily="18" charset="0"/>
                            </a:rPr>
                            <m:t>𝑖</m:t>
                          </m:r>
                          <m:r>
                            <a:rPr lang="en-IN" altLang="en-US" sz="1600" i="1">
                              <a:solidFill>
                                <a:schemeClr val="tx1">
                                  <a:lumMod val="50000"/>
                                </a:schemeClr>
                              </a:solidFill>
                              <a:latin typeface="Cambria Math" panose="02040503050406030204" pitchFamily="18" charset="0"/>
                              <a:ea typeface="Cambria Math" panose="02040503050406030204" pitchFamily="18" charset="0"/>
                            </a:rPr>
                            <m:t>=</m:t>
                          </m:r>
                          <m:r>
                            <a:rPr lang="en-IN" altLang="en-US" sz="1600" i="1">
                              <a:solidFill>
                                <a:schemeClr val="tx1">
                                  <a:lumMod val="50000"/>
                                </a:schemeClr>
                              </a:solidFill>
                              <a:latin typeface="Cambria Math" panose="02040503050406030204" pitchFamily="18" charset="0"/>
                              <a:ea typeface="Cambria Math" panose="02040503050406030204" pitchFamily="18" charset="0"/>
                            </a:rPr>
                            <m:t>𝑛</m:t>
                          </m:r>
                          <m:r>
                            <a:rPr lang="en-IN" altLang="en-US" sz="1600" i="1">
                              <a:solidFill>
                                <a:schemeClr val="tx1">
                                  <a:lumMod val="50000"/>
                                </a:schemeClr>
                              </a:solidFill>
                              <a:latin typeface="Cambria Math" panose="02040503050406030204" pitchFamily="18" charset="0"/>
                              <a:ea typeface="Cambria Math" panose="02040503050406030204" pitchFamily="18" charset="0"/>
                            </a:rPr>
                            <m:t>+1</m:t>
                          </m:r>
                        </m:sub>
                        <m:sup>
                          <m:r>
                            <a:rPr lang="en-IN" altLang="en-US" sz="1600" i="1">
                              <a:solidFill>
                                <a:schemeClr val="tx1">
                                  <a:lumMod val="50000"/>
                                </a:schemeClr>
                              </a:solidFill>
                              <a:latin typeface="Cambria Math" panose="02040503050406030204" pitchFamily="18" charset="0"/>
                              <a:ea typeface="Cambria Math" panose="02040503050406030204" pitchFamily="18" charset="0"/>
                            </a:rPr>
                            <m:t>𝑁</m:t>
                          </m:r>
                        </m:sup>
                        <m:e>
                          <m:r>
                            <a:rPr lang="en-US" altLang="en-US" sz="1600" i="1">
                              <a:solidFill>
                                <a:schemeClr val="tx1">
                                  <a:lumMod val="50000"/>
                                </a:schemeClr>
                              </a:solidFill>
                              <a:latin typeface="Cambria Math" panose="02040503050406030204" pitchFamily="18" charset="0"/>
                              <a:ea typeface="Cambria Math" panose="02040503050406030204" pitchFamily="18" charset="0"/>
                            </a:rPr>
                            <m:t>𝔼</m:t>
                          </m:r>
                          <m:r>
                            <a:rPr lang="en-IN" altLang="en-US" sz="1600" i="1">
                              <a:solidFill>
                                <a:schemeClr val="tx1">
                                  <a:lumMod val="50000"/>
                                </a:schemeClr>
                              </a:solidFill>
                              <a:latin typeface="Cambria Math" panose="02040503050406030204" pitchFamily="18" charset="0"/>
                              <a:ea typeface="Cambria Math" panose="02040503050406030204" pitchFamily="18" charset="0"/>
                            </a:rPr>
                            <m:t>[</m:t>
                          </m:r>
                        </m:e>
                      </m:nary>
                      <m:sSub>
                        <m:sSubPr>
                          <m:ctrlPr>
                            <a:rPr lang="en-IN" altLang="en-US" sz="1600" i="1">
                              <a:solidFill>
                                <a:schemeClr val="tx1">
                                  <a:lumMod val="50000"/>
                                </a:schemeClr>
                              </a:solidFill>
                              <a:latin typeface="Cambria Math" panose="02040503050406030204" pitchFamily="18" charset="0"/>
                              <a:ea typeface="Cambria Math" panose="02040503050406030204" pitchFamily="18" charset="0"/>
                            </a:rPr>
                          </m:ctrlPr>
                        </m:sSubPr>
                        <m:e>
                          <m:r>
                            <a:rPr lang="en-IN" altLang="en-US" sz="1600" i="1">
                              <a:solidFill>
                                <a:schemeClr val="tx1">
                                  <a:lumMod val="50000"/>
                                </a:schemeClr>
                              </a:solidFill>
                              <a:latin typeface="Cambria Math" panose="02040503050406030204" pitchFamily="18" charset="0"/>
                              <a:ea typeface="Cambria Math" panose="02040503050406030204" pitchFamily="18" charset="0"/>
                            </a:rPr>
                            <m:t>𝑌</m:t>
                          </m:r>
                        </m:e>
                        <m:sub>
                          <m:r>
                            <a:rPr lang="en-IN" altLang="en-US" sz="1600" i="1">
                              <a:solidFill>
                                <a:schemeClr val="tx1">
                                  <a:lumMod val="50000"/>
                                </a:schemeClr>
                              </a:solidFill>
                              <a:latin typeface="Cambria Math" panose="02040503050406030204" pitchFamily="18" charset="0"/>
                              <a:ea typeface="Cambria Math" panose="02040503050406030204" pitchFamily="18" charset="0"/>
                            </a:rPr>
                            <m:t>𝑖</m:t>
                          </m:r>
                        </m:sub>
                      </m:sSub>
                      <m:r>
                        <a:rPr lang="en-IN" altLang="en-US" sz="1600" i="1">
                          <a:solidFill>
                            <a:schemeClr val="tx1">
                              <a:lumMod val="50000"/>
                            </a:schemeClr>
                          </a:solidFill>
                          <a:latin typeface="Cambria Math" panose="02040503050406030204" pitchFamily="18" charset="0"/>
                          <a:ea typeface="Cambria Math" panose="02040503050406030204" pitchFamily="18" charset="0"/>
                        </a:rPr>
                        <m:t>|</m:t>
                      </m:r>
                      <m:r>
                        <a:rPr lang="en-IN" altLang="en-US" sz="1600" i="1">
                          <a:solidFill>
                            <a:schemeClr val="tx1">
                              <a:lumMod val="50000"/>
                            </a:schemeClr>
                          </a:solidFill>
                          <a:latin typeface="Cambria Math" panose="02040503050406030204" pitchFamily="18" charset="0"/>
                          <a:ea typeface="Cambria Math" panose="02040503050406030204" pitchFamily="18" charset="0"/>
                        </a:rPr>
                        <m:t>𝑦</m:t>
                      </m:r>
                      <m:r>
                        <a:rPr lang="en-IN" altLang="en-US" sz="1600" i="1">
                          <a:solidFill>
                            <a:schemeClr val="tx1">
                              <a:lumMod val="50000"/>
                            </a:schemeClr>
                          </a:solidFill>
                          <a:latin typeface="Cambria Math" panose="02040503050406030204" pitchFamily="18" charset="0"/>
                          <a:ea typeface="Cambria Math" panose="02040503050406030204" pitchFamily="18" charset="0"/>
                        </a:rPr>
                        <m:t>]</m:t>
                      </m:r>
                    </m:oMath>
                  </m:oMathPara>
                </a14:m>
                <a:endParaRPr lang="en-US" altLang="en-US" sz="1600" dirty="0">
                  <a:solidFill>
                    <a:schemeClr val="tx1">
                      <a:lumMod val="50000"/>
                    </a:schemeClr>
                  </a:solidFill>
                  <a:latin typeface="Akatab" panose="020B0604020202020204" charset="0"/>
                  <a:ea typeface="Akatab" panose="020B0604020202020204" charset="0"/>
                  <a:cs typeface="Akatab" panose="020B0604020202020204" charset="0"/>
                </a:endParaRPr>
              </a:p>
              <a:p>
                <a:pPr marL="0" lvl="0" indent="0" eaLnBrk="0" fontAlgn="base" hangingPunct="0">
                  <a:spcBef>
                    <a:spcPct val="0"/>
                  </a:spcBef>
                  <a:spcAft>
                    <a:spcPct val="0"/>
                  </a:spcAft>
                  <a:buClrTx/>
                  <a:buSzTx/>
                </a:pPr>
                <a14:m>
                  <m:oMathPara xmlns:m="http://schemas.openxmlformats.org/officeDocument/2006/math">
                    <m:oMathParaPr>
                      <m:jc m:val="centerGroup"/>
                    </m:oMathParaPr>
                    <m:oMath xmlns:m="http://schemas.openxmlformats.org/officeDocument/2006/math">
                      <m:r>
                        <a:rPr lang="en-IN" altLang="en-US" sz="1600" i="1">
                          <a:solidFill>
                            <a:schemeClr val="tx1">
                              <a:lumMod val="50000"/>
                            </a:schemeClr>
                          </a:solidFill>
                          <a:latin typeface="Cambria Math" panose="02040503050406030204" pitchFamily="18" charset="0"/>
                        </a:rPr>
                        <m:t>=</m:t>
                      </m:r>
                      <m:nary>
                        <m:naryPr>
                          <m:chr m:val="∑"/>
                          <m:ctrlPr>
                            <a:rPr lang="en-IN" altLang="en-US" sz="1600" i="1">
                              <a:solidFill>
                                <a:schemeClr val="tx1">
                                  <a:lumMod val="50000"/>
                                </a:schemeClr>
                              </a:solidFill>
                              <a:latin typeface="Cambria Math" panose="02040503050406030204" pitchFamily="18" charset="0"/>
                            </a:rPr>
                          </m:ctrlPr>
                        </m:naryPr>
                        <m:sub>
                          <m:r>
                            <m:rPr>
                              <m:brk m:alnAt="23"/>
                            </m:rPr>
                            <a:rPr lang="en-IN" altLang="en-US" sz="1600" i="1">
                              <a:solidFill>
                                <a:schemeClr val="tx1">
                                  <a:lumMod val="50000"/>
                                </a:schemeClr>
                              </a:solidFill>
                              <a:latin typeface="Cambria Math" panose="02040503050406030204" pitchFamily="18" charset="0"/>
                            </a:rPr>
                            <m:t>𝑖</m:t>
                          </m:r>
                          <m:r>
                            <a:rPr lang="en-IN" altLang="en-US" sz="1600" i="1">
                              <a:solidFill>
                                <a:schemeClr val="tx1">
                                  <a:lumMod val="50000"/>
                                </a:schemeClr>
                              </a:solidFill>
                              <a:latin typeface="Cambria Math" panose="02040503050406030204" pitchFamily="18" charset="0"/>
                            </a:rPr>
                            <m:t>=1</m:t>
                          </m:r>
                        </m:sub>
                        <m:sup>
                          <m:r>
                            <a:rPr lang="en-IN" altLang="en-US" sz="1600" i="1">
                              <a:solidFill>
                                <a:schemeClr val="tx1">
                                  <a:lumMod val="50000"/>
                                </a:schemeClr>
                              </a:solidFill>
                              <a:latin typeface="Cambria Math" panose="02040503050406030204" pitchFamily="18" charset="0"/>
                            </a:rPr>
                            <m:t>𝑛</m:t>
                          </m:r>
                        </m:sup>
                        <m:e>
                          <m:d>
                            <m:dPr>
                              <m:ctrlPr>
                                <a:rPr lang="en-IN" altLang="en-US" sz="1600" i="1">
                                  <a:solidFill>
                                    <a:schemeClr val="tx1">
                                      <a:lumMod val="50000"/>
                                    </a:schemeClr>
                                  </a:solidFill>
                                  <a:latin typeface="Cambria Math" panose="02040503050406030204" pitchFamily="18" charset="0"/>
                                </a:rPr>
                              </m:ctrlPr>
                            </m:dPr>
                            <m:e>
                              <m:f>
                                <m:fPr>
                                  <m:type m:val="lin"/>
                                  <m:ctrlPr>
                                    <a:rPr lang="en-IN" altLang="en-US" sz="1600" i="1">
                                      <a:solidFill>
                                        <a:schemeClr val="tx1">
                                          <a:lumMod val="50000"/>
                                        </a:schemeClr>
                                      </a:solidFill>
                                      <a:latin typeface="Cambria Math" panose="02040503050406030204" pitchFamily="18" charset="0"/>
                                    </a:rPr>
                                  </m:ctrlPr>
                                </m:fPr>
                                <m:num>
                                  <m:sSub>
                                    <m:sSubPr>
                                      <m:ctrlPr>
                                        <a:rPr lang="en-IN" altLang="en-US" sz="1600" i="1">
                                          <a:solidFill>
                                            <a:schemeClr val="tx1">
                                              <a:lumMod val="50000"/>
                                            </a:schemeClr>
                                          </a:solidFill>
                                          <a:latin typeface="Cambria Math" panose="02040503050406030204" pitchFamily="18" charset="0"/>
                                        </a:rPr>
                                      </m:ctrlPr>
                                    </m:sSubPr>
                                    <m:e>
                                      <m:r>
                                        <a:rPr lang="en-IN" altLang="en-US" sz="1600" i="1">
                                          <a:solidFill>
                                            <a:schemeClr val="tx1">
                                              <a:lumMod val="50000"/>
                                            </a:schemeClr>
                                          </a:solidFill>
                                          <a:latin typeface="Cambria Math" panose="02040503050406030204" pitchFamily="18" charset="0"/>
                                        </a:rPr>
                                        <m:t>𝑦</m:t>
                                      </m:r>
                                    </m:e>
                                    <m:sub>
                                      <m:r>
                                        <a:rPr lang="en-IN" altLang="en-US" sz="1600" i="1">
                                          <a:solidFill>
                                            <a:schemeClr val="tx1">
                                              <a:lumMod val="50000"/>
                                            </a:schemeClr>
                                          </a:solidFill>
                                          <a:latin typeface="Cambria Math" panose="02040503050406030204" pitchFamily="18" charset="0"/>
                                        </a:rPr>
                                        <m:t>𝑖</m:t>
                                      </m:r>
                                    </m:sub>
                                  </m:sSub>
                                </m:num>
                                <m:den>
                                  <m:sSub>
                                    <m:sSubPr>
                                      <m:ctrlPr>
                                        <a:rPr lang="en-IN" altLang="en-US" sz="1600" i="1">
                                          <a:solidFill>
                                            <a:schemeClr val="tx1">
                                              <a:lumMod val="50000"/>
                                            </a:schemeClr>
                                          </a:solidFill>
                                          <a:latin typeface="Cambria Math" panose="02040503050406030204" pitchFamily="18" charset="0"/>
                                        </a:rPr>
                                      </m:ctrlPr>
                                    </m:sSubPr>
                                    <m:e>
                                      <m:r>
                                        <a:rPr lang="en-IN" altLang="en-US" sz="1600" i="1">
                                          <a:solidFill>
                                            <a:schemeClr val="tx1">
                                              <a:lumMod val="50000"/>
                                            </a:schemeClr>
                                          </a:solidFill>
                                          <a:latin typeface="Cambria Math" panose="02040503050406030204" pitchFamily="18" charset="0"/>
                                          <a:ea typeface="Cambria Math" panose="02040503050406030204" pitchFamily="18" charset="0"/>
                                        </a:rPr>
                                        <m:t>𝜋</m:t>
                                      </m:r>
                                    </m:e>
                                    <m:sub>
                                      <m:r>
                                        <a:rPr lang="en-IN" altLang="en-US" sz="1600" i="1">
                                          <a:solidFill>
                                            <a:schemeClr val="tx1">
                                              <a:lumMod val="50000"/>
                                            </a:schemeClr>
                                          </a:solidFill>
                                          <a:latin typeface="Cambria Math" panose="02040503050406030204" pitchFamily="18" charset="0"/>
                                        </a:rPr>
                                        <m:t>𝑖</m:t>
                                      </m:r>
                                    </m:sub>
                                  </m:sSub>
                                </m:den>
                              </m:f>
                            </m:e>
                          </m:d>
                          <m:r>
                            <a:rPr lang="en-IN" altLang="en-US" sz="1600" i="1">
                              <a:solidFill>
                                <a:schemeClr val="tx1">
                                  <a:lumMod val="50000"/>
                                </a:schemeClr>
                              </a:solidFill>
                              <a:latin typeface="Cambria Math" panose="02040503050406030204" pitchFamily="18" charset="0"/>
                            </a:rPr>
                            <m:t>+</m:t>
                          </m:r>
                          <m:nary>
                            <m:naryPr>
                              <m:chr m:val="∑"/>
                              <m:ctrlPr>
                                <a:rPr lang="en-IN" altLang="en-US" sz="1600" i="1">
                                  <a:solidFill>
                                    <a:schemeClr val="tx1">
                                      <a:lumMod val="50000"/>
                                    </a:schemeClr>
                                  </a:solidFill>
                                  <a:latin typeface="Cambria Math" panose="02040503050406030204" pitchFamily="18" charset="0"/>
                                </a:rPr>
                              </m:ctrlPr>
                            </m:naryPr>
                            <m:sub>
                              <m:r>
                                <m:rPr>
                                  <m:brk m:alnAt="23"/>
                                </m:rPr>
                                <a:rPr lang="en-IN" altLang="en-US" sz="1600" i="1">
                                  <a:solidFill>
                                    <a:schemeClr val="tx1">
                                      <a:lumMod val="50000"/>
                                    </a:schemeClr>
                                  </a:solidFill>
                                  <a:latin typeface="Cambria Math" panose="02040503050406030204" pitchFamily="18" charset="0"/>
                                </a:rPr>
                                <m:t>𝑖</m:t>
                              </m:r>
                              <m:r>
                                <a:rPr lang="en-IN" altLang="en-US" sz="1600" i="1">
                                  <a:solidFill>
                                    <a:schemeClr val="tx1">
                                      <a:lumMod val="50000"/>
                                    </a:schemeClr>
                                  </a:solidFill>
                                  <a:latin typeface="Cambria Math" panose="02040503050406030204" pitchFamily="18" charset="0"/>
                                </a:rPr>
                                <m:t>=1</m:t>
                              </m:r>
                            </m:sub>
                            <m:sup>
                              <m:r>
                                <a:rPr lang="en-IN" altLang="en-US" sz="1600" i="1">
                                  <a:solidFill>
                                    <a:schemeClr val="tx1">
                                      <a:lumMod val="50000"/>
                                    </a:schemeClr>
                                  </a:solidFill>
                                  <a:latin typeface="Cambria Math" panose="02040503050406030204" pitchFamily="18" charset="0"/>
                                </a:rPr>
                                <m:t>𝑛</m:t>
                              </m:r>
                            </m:sup>
                            <m:e>
                              <m:r>
                                <a:rPr lang="en-IN" altLang="en-US" sz="1600" i="1">
                                  <a:solidFill>
                                    <a:schemeClr val="tx1">
                                      <a:lumMod val="50000"/>
                                    </a:schemeClr>
                                  </a:solidFill>
                                  <a:latin typeface="Cambria Math" panose="02040503050406030204" pitchFamily="18" charset="0"/>
                                </a:rPr>
                                <m:t>(</m:t>
                              </m:r>
                              <m:sSub>
                                <m:sSubPr>
                                  <m:ctrlPr>
                                    <a:rPr lang="en-IN" altLang="en-US" sz="1600" i="1">
                                      <a:solidFill>
                                        <a:schemeClr val="tx1">
                                          <a:lumMod val="50000"/>
                                        </a:schemeClr>
                                      </a:solidFill>
                                      <a:latin typeface="Cambria Math" panose="02040503050406030204" pitchFamily="18" charset="0"/>
                                    </a:rPr>
                                  </m:ctrlPr>
                                </m:sSubPr>
                                <m:e>
                                  <m:r>
                                    <a:rPr lang="en-IN" altLang="en-US" sz="1600" i="1">
                                      <a:solidFill>
                                        <a:schemeClr val="tx1">
                                          <a:lumMod val="50000"/>
                                        </a:schemeClr>
                                      </a:solidFill>
                                      <a:latin typeface="Cambria Math" panose="02040503050406030204" pitchFamily="18" charset="0"/>
                                    </a:rPr>
                                    <m:t>𝑦</m:t>
                                  </m:r>
                                </m:e>
                                <m:sub>
                                  <m:r>
                                    <a:rPr lang="en-IN" altLang="en-US" sz="1600" i="1">
                                      <a:solidFill>
                                        <a:schemeClr val="tx1">
                                          <a:lumMod val="50000"/>
                                        </a:schemeClr>
                                      </a:solidFill>
                                      <a:latin typeface="Cambria Math" panose="02040503050406030204" pitchFamily="18" charset="0"/>
                                    </a:rPr>
                                    <m:t>𝑖</m:t>
                                  </m:r>
                                </m:sub>
                              </m:sSub>
                              <m:r>
                                <a:rPr lang="en-IN" altLang="en-US" sz="1600" i="1">
                                  <a:solidFill>
                                    <a:schemeClr val="tx1">
                                      <a:lumMod val="50000"/>
                                    </a:schemeClr>
                                  </a:solidFill>
                                  <a:latin typeface="Cambria Math" panose="02040503050406030204" pitchFamily="18" charset="0"/>
                                </a:rPr>
                                <m:t>−</m:t>
                              </m:r>
                              <m:sSub>
                                <m:sSubPr>
                                  <m:ctrlPr>
                                    <a:rPr lang="en-IN" altLang="en-US" sz="1600" i="1">
                                      <a:solidFill>
                                        <a:schemeClr val="tx1">
                                          <a:lumMod val="50000"/>
                                        </a:schemeClr>
                                      </a:solidFill>
                                      <a:latin typeface="Cambria Math" panose="02040503050406030204" pitchFamily="18" charset="0"/>
                                    </a:rPr>
                                  </m:ctrlPr>
                                </m:sSubPr>
                                <m:e>
                                  <m:acc>
                                    <m:accPr>
                                      <m:chr m:val="̂"/>
                                      <m:ctrlPr>
                                        <a:rPr lang="en-IN" altLang="en-US" sz="1600" i="1">
                                          <a:solidFill>
                                            <a:schemeClr val="tx1">
                                              <a:lumMod val="50000"/>
                                            </a:schemeClr>
                                          </a:solidFill>
                                          <a:latin typeface="Cambria Math" panose="02040503050406030204" pitchFamily="18" charset="0"/>
                                        </a:rPr>
                                      </m:ctrlPr>
                                    </m:accPr>
                                    <m:e>
                                      <m:r>
                                        <a:rPr lang="en-IN" altLang="en-US" sz="1600" i="1">
                                          <a:solidFill>
                                            <a:schemeClr val="tx1">
                                              <a:lumMod val="50000"/>
                                            </a:schemeClr>
                                          </a:solidFill>
                                          <a:latin typeface="Cambria Math" panose="02040503050406030204" pitchFamily="18" charset="0"/>
                                        </a:rPr>
                                        <m:t>𝑦</m:t>
                                      </m:r>
                                    </m:e>
                                  </m:acc>
                                </m:e>
                                <m:sub>
                                  <m:r>
                                    <a:rPr lang="en-IN" altLang="en-US" sz="1600" i="1">
                                      <a:solidFill>
                                        <a:schemeClr val="tx1">
                                          <a:lumMod val="50000"/>
                                        </a:schemeClr>
                                      </a:solidFill>
                                      <a:latin typeface="Cambria Math" panose="02040503050406030204" pitchFamily="18" charset="0"/>
                                    </a:rPr>
                                    <m:t>𝑖</m:t>
                                  </m:r>
                                </m:sub>
                              </m:sSub>
                              <m:r>
                                <a:rPr lang="en-IN" altLang="en-US" sz="1600" i="1">
                                  <a:solidFill>
                                    <a:schemeClr val="tx1">
                                      <a:lumMod val="50000"/>
                                    </a:schemeClr>
                                  </a:solidFill>
                                  <a:latin typeface="Cambria Math" panose="02040503050406030204" pitchFamily="18" charset="0"/>
                                </a:rPr>
                                <m:t>)</m:t>
                              </m:r>
                            </m:e>
                          </m:nary>
                        </m:e>
                      </m:nary>
                    </m:oMath>
                  </m:oMathPara>
                </a14:m>
                <a:endParaRPr lang="en-US" altLang="en-US" sz="1600" dirty="0">
                  <a:solidFill>
                    <a:schemeClr val="tx1">
                      <a:lumMod val="50000"/>
                    </a:schemeClr>
                  </a:solidFill>
                  <a:latin typeface="Akatab" panose="020B0604020202020204" charset="0"/>
                  <a:ea typeface="Akatab" panose="020B0604020202020204" charset="0"/>
                  <a:cs typeface="Akatab" panose="020B0604020202020204" charset="0"/>
                </a:endParaRPr>
              </a:p>
              <a:p>
                <a:pPr marL="0" lvl="0" indent="0" algn="ctr" eaLnBrk="0" fontAlgn="base" hangingPunct="0">
                  <a:spcBef>
                    <a:spcPct val="0"/>
                  </a:spcBef>
                  <a:spcAft>
                    <a:spcPct val="0"/>
                  </a:spcAft>
                  <a:buClrTx/>
                  <a:buSzTx/>
                </a:pPr>
                <a:r>
                  <a:rPr lang="en-US" altLang="en-US" sz="1600" dirty="0">
                    <a:solidFill>
                      <a:schemeClr val="tx1">
                        <a:lumMod val="50000"/>
                      </a:schemeClr>
                    </a:solidFill>
                    <a:latin typeface="Akatab" panose="020B0604020202020204" charset="0"/>
                    <a:ea typeface="Akatab" panose="020B0604020202020204" charset="0"/>
                    <a:cs typeface="Akatab" panose="020B0604020202020204" charset="0"/>
                  </a:rPr>
                  <a:t>=HT estimator + Correction term</a:t>
                </a:r>
              </a:p>
              <a:p>
                <a:pPr marL="285750" lvl="0" indent="-285750" eaLnBrk="0" fontAlgn="base" hangingPunct="0">
                  <a:spcBef>
                    <a:spcPct val="0"/>
                  </a:spcBef>
                  <a:spcAft>
                    <a:spcPct val="0"/>
                  </a:spcAft>
                  <a:buClrTx/>
                  <a:buSzTx/>
                  <a:buFont typeface="Arial" panose="020B0604020202020204" pitchFamily="34" charset="0"/>
                  <a:buChar char="•"/>
                </a:pPr>
                <a:r>
                  <a:rPr lang="en-US" altLang="en-US" sz="1600" dirty="0">
                    <a:solidFill>
                      <a:schemeClr val="tx1">
                        <a:lumMod val="50000"/>
                      </a:schemeClr>
                    </a:solidFill>
                    <a:latin typeface="Akatab" panose="020B0604020202020204" charset="0"/>
                    <a:ea typeface="Akatab" panose="020B0604020202020204" charset="0"/>
                    <a:cs typeface="Akatab" panose="020B0604020202020204" charset="0"/>
                  </a:rPr>
                  <a:t>Correction → 0 as sample size → full census</a:t>
                </a:r>
              </a:p>
            </p:txBody>
          </p:sp>
        </mc:Choice>
        <mc:Fallback xmlns="">
          <p:sp>
            <p:nvSpPr>
              <p:cNvPr id="446" name="Google Shape;446;p45"/>
              <p:cNvSpPr txBox="1">
                <a:spLocks noGrp="1" noRot="1" noChangeAspect="1" noMove="1" noResize="1" noEditPoints="1" noAdjustHandles="1" noChangeArrowheads="1" noChangeShapeType="1" noTextEdit="1"/>
              </p:cNvSpPr>
              <p:nvPr>
                <p:ph type="subTitle" idx="2"/>
              </p:nvPr>
            </p:nvSpPr>
            <p:spPr>
              <a:xfrm>
                <a:off x="1101213" y="1345287"/>
                <a:ext cx="6941573" cy="2983868"/>
              </a:xfrm>
              <a:prstGeom prst="rect">
                <a:avLst/>
              </a:prstGeom>
              <a:blipFill>
                <a:blip r:embed="rId3"/>
                <a:stretch>
                  <a:fillRect l="-351"/>
                </a:stretch>
              </a:blipFill>
            </p:spPr>
            <p:txBody>
              <a:bodyPr/>
              <a:lstStyle/>
              <a:p>
                <a:r>
                  <a:rPr lang="en-IN">
                    <a:noFill/>
                  </a:rPr>
                  <a:t> </a:t>
                </a:r>
              </a:p>
            </p:txBody>
          </p:sp>
        </mc:Fallback>
      </mc:AlternateContent>
    </p:spTree>
    <p:extLst>
      <p:ext uri="{BB962C8B-B14F-4D97-AF65-F5344CB8AC3E}">
        <p14:creationId xmlns:p14="http://schemas.microsoft.com/office/powerpoint/2010/main" val="2776341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IN" sz="2800" b="1" dirty="0"/>
              <a:t>Model 3 : Exact HT</a:t>
            </a:r>
            <a:endParaRPr sz="2800" b="1" dirty="0"/>
          </a:p>
        </p:txBody>
      </p:sp>
      <mc:AlternateContent xmlns:mc="http://schemas.openxmlformats.org/markup-compatibility/2006" xmlns:a14="http://schemas.microsoft.com/office/drawing/2010/main">
        <mc:Choice Requires="a14">
          <p:sp>
            <p:nvSpPr>
              <p:cNvPr id="446" name="Google Shape;446;p45"/>
              <p:cNvSpPr txBox="1">
                <a:spLocks noGrp="1"/>
              </p:cNvSpPr>
              <p:nvPr>
                <p:ph type="subTitle" idx="2"/>
              </p:nvPr>
            </p:nvSpPr>
            <p:spPr>
              <a:xfrm>
                <a:off x="1101213" y="1714607"/>
                <a:ext cx="6941573" cy="2542761"/>
              </a:xfrm>
              <a:prstGeom prst="rect">
                <a:avLst/>
              </a:prstGeom>
            </p:spPr>
            <p:txBody>
              <a:bodyPr spcFirstLastPara="1" wrap="square" lIns="91425" tIns="91425" rIns="91425" bIns="91425" anchor="t" anchorCtr="0">
                <a:noAutofit/>
              </a:bodyPr>
              <a:lstStyle/>
              <a:p>
                <a:pPr marL="285750" lvl="0" indent="-285750" eaLnBrk="0" fontAlgn="base" hangingPunct="0">
                  <a:spcBef>
                    <a:spcPct val="0"/>
                  </a:spcBef>
                  <a:spcAft>
                    <a:spcPct val="0"/>
                  </a:spcAft>
                  <a:buClrTx/>
                  <a:buSzTx/>
                  <a:buFont typeface="Arial" panose="020B0604020202020204" pitchFamily="34" charset="0"/>
                  <a:buChar char="•"/>
                </a:pPr>
                <a:r>
                  <a:rPr lang="en-US" altLang="en-US" sz="1600" dirty="0">
                    <a:solidFill>
                      <a:schemeClr val="tx1">
                        <a:lumMod val="50000"/>
                      </a:schemeClr>
                    </a:solidFill>
                    <a:latin typeface="Akatab" panose="020B0604020202020204" charset="0"/>
                    <a:ea typeface="Akatab" panose="020B0604020202020204" charset="0"/>
                    <a:cs typeface="Akatab" panose="020B0604020202020204" charset="0"/>
                  </a:rPr>
                  <a:t>Same linear model, but </a:t>
                </a:r>
                <a14:m>
                  <m:oMath xmlns:m="http://schemas.openxmlformats.org/officeDocument/2006/math">
                    <m:sSub>
                      <m:sSubPr>
                        <m:ctrlPr>
                          <a:rPr lang="en-US" altLang="en-US" sz="1600" i="1">
                            <a:solidFill>
                              <a:schemeClr val="tx1">
                                <a:lumMod val="50000"/>
                              </a:schemeClr>
                            </a:solidFill>
                            <a:latin typeface="Cambria Math" panose="02040503050406030204" pitchFamily="18" charset="0"/>
                          </a:rPr>
                        </m:ctrlPr>
                      </m:sSubPr>
                      <m:e>
                        <m:r>
                          <a:rPr lang="en-US" altLang="en-US" sz="1600" i="1">
                            <a:solidFill>
                              <a:schemeClr val="tx1">
                                <a:lumMod val="50000"/>
                              </a:schemeClr>
                            </a:solidFill>
                            <a:latin typeface="Cambria Math" panose="02040503050406030204" pitchFamily="18" charset="0"/>
                            <a:ea typeface="Cambria Math" panose="02040503050406030204" pitchFamily="18" charset="0"/>
                          </a:rPr>
                          <m:t>𝜀</m:t>
                        </m:r>
                      </m:e>
                      <m:sub>
                        <m:r>
                          <a:rPr lang="en-IN" altLang="en-US" sz="1600" i="1">
                            <a:solidFill>
                              <a:schemeClr val="tx1">
                                <a:lumMod val="50000"/>
                              </a:schemeClr>
                            </a:solidFill>
                            <a:latin typeface="Cambria Math" panose="02040503050406030204" pitchFamily="18" charset="0"/>
                          </a:rPr>
                          <m:t>𝑖</m:t>
                        </m:r>
                      </m:sub>
                    </m:sSub>
                    <m:r>
                      <a:rPr lang="en-IN" altLang="en-US" sz="1600" i="1">
                        <a:solidFill>
                          <a:schemeClr val="tx1">
                            <a:lumMod val="50000"/>
                          </a:schemeClr>
                        </a:solidFill>
                        <a:latin typeface="Cambria Math" panose="02040503050406030204" pitchFamily="18" charset="0"/>
                      </a:rPr>
                      <m:t>~</m:t>
                    </m:r>
                    <m:r>
                      <a:rPr lang="en-IN" altLang="en-US" sz="1600" i="1">
                        <a:solidFill>
                          <a:schemeClr val="tx1">
                            <a:lumMod val="50000"/>
                          </a:schemeClr>
                        </a:solidFill>
                        <a:latin typeface="Cambria Math" panose="02040503050406030204" pitchFamily="18" charset="0"/>
                      </a:rPr>
                      <m:t>𝑁</m:t>
                    </m:r>
                    <m:r>
                      <a:rPr lang="en-IN" altLang="en-US" sz="1600" i="1">
                        <a:solidFill>
                          <a:schemeClr val="tx1">
                            <a:lumMod val="50000"/>
                          </a:schemeClr>
                        </a:solidFill>
                        <a:latin typeface="Cambria Math" panose="02040503050406030204" pitchFamily="18" charset="0"/>
                      </a:rPr>
                      <m:t>(0,</m:t>
                    </m:r>
                    <m:sSubSup>
                      <m:sSubSupPr>
                        <m:ctrlPr>
                          <a:rPr lang="en-IN" altLang="en-US" sz="1600" i="1">
                            <a:solidFill>
                              <a:schemeClr val="tx1">
                                <a:lumMod val="50000"/>
                              </a:schemeClr>
                            </a:solidFill>
                            <a:latin typeface="Cambria Math" panose="02040503050406030204" pitchFamily="18" charset="0"/>
                          </a:rPr>
                        </m:ctrlPr>
                      </m:sSubSupPr>
                      <m:e>
                        <m:r>
                          <a:rPr lang="en-IN" altLang="en-US" sz="1600" i="1">
                            <a:solidFill>
                              <a:schemeClr val="tx1">
                                <a:lumMod val="50000"/>
                              </a:schemeClr>
                            </a:solidFill>
                            <a:latin typeface="Cambria Math" panose="02040503050406030204" pitchFamily="18" charset="0"/>
                            <a:ea typeface="Cambria Math" panose="02040503050406030204" pitchFamily="18" charset="0"/>
                          </a:rPr>
                          <m:t>𝜎</m:t>
                        </m:r>
                      </m:e>
                      <m:sub>
                        <m:r>
                          <a:rPr lang="en-IN" altLang="en-US" sz="1600" i="1">
                            <a:solidFill>
                              <a:schemeClr val="tx1">
                                <a:lumMod val="50000"/>
                              </a:schemeClr>
                            </a:solidFill>
                            <a:latin typeface="Cambria Math" panose="02040503050406030204" pitchFamily="18" charset="0"/>
                          </a:rPr>
                          <m:t>𝑖</m:t>
                        </m:r>
                      </m:sub>
                      <m:sup>
                        <m:r>
                          <a:rPr lang="en-IN" altLang="en-US" sz="1600" i="1">
                            <a:solidFill>
                              <a:schemeClr val="tx1">
                                <a:lumMod val="50000"/>
                              </a:schemeClr>
                            </a:solidFill>
                            <a:latin typeface="Cambria Math" panose="02040503050406030204" pitchFamily="18" charset="0"/>
                          </a:rPr>
                          <m:t>2</m:t>
                        </m:r>
                      </m:sup>
                    </m:sSubSup>
                    <m:r>
                      <a:rPr lang="en-IN" altLang="en-US" sz="1600" i="1">
                        <a:solidFill>
                          <a:schemeClr val="tx1">
                            <a:lumMod val="50000"/>
                          </a:schemeClr>
                        </a:solidFill>
                        <a:latin typeface="Cambria Math" panose="02040503050406030204" pitchFamily="18" charset="0"/>
                      </a:rPr>
                      <m:t>)</m:t>
                    </m:r>
                  </m:oMath>
                </a14:m>
                <a:r>
                  <a:rPr lang="en-US" altLang="en-US" sz="1600" dirty="0">
                    <a:solidFill>
                      <a:schemeClr val="tx1">
                        <a:lumMod val="50000"/>
                      </a:schemeClr>
                    </a:solidFill>
                    <a:latin typeface="Akatab" panose="020B0604020202020204" charset="0"/>
                    <a:ea typeface="Akatab" panose="020B0604020202020204" charset="0"/>
                    <a:cs typeface="Akatab" panose="020B0604020202020204" charset="0"/>
                  </a:rPr>
                  <a:t> with </a:t>
                </a:r>
                <a14:m>
                  <m:oMath xmlns:m="http://schemas.openxmlformats.org/officeDocument/2006/math">
                    <m:sSubSup>
                      <m:sSubSupPr>
                        <m:ctrlPr>
                          <a:rPr lang="en-IN" altLang="en-US" sz="1600" i="1">
                            <a:solidFill>
                              <a:schemeClr val="tx1">
                                <a:lumMod val="50000"/>
                              </a:schemeClr>
                            </a:solidFill>
                            <a:latin typeface="Cambria Math" panose="02040503050406030204" pitchFamily="18" charset="0"/>
                          </a:rPr>
                        </m:ctrlPr>
                      </m:sSubSupPr>
                      <m:e>
                        <m:r>
                          <a:rPr lang="en-IN" altLang="en-US" sz="1600" i="1">
                            <a:solidFill>
                              <a:schemeClr val="tx1">
                                <a:lumMod val="50000"/>
                              </a:schemeClr>
                            </a:solidFill>
                            <a:latin typeface="Cambria Math" panose="02040503050406030204" pitchFamily="18" charset="0"/>
                            <a:ea typeface="Cambria Math" panose="02040503050406030204" pitchFamily="18" charset="0"/>
                          </a:rPr>
                          <m:t>𝜎</m:t>
                        </m:r>
                      </m:e>
                      <m:sub>
                        <m:r>
                          <a:rPr lang="en-IN" altLang="en-US" sz="1600" i="1">
                            <a:solidFill>
                              <a:schemeClr val="tx1">
                                <a:lumMod val="50000"/>
                              </a:schemeClr>
                            </a:solidFill>
                            <a:latin typeface="Cambria Math" panose="02040503050406030204" pitchFamily="18" charset="0"/>
                          </a:rPr>
                          <m:t>𝑖</m:t>
                        </m:r>
                      </m:sub>
                      <m:sup>
                        <m:r>
                          <a:rPr lang="en-IN" altLang="en-US" sz="1600" i="1">
                            <a:solidFill>
                              <a:schemeClr val="tx1">
                                <a:lumMod val="50000"/>
                              </a:schemeClr>
                            </a:solidFill>
                            <a:latin typeface="Cambria Math" panose="02040503050406030204" pitchFamily="18" charset="0"/>
                          </a:rPr>
                          <m:t>2</m:t>
                        </m:r>
                      </m:sup>
                    </m:sSubSup>
                    <m:r>
                      <a:rPr lang="en-IN" altLang="en-US" sz="1600" i="1">
                        <a:solidFill>
                          <a:schemeClr val="tx1">
                            <a:lumMod val="50000"/>
                          </a:schemeClr>
                        </a:solidFill>
                        <a:latin typeface="Cambria Math" panose="02040503050406030204" pitchFamily="18" charset="0"/>
                      </a:rPr>
                      <m:t>=1/(1−</m:t>
                    </m:r>
                    <m:sSub>
                      <m:sSubPr>
                        <m:ctrlPr>
                          <a:rPr lang="en-IN" altLang="en-US" sz="1600" i="1">
                            <a:solidFill>
                              <a:schemeClr val="tx1">
                                <a:lumMod val="50000"/>
                              </a:schemeClr>
                            </a:solidFill>
                            <a:latin typeface="Cambria Math" panose="02040503050406030204" pitchFamily="18" charset="0"/>
                          </a:rPr>
                        </m:ctrlPr>
                      </m:sSubPr>
                      <m:e>
                        <m:r>
                          <a:rPr lang="en-IN" altLang="en-US" sz="1600" i="1">
                            <a:solidFill>
                              <a:schemeClr val="tx1">
                                <a:lumMod val="50000"/>
                              </a:schemeClr>
                            </a:solidFill>
                            <a:latin typeface="Cambria Math" panose="02040503050406030204" pitchFamily="18" charset="0"/>
                            <a:ea typeface="Cambria Math" panose="02040503050406030204" pitchFamily="18" charset="0"/>
                          </a:rPr>
                          <m:t>𝜋</m:t>
                        </m:r>
                      </m:e>
                      <m:sub>
                        <m:r>
                          <a:rPr lang="en-IN" altLang="en-US" sz="1600" i="1">
                            <a:solidFill>
                              <a:schemeClr val="tx1">
                                <a:lumMod val="50000"/>
                              </a:schemeClr>
                            </a:solidFill>
                            <a:latin typeface="Cambria Math" panose="02040503050406030204" pitchFamily="18" charset="0"/>
                          </a:rPr>
                          <m:t>𝑖</m:t>
                        </m:r>
                      </m:sub>
                    </m:sSub>
                    <m:r>
                      <a:rPr lang="en-IN" altLang="en-US" sz="1600" i="1">
                        <a:solidFill>
                          <a:schemeClr val="tx1">
                            <a:lumMod val="50000"/>
                          </a:schemeClr>
                        </a:solidFill>
                        <a:latin typeface="Cambria Math" panose="02040503050406030204" pitchFamily="18" charset="0"/>
                      </a:rPr>
                      <m:t>)</m:t>
                    </m:r>
                  </m:oMath>
                </a14:m>
                <a:r>
                  <a:rPr lang="en-US" altLang="en-US" sz="1600" dirty="0">
                    <a:solidFill>
                      <a:schemeClr val="tx1">
                        <a:lumMod val="50000"/>
                      </a:schemeClr>
                    </a:solidFill>
                    <a:latin typeface="Akatab" panose="020B0604020202020204" charset="0"/>
                    <a:ea typeface="Akatab" panose="020B0604020202020204" charset="0"/>
                    <a:cs typeface="Akatab" panose="020B0604020202020204" charset="0"/>
                  </a:rPr>
                  <a:t> </a:t>
                </a:r>
              </a:p>
              <a:p>
                <a:pPr marL="285750" lvl="0" indent="-285750" eaLnBrk="0" fontAlgn="base" hangingPunct="0">
                  <a:spcBef>
                    <a:spcPct val="0"/>
                  </a:spcBef>
                  <a:spcAft>
                    <a:spcPct val="0"/>
                  </a:spcAft>
                  <a:buClrTx/>
                  <a:buSzTx/>
                  <a:buFont typeface="Arial" panose="020B0604020202020204" pitchFamily="34" charset="0"/>
                  <a:buChar char="•"/>
                </a:pPr>
                <a:r>
                  <a:rPr lang="en-US" altLang="en-US" sz="1600" dirty="0">
                    <a:solidFill>
                      <a:schemeClr val="tx1">
                        <a:lumMod val="50000"/>
                      </a:schemeClr>
                    </a:solidFill>
                    <a:latin typeface="Akatab" panose="020B0604020202020204" charset="0"/>
                    <a:ea typeface="Akatab" panose="020B0604020202020204" charset="0"/>
                    <a:cs typeface="Akatab" panose="020B0604020202020204" charset="0"/>
                  </a:rPr>
                  <a:t>This specific choice makes the correction term vanish entirely. </a:t>
                </a:r>
              </a:p>
              <a:p>
                <a:pPr marL="285750" lvl="0" indent="-285750" eaLnBrk="0" fontAlgn="base" hangingPunct="0">
                  <a:spcBef>
                    <a:spcPct val="0"/>
                  </a:spcBef>
                  <a:spcAft>
                    <a:spcPct val="0"/>
                  </a:spcAft>
                  <a:buClrTx/>
                  <a:buSzTx/>
                  <a:buFont typeface="Arial" panose="020B0604020202020204" pitchFamily="34" charset="0"/>
                  <a:buChar char="•"/>
                </a:pPr>
                <a:r>
                  <a:rPr lang="en-US" altLang="en-US" sz="1600" dirty="0">
                    <a:solidFill>
                      <a:schemeClr val="tx1">
                        <a:lumMod val="50000"/>
                      </a:schemeClr>
                    </a:solidFill>
                    <a:latin typeface="Akatab" panose="020B0604020202020204" charset="0"/>
                    <a:ea typeface="Akatab" panose="020B0604020202020204" charset="0"/>
                    <a:cs typeface="Akatab" panose="020B0604020202020204" charset="0"/>
                  </a:rPr>
                  <a:t>Posterior mean = </a:t>
                </a:r>
                <a14:m>
                  <m:oMath xmlns:m="http://schemas.openxmlformats.org/officeDocument/2006/math">
                    <m:nary>
                      <m:naryPr>
                        <m:chr m:val="∑"/>
                        <m:subHide m:val="on"/>
                        <m:supHide m:val="on"/>
                        <m:ctrlPr>
                          <a:rPr lang="en-US" altLang="en-US" sz="1600" i="1">
                            <a:solidFill>
                              <a:schemeClr val="tx1">
                                <a:lumMod val="50000"/>
                              </a:schemeClr>
                            </a:solidFill>
                            <a:latin typeface="Cambria Math" panose="02040503050406030204" pitchFamily="18" charset="0"/>
                          </a:rPr>
                        </m:ctrlPr>
                      </m:naryPr>
                      <m:sub/>
                      <m:sup/>
                      <m:e>
                        <m:r>
                          <a:rPr lang="en-IN" altLang="en-US" sz="1600" i="1">
                            <a:solidFill>
                              <a:schemeClr val="tx1">
                                <a:lumMod val="50000"/>
                              </a:schemeClr>
                            </a:solidFill>
                            <a:latin typeface="Cambria Math" panose="02040503050406030204" pitchFamily="18" charset="0"/>
                          </a:rPr>
                          <m:t>(</m:t>
                        </m:r>
                        <m:f>
                          <m:fPr>
                            <m:type m:val="lin"/>
                            <m:ctrlPr>
                              <a:rPr lang="en-IN" altLang="en-US" sz="1600" i="1">
                                <a:solidFill>
                                  <a:schemeClr val="tx1">
                                    <a:lumMod val="50000"/>
                                  </a:schemeClr>
                                </a:solidFill>
                                <a:latin typeface="Cambria Math" panose="02040503050406030204" pitchFamily="18" charset="0"/>
                              </a:rPr>
                            </m:ctrlPr>
                          </m:fPr>
                          <m:num>
                            <m:sSub>
                              <m:sSubPr>
                                <m:ctrlPr>
                                  <a:rPr lang="en-IN" altLang="en-US" sz="1600" i="1">
                                    <a:solidFill>
                                      <a:schemeClr val="tx1">
                                        <a:lumMod val="50000"/>
                                      </a:schemeClr>
                                    </a:solidFill>
                                    <a:latin typeface="Cambria Math" panose="02040503050406030204" pitchFamily="18" charset="0"/>
                                  </a:rPr>
                                </m:ctrlPr>
                              </m:sSubPr>
                              <m:e>
                                <m:r>
                                  <a:rPr lang="en-IN" altLang="en-US" sz="1600" i="1">
                                    <a:solidFill>
                                      <a:schemeClr val="tx1">
                                        <a:lumMod val="50000"/>
                                      </a:schemeClr>
                                    </a:solidFill>
                                    <a:latin typeface="Cambria Math" panose="02040503050406030204" pitchFamily="18" charset="0"/>
                                  </a:rPr>
                                  <m:t>𝑦</m:t>
                                </m:r>
                              </m:e>
                              <m:sub>
                                <m:r>
                                  <a:rPr lang="en-IN" altLang="en-US" sz="1600" i="1">
                                    <a:solidFill>
                                      <a:schemeClr val="tx1">
                                        <a:lumMod val="50000"/>
                                      </a:schemeClr>
                                    </a:solidFill>
                                    <a:latin typeface="Cambria Math" panose="02040503050406030204" pitchFamily="18" charset="0"/>
                                  </a:rPr>
                                  <m:t>𝑖</m:t>
                                </m:r>
                              </m:sub>
                            </m:sSub>
                          </m:num>
                          <m:den>
                            <m:sSub>
                              <m:sSubPr>
                                <m:ctrlPr>
                                  <a:rPr lang="en-IN" altLang="en-US" sz="1600" i="1">
                                    <a:solidFill>
                                      <a:schemeClr val="tx1">
                                        <a:lumMod val="50000"/>
                                      </a:schemeClr>
                                    </a:solidFill>
                                    <a:latin typeface="Cambria Math" panose="02040503050406030204" pitchFamily="18" charset="0"/>
                                  </a:rPr>
                                </m:ctrlPr>
                              </m:sSubPr>
                              <m:e>
                                <m:r>
                                  <a:rPr lang="en-IN" altLang="en-US" sz="1600" i="1">
                                    <a:solidFill>
                                      <a:schemeClr val="tx1">
                                        <a:lumMod val="50000"/>
                                      </a:schemeClr>
                                    </a:solidFill>
                                    <a:latin typeface="Cambria Math" panose="02040503050406030204" pitchFamily="18" charset="0"/>
                                    <a:ea typeface="Cambria Math" panose="02040503050406030204" pitchFamily="18" charset="0"/>
                                  </a:rPr>
                                  <m:t>𝜋</m:t>
                                </m:r>
                              </m:e>
                              <m:sub>
                                <m:r>
                                  <a:rPr lang="en-IN" altLang="en-US" sz="1600" i="1">
                                    <a:solidFill>
                                      <a:schemeClr val="tx1">
                                        <a:lumMod val="50000"/>
                                      </a:schemeClr>
                                    </a:solidFill>
                                    <a:latin typeface="Cambria Math" panose="02040503050406030204" pitchFamily="18" charset="0"/>
                                  </a:rPr>
                                  <m:t>𝑖</m:t>
                                </m:r>
                              </m:sub>
                            </m:sSub>
                          </m:den>
                        </m:f>
                        <m:r>
                          <a:rPr lang="en-IN" altLang="en-US" sz="1600" i="1">
                            <a:solidFill>
                              <a:schemeClr val="tx1">
                                <a:lumMod val="50000"/>
                              </a:schemeClr>
                            </a:solidFill>
                            <a:latin typeface="Cambria Math" panose="02040503050406030204" pitchFamily="18" charset="0"/>
                          </a:rPr>
                          <m:t>)</m:t>
                        </m:r>
                      </m:e>
                    </m:nary>
                  </m:oMath>
                </a14:m>
                <a:r>
                  <a:rPr lang="en-US" altLang="en-US" sz="1600" b="1" dirty="0">
                    <a:solidFill>
                      <a:schemeClr val="tx1">
                        <a:lumMod val="50000"/>
                      </a:schemeClr>
                    </a:solidFill>
                    <a:latin typeface="Akatab" panose="020B0604020202020204" charset="0"/>
                    <a:ea typeface="Akatab" panose="020B0604020202020204" charset="0"/>
                    <a:cs typeface="Akatab" panose="020B0604020202020204" charset="0"/>
                  </a:rPr>
                  <a:t> exactly</a:t>
                </a:r>
                <a:r>
                  <a:rPr lang="en-US" altLang="en-US" sz="1600" dirty="0">
                    <a:solidFill>
                      <a:schemeClr val="tx1">
                        <a:lumMod val="50000"/>
                      </a:schemeClr>
                    </a:solidFill>
                    <a:latin typeface="Akatab" panose="020B0604020202020204" charset="0"/>
                    <a:ea typeface="Akatab" panose="020B0604020202020204" charset="0"/>
                    <a:cs typeface="Akatab" panose="020B0604020202020204" charset="0"/>
                  </a:rPr>
                  <a:t> = classical HT estimator, for any n </a:t>
                </a:r>
              </a:p>
              <a:p>
                <a:pPr marL="285750" lvl="0" indent="-285750" eaLnBrk="0" fontAlgn="base" hangingPunct="0">
                  <a:spcBef>
                    <a:spcPct val="0"/>
                  </a:spcBef>
                  <a:spcAft>
                    <a:spcPct val="0"/>
                  </a:spcAft>
                  <a:buClrTx/>
                  <a:buSzTx/>
                  <a:buFont typeface="Arial" panose="020B0604020202020204" pitchFamily="34" charset="0"/>
                  <a:buChar char="•"/>
                </a:pPr>
                <a:r>
                  <a:rPr lang="en-US" altLang="en-US" sz="1600" dirty="0">
                    <a:solidFill>
                      <a:schemeClr val="tx1">
                        <a:lumMod val="50000"/>
                      </a:schemeClr>
                    </a:solidFill>
                    <a:latin typeface="Akatab" panose="020B0604020202020204" charset="0"/>
                    <a:ea typeface="Akatab" panose="020B0604020202020204" charset="0"/>
                    <a:cs typeface="Akatab" panose="020B0604020202020204" charset="0"/>
                  </a:rPr>
                  <a:t>This is the theoretical bridge between Bayesian and design-based inference.</a:t>
                </a:r>
              </a:p>
            </p:txBody>
          </p:sp>
        </mc:Choice>
        <mc:Fallback xmlns="">
          <p:sp>
            <p:nvSpPr>
              <p:cNvPr id="446" name="Google Shape;446;p45"/>
              <p:cNvSpPr txBox="1">
                <a:spLocks noGrp="1" noRot="1" noChangeAspect="1" noMove="1" noResize="1" noEditPoints="1" noAdjustHandles="1" noChangeArrowheads="1" noChangeShapeType="1" noTextEdit="1"/>
              </p:cNvSpPr>
              <p:nvPr>
                <p:ph type="subTitle" idx="2"/>
              </p:nvPr>
            </p:nvSpPr>
            <p:spPr>
              <a:xfrm>
                <a:off x="1101213" y="1714607"/>
                <a:ext cx="6941573" cy="2542761"/>
              </a:xfrm>
              <a:prstGeom prst="rect">
                <a:avLst/>
              </a:prstGeom>
              <a:blipFill>
                <a:blip r:embed="rId3"/>
                <a:stretch>
                  <a:fillRect l="-351"/>
                </a:stretch>
              </a:blipFill>
            </p:spPr>
            <p:txBody>
              <a:bodyPr/>
              <a:lstStyle/>
              <a:p>
                <a:r>
                  <a:rPr lang="en-IN">
                    <a:noFill/>
                  </a:rPr>
                  <a:t> </a:t>
                </a:r>
              </a:p>
            </p:txBody>
          </p:sp>
        </mc:Fallback>
      </mc:AlternateContent>
    </p:spTree>
    <p:extLst>
      <p:ext uri="{BB962C8B-B14F-4D97-AF65-F5344CB8AC3E}">
        <p14:creationId xmlns:p14="http://schemas.microsoft.com/office/powerpoint/2010/main" val="212547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53"/>
          <p:cNvSpPr txBox="1">
            <a:spLocks noGrp="1"/>
          </p:cNvSpPr>
          <p:nvPr>
            <p:ph type="title"/>
          </p:nvPr>
        </p:nvSpPr>
        <p:spPr>
          <a:xfrm>
            <a:off x="1248696" y="1417500"/>
            <a:ext cx="6646607" cy="2308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dirty="0"/>
              <a:t>Comparison of Different Models</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E378932-7CC6-417A-9A56-B4E849DD2E8E}"/>
              </a:ext>
            </a:extLst>
          </p:cNvPr>
          <p:cNvSpPr>
            <a:spLocks noGrp="1"/>
          </p:cNvSpPr>
          <p:nvPr>
            <p:ph type="body" idx="1"/>
          </p:nvPr>
        </p:nvSpPr>
        <p:spPr>
          <a:xfrm>
            <a:off x="486697" y="2571750"/>
            <a:ext cx="8170606" cy="2071014"/>
          </a:xfrm>
        </p:spPr>
        <p:txBody>
          <a:bodyPr/>
          <a:lstStyle/>
          <a:p>
            <a:pPr lvl="0" eaLnBrk="0" fontAlgn="base" hangingPunct="0">
              <a:spcBef>
                <a:spcPct val="0"/>
              </a:spcBef>
              <a:spcAft>
                <a:spcPct val="0"/>
              </a:spcAft>
              <a:buClrTx/>
              <a:buFontTx/>
              <a:buChar char="•"/>
            </a:pPr>
            <a:r>
              <a:rPr lang="en-US" altLang="en-US" sz="1400" b="1" dirty="0">
                <a:solidFill>
                  <a:schemeClr val="tx1">
                    <a:lumMod val="50000"/>
                  </a:schemeClr>
                </a:solidFill>
                <a:latin typeface="Josefin Sans" panose="020B0604020202020204" charset="0"/>
                <a:ea typeface="Microsoft Sans Serif" panose="020B0604020202020204" pitchFamily="34" charset="0"/>
                <a:cs typeface="Microsoft Sans Serif" panose="020B0604020202020204" pitchFamily="34" charset="0"/>
              </a:rPr>
              <a:t>Model 1 (SRSWOR)</a:t>
            </a:r>
            <a:r>
              <a:rPr lang="en-US" altLang="en-US" sz="1400" dirty="0">
                <a:solidFill>
                  <a:schemeClr val="tx1">
                    <a:lumMod val="50000"/>
                  </a:schemeClr>
                </a:solidFill>
                <a:latin typeface="Josefin Sans" panose="020B0604020202020204" charset="0"/>
                <a:ea typeface="Microsoft Sans Serif" panose="020B0604020202020204" pitchFamily="34" charset="0"/>
                <a:cs typeface="Microsoft Sans Serif" panose="020B0604020202020204" pitchFamily="34" charset="0"/>
              </a:rPr>
              <a:t>: Standard predictive model captures simple random sampling distributions cleanly but yields wider intervals.</a:t>
            </a:r>
          </a:p>
          <a:p>
            <a:pPr lvl="0" eaLnBrk="0" fontAlgn="base" hangingPunct="0">
              <a:spcBef>
                <a:spcPct val="0"/>
              </a:spcBef>
              <a:spcAft>
                <a:spcPct val="0"/>
              </a:spcAft>
              <a:buClrTx/>
              <a:buFontTx/>
              <a:buChar char="•"/>
            </a:pPr>
            <a:r>
              <a:rPr lang="en-US" altLang="en-US" sz="1400" b="1" dirty="0">
                <a:solidFill>
                  <a:schemeClr val="tx1">
                    <a:lumMod val="50000"/>
                  </a:schemeClr>
                </a:solidFill>
                <a:latin typeface="Josefin Sans" panose="020B0604020202020204" charset="0"/>
                <a:ea typeface="Microsoft Sans Serif" panose="020B0604020202020204" pitchFamily="34" charset="0"/>
                <a:cs typeface="Microsoft Sans Serif" panose="020B0604020202020204" pitchFamily="34" charset="0"/>
              </a:rPr>
              <a:t>Model 2 (Approximate HT)</a:t>
            </a:r>
            <a:r>
              <a:rPr lang="en-US" altLang="en-US" sz="1400" dirty="0">
                <a:solidFill>
                  <a:schemeClr val="tx1">
                    <a:lumMod val="50000"/>
                  </a:schemeClr>
                </a:solidFill>
                <a:latin typeface="Josefin Sans" panose="020B0604020202020204" charset="0"/>
                <a:ea typeface="Microsoft Sans Serif" panose="020B0604020202020204" pitchFamily="34" charset="0"/>
                <a:cs typeface="Microsoft Sans Serif" panose="020B0604020202020204" pitchFamily="34" charset="0"/>
              </a:rPr>
              <a:t>: Incorporates Horvitz-Thompson weights with an added stochastic correction term to absorb modeling noise produces lower CV and narrower intervals.</a:t>
            </a:r>
          </a:p>
          <a:p>
            <a:pPr lvl="0" eaLnBrk="0" fontAlgn="base" hangingPunct="0">
              <a:spcBef>
                <a:spcPct val="0"/>
              </a:spcBef>
              <a:spcAft>
                <a:spcPct val="0"/>
              </a:spcAft>
              <a:buClrTx/>
              <a:buFontTx/>
              <a:buChar char="•"/>
            </a:pPr>
            <a:r>
              <a:rPr lang="en-US" altLang="en-US" sz="1400" b="1" dirty="0">
                <a:solidFill>
                  <a:schemeClr val="tx1">
                    <a:lumMod val="50000"/>
                  </a:schemeClr>
                </a:solidFill>
                <a:latin typeface="Josefin Sans" panose="020B0604020202020204" charset="0"/>
                <a:ea typeface="Microsoft Sans Serif" panose="020B0604020202020204" pitchFamily="34" charset="0"/>
                <a:cs typeface="Microsoft Sans Serif" panose="020B0604020202020204" pitchFamily="34" charset="0"/>
              </a:rPr>
              <a:t>Model 3 (Exact HT)</a:t>
            </a:r>
            <a:r>
              <a:rPr lang="en-US" altLang="en-US" sz="1400" dirty="0">
                <a:solidFill>
                  <a:schemeClr val="tx1">
                    <a:lumMod val="50000"/>
                  </a:schemeClr>
                </a:solidFill>
                <a:latin typeface="Josefin Sans" panose="020B0604020202020204" charset="0"/>
                <a:ea typeface="Microsoft Sans Serif" panose="020B0604020202020204" pitchFamily="34" charset="0"/>
                <a:cs typeface="Microsoft Sans Serif" panose="020B0604020202020204" pitchFamily="34" charset="0"/>
              </a:rPr>
              <a:t>: Uses exact deterministic structural transformations of sample inclusion probabilities, yields an even lower CV %.</a:t>
            </a:r>
            <a:endParaRPr lang="en-IN" sz="1400" dirty="0">
              <a:solidFill>
                <a:schemeClr val="tx1">
                  <a:lumMod val="50000"/>
                </a:schemeClr>
              </a:solidFill>
              <a:latin typeface="Josefin Sans" panose="020B0604020202020204" charset="0"/>
              <a:ea typeface="Microsoft Sans Serif" panose="020B0604020202020204" pitchFamily="34" charset="0"/>
              <a:cs typeface="Microsoft Sans Serif" panose="020B0604020202020204" pitchFamily="34" charset="0"/>
            </a:endParaRPr>
          </a:p>
        </p:txBody>
      </p:sp>
      <p:graphicFrame>
        <p:nvGraphicFramePr>
          <p:cNvPr id="4" name="Google Shape;1916;p121">
            <a:extLst>
              <a:ext uri="{FF2B5EF4-FFF2-40B4-BE49-F238E27FC236}">
                <a16:creationId xmlns:a16="http://schemas.microsoft.com/office/drawing/2014/main" id="{B7EAF50D-305E-46E8-9159-34B2BDE3C6C1}"/>
              </a:ext>
            </a:extLst>
          </p:cNvPr>
          <p:cNvGraphicFramePr/>
          <p:nvPr>
            <p:extLst>
              <p:ext uri="{D42A27DB-BD31-4B8C-83A1-F6EECF244321}">
                <p14:modId xmlns:p14="http://schemas.microsoft.com/office/powerpoint/2010/main" val="2199697317"/>
              </p:ext>
            </p:extLst>
          </p:nvPr>
        </p:nvGraphicFramePr>
        <p:xfrm>
          <a:off x="2071349" y="500736"/>
          <a:ext cx="5001302" cy="1753780"/>
        </p:xfrm>
        <a:graphic>
          <a:graphicData uri="http://schemas.openxmlformats.org/drawingml/2006/table">
            <a:tbl>
              <a:tblPr>
                <a:noFill/>
              </a:tblPr>
              <a:tblGrid>
                <a:gridCol w="1101143">
                  <a:extLst>
                    <a:ext uri="{9D8B030D-6E8A-4147-A177-3AD203B41FA5}">
                      <a16:colId xmlns:a16="http://schemas.microsoft.com/office/drawing/2014/main" val="20000"/>
                    </a:ext>
                  </a:extLst>
                </a:gridCol>
                <a:gridCol w="953799">
                  <a:extLst>
                    <a:ext uri="{9D8B030D-6E8A-4147-A177-3AD203B41FA5}">
                      <a16:colId xmlns:a16="http://schemas.microsoft.com/office/drawing/2014/main" val="20001"/>
                    </a:ext>
                  </a:extLst>
                </a:gridCol>
                <a:gridCol w="934065">
                  <a:extLst>
                    <a:ext uri="{9D8B030D-6E8A-4147-A177-3AD203B41FA5}">
                      <a16:colId xmlns:a16="http://schemas.microsoft.com/office/drawing/2014/main" val="20002"/>
                    </a:ext>
                  </a:extLst>
                </a:gridCol>
                <a:gridCol w="983226">
                  <a:extLst>
                    <a:ext uri="{9D8B030D-6E8A-4147-A177-3AD203B41FA5}">
                      <a16:colId xmlns:a16="http://schemas.microsoft.com/office/drawing/2014/main" val="20003"/>
                    </a:ext>
                  </a:extLst>
                </a:gridCol>
                <a:gridCol w="1029069">
                  <a:extLst>
                    <a:ext uri="{9D8B030D-6E8A-4147-A177-3AD203B41FA5}">
                      <a16:colId xmlns:a16="http://schemas.microsoft.com/office/drawing/2014/main" val="20004"/>
                    </a:ext>
                  </a:extLst>
                </a:gridCol>
              </a:tblGrid>
              <a:tr h="336529">
                <a:tc>
                  <a:txBody>
                    <a:bodyPr/>
                    <a:lstStyle/>
                    <a:p>
                      <a:pPr marL="0" lvl="0" indent="0" algn="ctr" rtl="0">
                        <a:spcBef>
                          <a:spcPts val="0"/>
                        </a:spcBef>
                        <a:spcAft>
                          <a:spcPts val="0"/>
                        </a:spcAft>
                        <a:buNone/>
                      </a:pPr>
                      <a:endParaRPr sz="1000" dirty="0">
                        <a:solidFill>
                          <a:schemeClr val="dk1"/>
                        </a:solidFill>
                        <a:latin typeface="Akatab" panose="020B0604020202020204" charset="0"/>
                        <a:ea typeface="Akatab" panose="020B0604020202020204" charset="0"/>
                        <a:cs typeface="Akatab" panose="020B0604020202020204" charset="0"/>
                        <a:sym typeface="Bebas Neue"/>
                      </a:endParaRPr>
                    </a:p>
                  </a:txBody>
                  <a:tcPr marL="91425" marR="91425" marT="75558" marB="755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IN" sz="1200" b="1" dirty="0">
                          <a:solidFill>
                            <a:schemeClr val="tx1">
                              <a:lumMod val="50000"/>
                            </a:schemeClr>
                          </a:solidFill>
                          <a:latin typeface="Akatab" panose="020B0604020202020204" charset="0"/>
                          <a:ea typeface="Akatab" panose="020B0604020202020204" charset="0"/>
                          <a:cs typeface="Akatab" panose="020B0604020202020204" charset="0"/>
                          <a:sym typeface="Josefin Sans"/>
                        </a:rPr>
                        <a:t>Mean(ug/L)</a:t>
                      </a:r>
                    </a:p>
                  </a:txBody>
                  <a:tcPr marL="91425" marR="91425" marT="75558" marB="755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lvl="0" indent="0" algn="ctr" rtl="0">
                        <a:spcBef>
                          <a:spcPts val="0"/>
                        </a:spcBef>
                        <a:spcAft>
                          <a:spcPts val="0"/>
                        </a:spcAft>
                        <a:buNone/>
                      </a:pPr>
                      <a:r>
                        <a:rPr lang="en-IN" sz="1200" b="1" dirty="0">
                          <a:solidFill>
                            <a:schemeClr val="tx1">
                              <a:lumMod val="50000"/>
                            </a:schemeClr>
                          </a:solidFill>
                          <a:latin typeface="Akatab" panose="020B0604020202020204" charset="0"/>
                          <a:ea typeface="Akatab" panose="020B0604020202020204" charset="0"/>
                          <a:cs typeface="Akatab" panose="020B0604020202020204" charset="0"/>
                          <a:sym typeface="Josefin Sans"/>
                        </a:rPr>
                        <a:t>SD</a:t>
                      </a:r>
                      <a:endParaRPr sz="1200" b="1" dirty="0">
                        <a:solidFill>
                          <a:schemeClr val="tx1">
                            <a:lumMod val="50000"/>
                          </a:schemeClr>
                        </a:solidFill>
                        <a:latin typeface="Akatab" panose="020B0604020202020204" charset="0"/>
                        <a:ea typeface="Akatab" panose="020B0604020202020204" charset="0"/>
                        <a:cs typeface="Akatab" panose="020B0604020202020204" charset="0"/>
                        <a:sym typeface="Josefin Sans"/>
                      </a:endParaRPr>
                    </a:p>
                  </a:txBody>
                  <a:tcPr marL="91425" marR="91425" marT="75558" marB="755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lvl="0" indent="0" algn="ctr" rtl="0">
                        <a:spcBef>
                          <a:spcPts val="0"/>
                        </a:spcBef>
                        <a:spcAft>
                          <a:spcPts val="0"/>
                        </a:spcAft>
                        <a:buNone/>
                      </a:pPr>
                      <a:r>
                        <a:rPr lang="en-IN" sz="1200" b="1" dirty="0">
                          <a:solidFill>
                            <a:schemeClr val="tx1">
                              <a:lumMod val="50000"/>
                            </a:schemeClr>
                          </a:solidFill>
                          <a:latin typeface="Akatab" panose="020B0604020202020204" charset="0"/>
                          <a:ea typeface="Akatab" panose="020B0604020202020204" charset="0"/>
                          <a:cs typeface="Akatab" panose="020B0604020202020204" charset="0"/>
                          <a:sym typeface="Josefin Sans"/>
                        </a:rPr>
                        <a:t>CV(%)</a:t>
                      </a:r>
                      <a:endParaRPr sz="1200" b="1" dirty="0">
                        <a:solidFill>
                          <a:schemeClr val="tx1">
                            <a:lumMod val="50000"/>
                          </a:schemeClr>
                        </a:solidFill>
                        <a:latin typeface="Akatab" panose="020B0604020202020204" charset="0"/>
                        <a:ea typeface="Akatab" panose="020B0604020202020204" charset="0"/>
                        <a:cs typeface="Akatab" panose="020B0604020202020204" charset="0"/>
                        <a:sym typeface="Josefin Sans"/>
                      </a:endParaRPr>
                    </a:p>
                  </a:txBody>
                  <a:tcPr marL="91425" marR="91425" marT="75558" marB="755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lvl="0" indent="0" algn="ctr" rtl="0">
                        <a:spcBef>
                          <a:spcPts val="0"/>
                        </a:spcBef>
                        <a:spcAft>
                          <a:spcPts val="0"/>
                        </a:spcAft>
                        <a:buNone/>
                      </a:pPr>
                      <a:r>
                        <a:rPr lang="en-IN" sz="1200" b="1" dirty="0">
                          <a:solidFill>
                            <a:schemeClr val="tx1">
                              <a:lumMod val="50000"/>
                            </a:schemeClr>
                          </a:solidFill>
                          <a:latin typeface="Akatab" panose="020B0604020202020204" charset="0"/>
                          <a:ea typeface="Akatab" panose="020B0604020202020204" charset="0"/>
                          <a:cs typeface="Akatab" panose="020B0604020202020204" charset="0"/>
                          <a:sym typeface="Josefin Sans"/>
                        </a:rPr>
                        <a:t>CI length</a:t>
                      </a:r>
                      <a:endParaRPr sz="1200" b="1" dirty="0">
                        <a:solidFill>
                          <a:schemeClr val="tx1">
                            <a:lumMod val="50000"/>
                          </a:schemeClr>
                        </a:solidFill>
                        <a:latin typeface="Akatab" panose="020B0604020202020204" charset="0"/>
                        <a:ea typeface="Akatab" panose="020B0604020202020204" charset="0"/>
                        <a:cs typeface="Akatab" panose="020B0604020202020204" charset="0"/>
                        <a:sym typeface="Josefin Sans"/>
                      </a:endParaRPr>
                    </a:p>
                  </a:txBody>
                  <a:tcPr marL="91425" marR="91425" marT="75558" marB="755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0000"/>
                  </a:ext>
                </a:extLst>
              </a:tr>
              <a:tr h="472417">
                <a:tc>
                  <a:txBody>
                    <a:bodyPr/>
                    <a:lstStyle/>
                    <a:p>
                      <a:pPr marL="0" lvl="0" indent="0" algn="ctr" rtl="0">
                        <a:spcBef>
                          <a:spcPts val="0"/>
                        </a:spcBef>
                        <a:spcAft>
                          <a:spcPts val="0"/>
                        </a:spcAft>
                        <a:buNone/>
                      </a:pPr>
                      <a:r>
                        <a:rPr lang="en" sz="1600" b="1" dirty="0">
                          <a:solidFill>
                            <a:schemeClr val="lt1"/>
                          </a:solidFill>
                          <a:latin typeface="Akatab" panose="020B0604020202020204" charset="0"/>
                          <a:ea typeface="Akatab" panose="020B0604020202020204" charset="0"/>
                          <a:cs typeface="Akatab" panose="020B0604020202020204" charset="0"/>
                          <a:sym typeface="Josefin Sans"/>
                        </a:rPr>
                        <a:t>M</a:t>
                      </a:r>
                      <a:r>
                        <a:rPr lang="en-IN" sz="1600" b="1" dirty="0">
                          <a:solidFill>
                            <a:schemeClr val="lt1"/>
                          </a:solidFill>
                          <a:latin typeface="Akatab" panose="020B0604020202020204" charset="0"/>
                          <a:ea typeface="Akatab" panose="020B0604020202020204" charset="0"/>
                          <a:cs typeface="Akatab" panose="020B0604020202020204" charset="0"/>
                          <a:sym typeface="Josefin Sans"/>
                        </a:rPr>
                        <a:t>odel</a:t>
                      </a:r>
                      <a:r>
                        <a:rPr lang="en" sz="1600" b="1" dirty="0">
                          <a:solidFill>
                            <a:schemeClr val="lt1"/>
                          </a:solidFill>
                          <a:latin typeface="Akatab" panose="020B0604020202020204" charset="0"/>
                          <a:ea typeface="Akatab" panose="020B0604020202020204" charset="0"/>
                          <a:cs typeface="Akatab" panose="020B0604020202020204" charset="0"/>
                          <a:sym typeface="Josefin Sans"/>
                        </a:rPr>
                        <a:t> 1</a:t>
                      </a:r>
                      <a:endParaRPr sz="1600" b="1" dirty="0">
                        <a:solidFill>
                          <a:schemeClr val="lt1"/>
                        </a:solidFill>
                        <a:latin typeface="Akatab" panose="020B0604020202020204" charset="0"/>
                        <a:ea typeface="Akatab" panose="020B0604020202020204" charset="0"/>
                        <a:cs typeface="Akatab" panose="020B0604020202020204" charset="0"/>
                        <a:sym typeface="Josefin Sans"/>
                      </a:endParaRPr>
                    </a:p>
                  </a:txBody>
                  <a:tcPr marL="91425" marR="91425" marT="75558" marB="755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tc>
                  <a:txBody>
                    <a:bodyPr/>
                    <a:lstStyle/>
                    <a:p>
                      <a:pPr marL="0" lvl="0" indent="0" algn="ctr" rtl="0">
                        <a:spcBef>
                          <a:spcPts val="0"/>
                        </a:spcBef>
                        <a:spcAft>
                          <a:spcPts val="0"/>
                        </a:spcAft>
                        <a:buNone/>
                      </a:pPr>
                      <a:r>
                        <a:rPr lang="en-IN" sz="1600" dirty="0">
                          <a:latin typeface="Akatab" panose="020B0604020202020204" charset="0"/>
                          <a:ea typeface="Akatab" panose="020B0604020202020204" charset="0"/>
                          <a:cs typeface="Akatab" panose="020B0604020202020204" charset="0"/>
                        </a:rPr>
                        <a:t>100.90</a:t>
                      </a:r>
                      <a:endParaRPr sz="1600" dirty="0">
                        <a:latin typeface="Akatab" panose="020B0604020202020204" charset="0"/>
                        <a:ea typeface="Akatab" panose="020B0604020202020204" charset="0"/>
                        <a:cs typeface="Akatab" panose="020B0604020202020204" charset="0"/>
                      </a:endParaRPr>
                    </a:p>
                  </a:txBody>
                  <a:tcPr marL="91425" marR="91425" marT="75558" marB="755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10000"/>
                        <a:lumOff val="90000"/>
                      </a:schemeClr>
                    </a:solidFill>
                  </a:tcPr>
                </a:tc>
                <a:tc>
                  <a:txBody>
                    <a:bodyPr/>
                    <a:lstStyle/>
                    <a:p>
                      <a:pPr marL="0" lvl="0" indent="0" algn="ctr" rtl="0">
                        <a:spcBef>
                          <a:spcPts val="0"/>
                        </a:spcBef>
                        <a:spcAft>
                          <a:spcPts val="0"/>
                        </a:spcAft>
                        <a:buNone/>
                      </a:pPr>
                      <a:r>
                        <a:rPr lang="en-IN" sz="1600" dirty="0">
                          <a:latin typeface="Akatab" panose="020B0604020202020204" charset="0"/>
                          <a:ea typeface="Akatab" panose="020B0604020202020204" charset="0"/>
                          <a:cs typeface="Akatab" panose="020B0604020202020204" charset="0"/>
                        </a:rPr>
                        <a:t>15.08</a:t>
                      </a:r>
                      <a:endParaRPr sz="1600" dirty="0">
                        <a:latin typeface="Akatab" panose="020B0604020202020204" charset="0"/>
                        <a:ea typeface="Akatab" panose="020B0604020202020204" charset="0"/>
                        <a:cs typeface="Akatab" panose="020B0604020202020204" charset="0"/>
                      </a:endParaRPr>
                    </a:p>
                  </a:txBody>
                  <a:tcPr marL="91425" marR="91425" marT="75558" marB="755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10000"/>
                        <a:lumOff val="90000"/>
                      </a:schemeClr>
                    </a:solidFill>
                  </a:tcPr>
                </a:tc>
                <a:tc>
                  <a:txBody>
                    <a:bodyPr/>
                    <a:lstStyle/>
                    <a:p>
                      <a:pPr marL="0" lvl="0" indent="0" algn="ctr" rtl="0">
                        <a:spcBef>
                          <a:spcPts val="0"/>
                        </a:spcBef>
                        <a:spcAft>
                          <a:spcPts val="0"/>
                        </a:spcAft>
                        <a:buNone/>
                      </a:pPr>
                      <a:r>
                        <a:rPr lang="en-IN" sz="1600" dirty="0">
                          <a:latin typeface="Akatab" panose="020B0604020202020204" charset="0"/>
                          <a:ea typeface="Akatab" panose="020B0604020202020204" charset="0"/>
                          <a:cs typeface="Akatab" panose="020B0604020202020204" charset="0"/>
                        </a:rPr>
                        <a:t>14.95</a:t>
                      </a:r>
                      <a:endParaRPr sz="1600" dirty="0">
                        <a:latin typeface="Akatab" panose="020B0604020202020204" charset="0"/>
                        <a:ea typeface="Akatab" panose="020B0604020202020204" charset="0"/>
                        <a:cs typeface="Akatab" panose="020B0604020202020204" charset="0"/>
                      </a:endParaRPr>
                    </a:p>
                  </a:txBody>
                  <a:tcPr marL="91425" marR="91425" marT="75558" marB="755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10000"/>
                        <a:lumOff val="90000"/>
                      </a:schemeClr>
                    </a:solidFill>
                  </a:tcPr>
                </a:tc>
                <a:tc>
                  <a:txBody>
                    <a:bodyPr/>
                    <a:lstStyle/>
                    <a:p>
                      <a:pPr marL="0" lvl="0" indent="0" algn="ctr" rtl="0">
                        <a:spcBef>
                          <a:spcPts val="0"/>
                        </a:spcBef>
                        <a:spcAft>
                          <a:spcPts val="0"/>
                        </a:spcAft>
                        <a:buNone/>
                      </a:pPr>
                      <a:r>
                        <a:rPr lang="en-IN" sz="1600" dirty="0">
                          <a:latin typeface="Akatab" panose="020B0604020202020204" charset="0"/>
                          <a:ea typeface="Akatab" panose="020B0604020202020204" charset="0"/>
                          <a:cs typeface="Akatab" panose="020B0604020202020204" charset="0"/>
                        </a:rPr>
                        <a:t>60.80</a:t>
                      </a:r>
                      <a:endParaRPr sz="1600" dirty="0">
                        <a:latin typeface="Akatab" panose="020B0604020202020204" charset="0"/>
                        <a:ea typeface="Akatab" panose="020B0604020202020204" charset="0"/>
                        <a:cs typeface="Akatab" panose="020B0604020202020204" charset="0"/>
                      </a:endParaRPr>
                    </a:p>
                  </a:txBody>
                  <a:tcPr marL="91425" marR="91425" marT="75558" marB="755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10000"/>
                        <a:lumOff val="90000"/>
                      </a:schemeClr>
                    </a:solidFill>
                  </a:tcPr>
                </a:tc>
                <a:extLst>
                  <a:ext uri="{0D108BD9-81ED-4DB2-BD59-A6C34878D82A}">
                    <a16:rowId xmlns:a16="http://schemas.microsoft.com/office/drawing/2014/main" val="10001"/>
                  </a:ext>
                </a:extLst>
              </a:tr>
              <a:tr h="472417">
                <a:tc>
                  <a:txBody>
                    <a:bodyPr/>
                    <a:lstStyle/>
                    <a:p>
                      <a:pPr marL="0" lvl="0" indent="0" algn="ctr" rtl="0">
                        <a:spcBef>
                          <a:spcPts val="0"/>
                        </a:spcBef>
                        <a:spcAft>
                          <a:spcPts val="0"/>
                        </a:spcAft>
                        <a:buNone/>
                      </a:pPr>
                      <a:r>
                        <a:rPr lang="en" sz="1600" b="1" dirty="0">
                          <a:solidFill>
                            <a:schemeClr val="lt1"/>
                          </a:solidFill>
                          <a:latin typeface="Akatab" panose="020B0604020202020204" charset="0"/>
                          <a:ea typeface="Akatab" panose="020B0604020202020204" charset="0"/>
                          <a:cs typeface="Akatab" panose="020B0604020202020204" charset="0"/>
                          <a:sym typeface="Josefin Sans"/>
                        </a:rPr>
                        <a:t>M</a:t>
                      </a:r>
                      <a:r>
                        <a:rPr lang="en-IN" sz="1600" b="1" dirty="0">
                          <a:solidFill>
                            <a:schemeClr val="lt1"/>
                          </a:solidFill>
                          <a:latin typeface="Akatab" panose="020B0604020202020204" charset="0"/>
                          <a:ea typeface="Akatab" panose="020B0604020202020204" charset="0"/>
                          <a:cs typeface="Akatab" panose="020B0604020202020204" charset="0"/>
                          <a:sym typeface="Josefin Sans"/>
                        </a:rPr>
                        <a:t>odel</a:t>
                      </a:r>
                      <a:r>
                        <a:rPr lang="en" sz="1600" b="1" dirty="0">
                          <a:solidFill>
                            <a:schemeClr val="lt1"/>
                          </a:solidFill>
                          <a:latin typeface="Akatab" panose="020B0604020202020204" charset="0"/>
                          <a:ea typeface="Akatab" panose="020B0604020202020204" charset="0"/>
                          <a:cs typeface="Akatab" panose="020B0604020202020204" charset="0"/>
                          <a:sym typeface="Josefin Sans"/>
                        </a:rPr>
                        <a:t> 2</a:t>
                      </a:r>
                      <a:endParaRPr sz="1600" b="1" dirty="0">
                        <a:solidFill>
                          <a:schemeClr val="lt1"/>
                        </a:solidFill>
                        <a:latin typeface="Akatab" panose="020B0604020202020204" charset="0"/>
                        <a:ea typeface="Akatab" panose="020B0604020202020204" charset="0"/>
                        <a:cs typeface="Akatab" panose="020B0604020202020204" charset="0"/>
                        <a:sym typeface="Josefin Sans"/>
                      </a:endParaRPr>
                    </a:p>
                  </a:txBody>
                  <a:tcPr marL="91425" marR="91425" marT="75558" marB="755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tc>
                  <a:txBody>
                    <a:bodyPr/>
                    <a:lstStyle/>
                    <a:p>
                      <a:pPr marL="0" lvl="0" indent="0" algn="ctr" rtl="0">
                        <a:spcBef>
                          <a:spcPts val="0"/>
                        </a:spcBef>
                        <a:spcAft>
                          <a:spcPts val="0"/>
                        </a:spcAft>
                        <a:buNone/>
                      </a:pPr>
                      <a:r>
                        <a:rPr lang="en-IN" sz="1600" dirty="0">
                          <a:latin typeface="Akatab" panose="020B0604020202020204" charset="0"/>
                          <a:ea typeface="Akatab" panose="020B0604020202020204" charset="0"/>
                          <a:cs typeface="Akatab" panose="020B0604020202020204" charset="0"/>
                        </a:rPr>
                        <a:t>110.73</a:t>
                      </a:r>
                      <a:endParaRPr sz="1600" dirty="0">
                        <a:latin typeface="Akatab" panose="020B0604020202020204" charset="0"/>
                        <a:ea typeface="Akatab" panose="020B0604020202020204" charset="0"/>
                        <a:cs typeface="Akatab" panose="020B0604020202020204" charset="0"/>
                      </a:endParaRPr>
                    </a:p>
                  </a:txBody>
                  <a:tcPr marL="91425" marR="91425" marT="75558" marB="755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10000"/>
                        <a:lumOff val="90000"/>
                      </a:schemeClr>
                    </a:solidFill>
                  </a:tcPr>
                </a:tc>
                <a:tc>
                  <a:txBody>
                    <a:bodyPr/>
                    <a:lstStyle/>
                    <a:p>
                      <a:pPr marL="0" lvl="0" indent="0" algn="ctr" rtl="0">
                        <a:spcBef>
                          <a:spcPts val="0"/>
                        </a:spcBef>
                        <a:spcAft>
                          <a:spcPts val="0"/>
                        </a:spcAft>
                        <a:buNone/>
                      </a:pPr>
                      <a:r>
                        <a:rPr lang="en-IN" sz="1600" dirty="0">
                          <a:latin typeface="Akatab" panose="020B0604020202020204" charset="0"/>
                          <a:ea typeface="Akatab" panose="020B0604020202020204" charset="0"/>
                          <a:cs typeface="Akatab" panose="020B0604020202020204" charset="0"/>
                        </a:rPr>
                        <a:t>12.97</a:t>
                      </a:r>
                      <a:endParaRPr sz="1600" dirty="0">
                        <a:latin typeface="Akatab" panose="020B0604020202020204" charset="0"/>
                        <a:ea typeface="Akatab" panose="020B0604020202020204" charset="0"/>
                        <a:cs typeface="Akatab" panose="020B0604020202020204" charset="0"/>
                      </a:endParaRPr>
                    </a:p>
                  </a:txBody>
                  <a:tcPr marL="91425" marR="91425" marT="75558" marB="755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10000"/>
                        <a:lumOff val="90000"/>
                      </a:schemeClr>
                    </a:solidFill>
                  </a:tcPr>
                </a:tc>
                <a:tc>
                  <a:txBody>
                    <a:bodyPr/>
                    <a:lstStyle/>
                    <a:p>
                      <a:pPr marL="0" lvl="0" indent="0" algn="ctr" rtl="0">
                        <a:spcBef>
                          <a:spcPts val="0"/>
                        </a:spcBef>
                        <a:spcAft>
                          <a:spcPts val="0"/>
                        </a:spcAft>
                        <a:buNone/>
                      </a:pPr>
                      <a:r>
                        <a:rPr lang="en-IN" sz="1600" dirty="0">
                          <a:latin typeface="Akatab" panose="020B0604020202020204" charset="0"/>
                          <a:ea typeface="Akatab" panose="020B0604020202020204" charset="0"/>
                          <a:cs typeface="Akatab" panose="020B0604020202020204" charset="0"/>
                        </a:rPr>
                        <a:t>11.71</a:t>
                      </a:r>
                      <a:endParaRPr sz="1600" dirty="0">
                        <a:latin typeface="Akatab" panose="020B0604020202020204" charset="0"/>
                        <a:ea typeface="Akatab" panose="020B0604020202020204" charset="0"/>
                        <a:cs typeface="Akatab" panose="020B0604020202020204" charset="0"/>
                      </a:endParaRPr>
                    </a:p>
                  </a:txBody>
                  <a:tcPr marL="91425" marR="91425" marT="75558" marB="755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10000"/>
                        <a:lumOff val="90000"/>
                      </a:schemeClr>
                    </a:solidFill>
                  </a:tcPr>
                </a:tc>
                <a:tc>
                  <a:txBody>
                    <a:bodyPr/>
                    <a:lstStyle/>
                    <a:p>
                      <a:pPr marL="0" lvl="0" indent="0" algn="ctr" rtl="0">
                        <a:spcBef>
                          <a:spcPts val="0"/>
                        </a:spcBef>
                        <a:spcAft>
                          <a:spcPts val="0"/>
                        </a:spcAft>
                        <a:buNone/>
                      </a:pPr>
                      <a:r>
                        <a:rPr lang="en-IN" sz="1600" dirty="0">
                          <a:latin typeface="Akatab" panose="020B0604020202020204" charset="0"/>
                          <a:ea typeface="Akatab" panose="020B0604020202020204" charset="0"/>
                          <a:cs typeface="Akatab" panose="020B0604020202020204" charset="0"/>
                        </a:rPr>
                        <a:t>50.85</a:t>
                      </a:r>
                      <a:endParaRPr sz="1600" dirty="0">
                        <a:latin typeface="Akatab" panose="020B0604020202020204" charset="0"/>
                        <a:ea typeface="Akatab" panose="020B0604020202020204" charset="0"/>
                        <a:cs typeface="Akatab" panose="020B0604020202020204" charset="0"/>
                      </a:endParaRPr>
                    </a:p>
                  </a:txBody>
                  <a:tcPr marL="91425" marR="91425" marT="75558" marB="755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10000"/>
                        <a:lumOff val="90000"/>
                      </a:schemeClr>
                    </a:solidFill>
                  </a:tcPr>
                </a:tc>
                <a:extLst>
                  <a:ext uri="{0D108BD9-81ED-4DB2-BD59-A6C34878D82A}">
                    <a16:rowId xmlns:a16="http://schemas.microsoft.com/office/drawing/2014/main" val="10002"/>
                  </a:ext>
                </a:extLst>
              </a:tr>
              <a:tr h="472417">
                <a:tc>
                  <a:txBody>
                    <a:bodyPr/>
                    <a:lstStyle/>
                    <a:p>
                      <a:pPr marL="0" lvl="0" indent="0" algn="ctr" rtl="0">
                        <a:spcBef>
                          <a:spcPts val="0"/>
                        </a:spcBef>
                        <a:spcAft>
                          <a:spcPts val="0"/>
                        </a:spcAft>
                        <a:buNone/>
                      </a:pPr>
                      <a:r>
                        <a:rPr lang="en" sz="1600" b="1" dirty="0">
                          <a:solidFill>
                            <a:schemeClr val="lt1"/>
                          </a:solidFill>
                          <a:latin typeface="Akatab" panose="020B0604020202020204" charset="0"/>
                          <a:ea typeface="Akatab" panose="020B0604020202020204" charset="0"/>
                          <a:cs typeface="Akatab" panose="020B0604020202020204" charset="0"/>
                          <a:sym typeface="Josefin Sans"/>
                        </a:rPr>
                        <a:t>M</a:t>
                      </a:r>
                      <a:r>
                        <a:rPr lang="en-IN" sz="1600" b="1" dirty="0">
                          <a:solidFill>
                            <a:schemeClr val="lt1"/>
                          </a:solidFill>
                          <a:latin typeface="Akatab" panose="020B0604020202020204" charset="0"/>
                          <a:ea typeface="Akatab" panose="020B0604020202020204" charset="0"/>
                          <a:cs typeface="Akatab" panose="020B0604020202020204" charset="0"/>
                          <a:sym typeface="Josefin Sans"/>
                        </a:rPr>
                        <a:t>odel</a:t>
                      </a:r>
                      <a:r>
                        <a:rPr lang="en" sz="1600" b="1" dirty="0">
                          <a:solidFill>
                            <a:schemeClr val="lt1"/>
                          </a:solidFill>
                          <a:latin typeface="Akatab" panose="020B0604020202020204" charset="0"/>
                          <a:ea typeface="Akatab" panose="020B0604020202020204" charset="0"/>
                          <a:cs typeface="Akatab" panose="020B0604020202020204" charset="0"/>
                          <a:sym typeface="Josefin Sans"/>
                        </a:rPr>
                        <a:t> 3</a:t>
                      </a:r>
                      <a:endParaRPr sz="1600" b="1" dirty="0">
                        <a:solidFill>
                          <a:schemeClr val="lt1"/>
                        </a:solidFill>
                        <a:latin typeface="Akatab" panose="020B0604020202020204" charset="0"/>
                        <a:ea typeface="Akatab" panose="020B0604020202020204" charset="0"/>
                        <a:cs typeface="Akatab" panose="020B0604020202020204" charset="0"/>
                        <a:sym typeface="Josefin Sans"/>
                      </a:endParaRPr>
                    </a:p>
                  </a:txBody>
                  <a:tcPr marL="91425" marR="91425" marT="75558" marB="7555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tc>
                  <a:txBody>
                    <a:bodyPr/>
                    <a:lstStyle/>
                    <a:p>
                      <a:pPr marL="0" lvl="0" indent="0" algn="ctr" rtl="0">
                        <a:spcBef>
                          <a:spcPts val="0"/>
                        </a:spcBef>
                        <a:spcAft>
                          <a:spcPts val="0"/>
                        </a:spcAft>
                        <a:buNone/>
                      </a:pPr>
                      <a:r>
                        <a:rPr lang="en-IN" sz="1600" dirty="0">
                          <a:latin typeface="Akatab" panose="020B0604020202020204" charset="0"/>
                          <a:ea typeface="Akatab" panose="020B0604020202020204" charset="0"/>
                          <a:cs typeface="Akatab" panose="020B0604020202020204" charset="0"/>
                        </a:rPr>
                        <a:t>125.22</a:t>
                      </a:r>
                      <a:endParaRPr sz="1600" dirty="0">
                        <a:latin typeface="Akatab" panose="020B0604020202020204" charset="0"/>
                        <a:ea typeface="Akatab" panose="020B0604020202020204" charset="0"/>
                        <a:cs typeface="Akatab" panose="020B0604020202020204" charset="0"/>
                      </a:endParaRPr>
                    </a:p>
                  </a:txBody>
                  <a:tcPr marL="91425" marR="91425" marT="75558" marB="755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10000"/>
                        <a:lumOff val="90000"/>
                      </a:schemeClr>
                    </a:solidFill>
                  </a:tcPr>
                </a:tc>
                <a:tc>
                  <a:txBody>
                    <a:bodyPr/>
                    <a:lstStyle/>
                    <a:p>
                      <a:pPr marL="0" lvl="0" indent="0" algn="ctr" rtl="0">
                        <a:spcBef>
                          <a:spcPts val="0"/>
                        </a:spcBef>
                        <a:spcAft>
                          <a:spcPts val="0"/>
                        </a:spcAft>
                        <a:buNone/>
                      </a:pPr>
                      <a:r>
                        <a:rPr lang="en-IN" sz="1600" dirty="0">
                          <a:latin typeface="Akatab" panose="020B0604020202020204" charset="0"/>
                          <a:ea typeface="Akatab" panose="020B0604020202020204" charset="0"/>
                          <a:cs typeface="Akatab" panose="020B0604020202020204" charset="0"/>
                        </a:rPr>
                        <a:t>13.24</a:t>
                      </a:r>
                      <a:endParaRPr sz="1600" dirty="0">
                        <a:latin typeface="Akatab" panose="020B0604020202020204" charset="0"/>
                        <a:ea typeface="Akatab" panose="020B0604020202020204" charset="0"/>
                        <a:cs typeface="Akatab" panose="020B0604020202020204" charset="0"/>
                      </a:endParaRPr>
                    </a:p>
                  </a:txBody>
                  <a:tcPr marL="91425" marR="91425" marT="75558" marB="755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10000"/>
                        <a:lumOff val="90000"/>
                      </a:schemeClr>
                    </a:solidFill>
                  </a:tcPr>
                </a:tc>
                <a:tc>
                  <a:txBody>
                    <a:bodyPr/>
                    <a:lstStyle/>
                    <a:p>
                      <a:pPr marL="0" lvl="0" indent="0" algn="ctr" rtl="0">
                        <a:spcBef>
                          <a:spcPts val="0"/>
                        </a:spcBef>
                        <a:spcAft>
                          <a:spcPts val="0"/>
                        </a:spcAft>
                        <a:buNone/>
                      </a:pPr>
                      <a:r>
                        <a:rPr lang="en-IN" sz="1600" dirty="0">
                          <a:latin typeface="Akatab" panose="020B0604020202020204" charset="0"/>
                          <a:ea typeface="Akatab" panose="020B0604020202020204" charset="0"/>
                          <a:cs typeface="Akatab" panose="020B0604020202020204" charset="0"/>
                        </a:rPr>
                        <a:t>10.58</a:t>
                      </a:r>
                      <a:endParaRPr sz="1600" dirty="0">
                        <a:latin typeface="Akatab" panose="020B0604020202020204" charset="0"/>
                        <a:ea typeface="Akatab" panose="020B0604020202020204" charset="0"/>
                        <a:cs typeface="Akatab" panose="020B0604020202020204" charset="0"/>
                      </a:endParaRPr>
                    </a:p>
                  </a:txBody>
                  <a:tcPr marL="91425" marR="91425" marT="75558" marB="755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10000"/>
                        <a:lumOff val="90000"/>
                      </a:schemeClr>
                    </a:solidFill>
                  </a:tcPr>
                </a:tc>
                <a:tc>
                  <a:txBody>
                    <a:bodyPr/>
                    <a:lstStyle/>
                    <a:p>
                      <a:pPr marL="0" lvl="0" indent="0" algn="ctr" rtl="0">
                        <a:spcBef>
                          <a:spcPts val="0"/>
                        </a:spcBef>
                        <a:spcAft>
                          <a:spcPts val="0"/>
                        </a:spcAft>
                        <a:buNone/>
                      </a:pPr>
                      <a:r>
                        <a:rPr lang="en-IN" sz="1600" dirty="0">
                          <a:latin typeface="Akatab" panose="020B0604020202020204" charset="0"/>
                          <a:ea typeface="Akatab" panose="020B0604020202020204" charset="0"/>
                          <a:cs typeface="Akatab" panose="020B0604020202020204" charset="0"/>
                        </a:rPr>
                        <a:t>51.95</a:t>
                      </a:r>
                      <a:endParaRPr sz="1600" dirty="0">
                        <a:latin typeface="Akatab" panose="020B0604020202020204" charset="0"/>
                        <a:ea typeface="Akatab" panose="020B0604020202020204" charset="0"/>
                        <a:cs typeface="Akatab" panose="020B0604020202020204" charset="0"/>
                      </a:endParaRPr>
                    </a:p>
                  </a:txBody>
                  <a:tcPr marL="91425" marR="91425" marT="75558" marB="7555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10000"/>
                        <a:lumOff val="90000"/>
                      </a:scheme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95078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53"/>
          <p:cNvSpPr txBox="1">
            <a:spLocks noGrp="1"/>
          </p:cNvSpPr>
          <p:nvPr>
            <p:ph type="title"/>
          </p:nvPr>
        </p:nvSpPr>
        <p:spPr>
          <a:xfrm>
            <a:off x="2300201" y="1417500"/>
            <a:ext cx="4543597" cy="2308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dirty="0"/>
              <a:t>Model Diagnostics</a:t>
            </a:r>
            <a:endParaRPr dirty="0"/>
          </a:p>
        </p:txBody>
      </p:sp>
    </p:spTree>
    <p:extLst>
      <p:ext uri="{BB962C8B-B14F-4D97-AF65-F5344CB8AC3E}">
        <p14:creationId xmlns:p14="http://schemas.microsoft.com/office/powerpoint/2010/main" val="1040344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grpSp>
        <p:nvGrpSpPr>
          <p:cNvPr id="434" name="Google Shape;434;p44"/>
          <p:cNvGrpSpPr/>
          <p:nvPr/>
        </p:nvGrpSpPr>
        <p:grpSpPr>
          <a:xfrm flipH="1">
            <a:off x="576156" y="508623"/>
            <a:ext cx="8385900" cy="90900"/>
            <a:chOff x="160950" y="480600"/>
            <a:chExt cx="8385900" cy="90900"/>
          </a:xfrm>
        </p:grpSpPr>
        <p:cxnSp>
          <p:nvCxnSpPr>
            <p:cNvPr id="435" name="Google Shape;435;p44"/>
            <p:cNvCxnSpPr/>
            <p:nvPr/>
          </p:nvCxnSpPr>
          <p:spPr>
            <a:xfrm>
              <a:off x="160950" y="571500"/>
              <a:ext cx="8385900" cy="0"/>
            </a:xfrm>
            <a:prstGeom prst="straightConnector1">
              <a:avLst/>
            </a:prstGeom>
            <a:noFill/>
            <a:ln w="9525" cap="flat" cmpd="sng">
              <a:solidFill>
                <a:schemeClr val="lt1"/>
              </a:solidFill>
              <a:prstDash val="solid"/>
              <a:round/>
              <a:headEnd type="none" w="med" len="med"/>
              <a:tailEnd type="none" w="med" len="med"/>
            </a:ln>
          </p:spPr>
        </p:cxnSp>
        <p:sp>
          <p:nvSpPr>
            <p:cNvPr id="436" name="Google Shape;436;p44"/>
            <p:cNvSpPr/>
            <p:nvPr/>
          </p:nvSpPr>
          <p:spPr>
            <a:xfrm>
              <a:off x="8041650" y="480600"/>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37" name="Google Shape;437;p44"/>
          <p:cNvGrpSpPr/>
          <p:nvPr/>
        </p:nvGrpSpPr>
        <p:grpSpPr>
          <a:xfrm rot="10800000">
            <a:off x="7961770" y="1295598"/>
            <a:ext cx="90900" cy="3697200"/>
            <a:chOff x="1113520" y="156298"/>
            <a:chExt cx="90900" cy="3697200"/>
          </a:xfrm>
        </p:grpSpPr>
        <p:sp>
          <p:nvSpPr>
            <p:cNvPr id="438" name="Google Shape;438;p44"/>
            <p:cNvSpPr/>
            <p:nvPr/>
          </p:nvSpPr>
          <p:spPr>
            <a:xfrm rot="-5400000">
              <a:off x="906370" y="3555448"/>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439" name="Google Shape;439;p44"/>
            <p:cNvCxnSpPr/>
            <p:nvPr/>
          </p:nvCxnSpPr>
          <p:spPr>
            <a:xfrm rot="10800000">
              <a:off x="1121185" y="156298"/>
              <a:ext cx="0" cy="3434700"/>
            </a:xfrm>
            <a:prstGeom prst="straightConnector1">
              <a:avLst/>
            </a:prstGeom>
            <a:noFill/>
            <a:ln w="9525" cap="flat" cmpd="sng">
              <a:solidFill>
                <a:schemeClr val="lt1"/>
              </a:solidFill>
              <a:prstDash val="solid"/>
              <a:round/>
              <a:headEnd type="none" w="med" len="med"/>
              <a:tailEnd type="none" w="med" len="med"/>
            </a:ln>
          </p:spPr>
        </p:cxnSp>
      </p:grpSp>
      <p:sp>
        <p:nvSpPr>
          <p:cNvPr id="7" name="Subtitle 6">
            <a:extLst>
              <a:ext uri="{FF2B5EF4-FFF2-40B4-BE49-F238E27FC236}">
                <a16:creationId xmlns:a16="http://schemas.microsoft.com/office/drawing/2014/main" id="{0ED35AA3-08F2-4E19-B181-2E2B8A18C3AC}"/>
              </a:ext>
            </a:extLst>
          </p:cNvPr>
          <p:cNvSpPr>
            <a:spLocks noGrp="1"/>
          </p:cNvSpPr>
          <p:nvPr>
            <p:ph type="subTitle" idx="1"/>
          </p:nvPr>
        </p:nvSpPr>
        <p:spPr>
          <a:xfrm>
            <a:off x="1242441" y="822147"/>
            <a:ext cx="6659113" cy="636635"/>
          </a:xfrm>
        </p:spPr>
        <p:txBody>
          <a:bodyPr/>
          <a:lstStyle/>
          <a:p>
            <a:pPr algn="ctr"/>
            <a:r>
              <a:rPr lang="en-IN" sz="2800" b="1" dirty="0">
                <a:latin typeface="Noto Serif Ethiopic" panose="020B0604020202020204" charset="0"/>
              </a:rPr>
              <a:t>WinBUGS output</a:t>
            </a:r>
          </a:p>
        </p:txBody>
      </p:sp>
      <p:pic>
        <p:nvPicPr>
          <p:cNvPr id="2" name="Picture 1">
            <a:extLst>
              <a:ext uri="{FF2B5EF4-FFF2-40B4-BE49-F238E27FC236}">
                <a16:creationId xmlns:a16="http://schemas.microsoft.com/office/drawing/2014/main" id="{199C9BBB-A629-49DF-98AA-7BA11310B541}"/>
              </a:ext>
            </a:extLst>
          </p:cNvPr>
          <p:cNvPicPr>
            <a:picLocks noChangeAspect="1"/>
          </p:cNvPicPr>
          <p:nvPr/>
        </p:nvPicPr>
        <p:blipFill>
          <a:blip r:embed="rId3"/>
          <a:stretch>
            <a:fillRect/>
          </a:stretch>
        </p:blipFill>
        <p:spPr>
          <a:xfrm>
            <a:off x="1457016" y="1949404"/>
            <a:ext cx="6229962" cy="181496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5" name="Google Shape;555;p56"/>
          <p:cNvSpPr txBox="1">
            <a:spLocks noGrp="1"/>
          </p:cNvSpPr>
          <p:nvPr>
            <p:ph type="title"/>
          </p:nvPr>
        </p:nvSpPr>
        <p:spPr>
          <a:xfrm>
            <a:off x="506206" y="196656"/>
            <a:ext cx="4498414" cy="776738"/>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IN" sz="2800" b="1" dirty="0"/>
              <a:t>Model 1: Using SRSWOR</a:t>
            </a:r>
            <a:endParaRPr sz="2800" b="1" dirty="0"/>
          </a:p>
        </p:txBody>
      </p:sp>
      <p:sp>
        <p:nvSpPr>
          <p:cNvPr id="556" name="Google Shape;556;p56"/>
          <p:cNvSpPr txBox="1">
            <a:spLocks noGrp="1"/>
          </p:cNvSpPr>
          <p:nvPr>
            <p:ph type="subTitle" idx="1"/>
          </p:nvPr>
        </p:nvSpPr>
        <p:spPr>
          <a:xfrm>
            <a:off x="6184492" y="1217663"/>
            <a:ext cx="2616916" cy="2708173"/>
          </a:xfrm>
          <a:prstGeom prst="rect">
            <a:avLst/>
          </a:prstGeom>
        </p:spPr>
        <p:txBody>
          <a:bodyPr spcFirstLastPara="1" wrap="square" lIns="91425" tIns="91425" rIns="91425" bIns="91425" anchor="t" anchorCtr="0">
            <a:noAutofit/>
          </a:bodyPr>
          <a:lstStyle/>
          <a:p>
            <a:pPr marL="0" lvl="0" indent="0">
              <a:buNone/>
            </a:pPr>
            <a:r>
              <a:rPr lang="en-US" sz="1400" dirty="0">
                <a:solidFill>
                  <a:schemeClr val="tx1">
                    <a:lumMod val="50000"/>
                  </a:schemeClr>
                </a:solidFill>
              </a:rPr>
              <a:t>Every well, sampled or not, is treated as coming from one shared normal distribution with unknown mean and variance. A weak prior is updated with the sampled readings, then plausible values are simulated for every unsampled well. Repeating this thousands of times builds a full posterior distribution for the population total.</a:t>
            </a:r>
          </a:p>
        </p:txBody>
      </p:sp>
      <p:pic>
        <p:nvPicPr>
          <p:cNvPr id="16" name="Picture 15">
            <a:extLst>
              <a:ext uri="{FF2B5EF4-FFF2-40B4-BE49-F238E27FC236}">
                <a16:creationId xmlns:a16="http://schemas.microsoft.com/office/drawing/2014/main" id="{87A100BB-791C-409C-A6FF-44586050C78F}"/>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6206" y="1398913"/>
            <a:ext cx="5585338" cy="2500282"/>
          </a:xfrm>
          <a:prstGeom prst="rect">
            <a:avLst/>
          </a:prstGeom>
        </p:spPr>
      </p:pic>
      <p:sp>
        <p:nvSpPr>
          <p:cNvPr id="12" name="TextBox 11">
            <a:extLst>
              <a:ext uri="{FF2B5EF4-FFF2-40B4-BE49-F238E27FC236}">
                <a16:creationId xmlns:a16="http://schemas.microsoft.com/office/drawing/2014/main" id="{B9D6836D-C4F2-4926-80F5-0038224EF1ED}"/>
              </a:ext>
            </a:extLst>
          </p:cNvPr>
          <p:cNvSpPr txBox="1"/>
          <p:nvPr/>
        </p:nvSpPr>
        <p:spPr>
          <a:xfrm>
            <a:off x="884903" y="4011561"/>
            <a:ext cx="3362632" cy="523220"/>
          </a:xfrm>
          <a:prstGeom prst="rect">
            <a:avLst/>
          </a:prstGeom>
          <a:solidFill>
            <a:schemeClr val="accent2">
              <a:lumMod val="90000"/>
              <a:lumOff val="10000"/>
            </a:schemeClr>
          </a:solidFill>
        </p:spPr>
        <p:txBody>
          <a:bodyPr wrap="square" rtlCol="0">
            <a:spAutoFit/>
          </a:bodyPr>
          <a:lstStyle/>
          <a:p>
            <a:r>
              <a:rPr lang="en-IN" dirty="0">
                <a:solidFill>
                  <a:schemeClr val="bg1"/>
                </a:solidFill>
                <a:latin typeface="Akatab" panose="020B0604020202020204" charset="0"/>
                <a:ea typeface="Akatab" panose="020B0604020202020204" charset="0"/>
                <a:cs typeface="Akatab" panose="020B0604020202020204" charset="0"/>
              </a:rPr>
              <a:t>Posterior Mean: 100.90 ug/L</a:t>
            </a:r>
          </a:p>
          <a:p>
            <a:r>
              <a:rPr lang="en-IN" dirty="0">
                <a:solidFill>
                  <a:schemeClr val="bg1"/>
                </a:solidFill>
                <a:latin typeface="Akatab" panose="020B0604020202020204" charset="0"/>
                <a:ea typeface="Akatab" panose="020B0604020202020204" charset="0"/>
                <a:cs typeface="Akatab" panose="020B0604020202020204" charset="0"/>
              </a:rPr>
              <a:t>Credible Interval: 70.97 – 131.77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5" name="Google Shape;555;p56"/>
          <p:cNvSpPr txBox="1">
            <a:spLocks noGrp="1"/>
          </p:cNvSpPr>
          <p:nvPr>
            <p:ph type="title"/>
          </p:nvPr>
        </p:nvSpPr>
        <p:spPr>
          <a:xfrm>
            <a:off x="506206" y="196656"/>
            <a:ext cx="4862208" cy="776738"/>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IN" sz="2800" b="1" dirty="0"/>
              <a:t>Model 2: Approximate HT</a:t>
            </a:r>
            <a:endParaRPr sz="2800" b="1" dirty="0"/>
          </a:p>
        </p:txBody>
      </p:sp>
      <p:sp>
        <p:nvSpPr>
          <p:cNvPr id="556" name="Google Shape;556;p56"/>
          <p:cNvSpPr txBox="1">
            <a:spLocks noGrp="1"/>
          </p:cNvSpPr>
          <p:nvPr>
            <p:ph type="subTitle" idx="1"/>
          </p:nvPr>
        </p:nvSpPr>
        <p:spPr>
          <a:xfrm>
            <a:off x="6204156" y="1075864"/>
            <a:ext cx="2616916" cy="2946912"/>
          </a:xfrm>
          <a:prstGeom prst="rect">
            <a:avLst/>
          </a:prstGeom>
        </p:spPr>
        <p:txBody>
          <a:bodyPr spcFirstLastPara="1" wrap="square" lIns="91425" tIns="91425" rIns="91425" bIns="91425" anchor="t" anchorCtr="0">
            <a:noAutofit/>
          </a:bodyPr>
          <a:lstStyle/>
          <a:p>
            <a:pPr marL="0" lvl="0" indent="0">
              <a:buNone/>
            </a:pPr>
            <a:r>
              <a:rPr lang="en-US" sz="1400" dirty="0">
                <a:solidFill>
                  <a:schemeClr val="tx1">
                    <a:lumMod val="50000"/>
                  </a:schemeClr>
                </a:solidFill>
              </a:rPr>
              <a:t>Each well's reading is modelled as proportional to its inclusion probability, scaled by one unknown constant plus random noise. The sampled data fit that constant, which then reconstructs the population total in the classical weighted way — each reading divided by its inclusion chance — plus a small correction that shrinks as the sample grows.</a:t>
            </a:r>
          </a:p>
        </p:txBody>
      </p:sp>
      <p:pic>
        <p:nvPicPr>
          <p:cNvPr id="5" name="Picture 4">
            <a:extLst>
              <a:ext uri="{FF2B5EF4-FFF2-40B4-BE49-F238E27FC236}">
                <a16:creationId xmlns:a16="http://schemas.microsoft.com/office/drawing/2014/main" id="{A5C5F481-CE29-4C7B-A0AF-8B1267EC5A44}"/>
              </a:ext>
            </a:extLst>
          </p:cNvPr>
          <p:cNvPicPr/>
          <p:nvPr/>
        </p:nvPicPr>
        <p:blipFill>
          <a:blip r:embed="rId3">
            <a:clrChange>
              <a:clrFrom>
                <a:srgbClr val="F7F7F7"/>
              </a:clrFrom>
              <a:clrTo>
                <a:srgbClr val="F7F7F7">
                  <a:alpha val="0"/>
                </a:srgbClr>
              </a:clrTo>
            </a:clrChange>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506205" y="1445342"/>
            <a:ext cx="5471807" cy="2207957"/>
          </a:xfrm>
          <a:prstGeom prst="rect">
            <a:avLst/>
          </a:prstGeom>
        </p:spPr>
      </p:pic>
      <p:sp>
        <p:nvSpPr>
          <p:cNvPr id="6" name="TextBox 5">
            <a:extLst>
              <a:ext uri="{FF2B5EF4-FFF2-40B4-BE49-F238E27FC236}">
                <a16:creationId xmlns:a16="http://schemas.microsoft.com/office/drawing/2014/main" id="{47C898ED-F5DC-4E45-B2F7-CF41431111FD}"/>
              </a:ext>
            </a:extLst>
          </p:cNvPr>
          <p:cNvSpPr txBox="1"/>
          <p:nvPr/>
        </p:nvSpPr>
        <p:spPr>
          <a:xfrm>
            <a:off x="884903" y="4011561"/>
            <a:ext cx="3362632" cy="523220"/>
          </a:xfrm>
          <a:prstGeom prst="rect">
            <a:avLst/>
          </a:prstGeom>
          <a:solidFill>
            <a:schemeClr val="accent2">
              <a:lumMod val="90000"/>
              <a:lumOff val="10000"/>
            </a:schemeClr>
          </a:solidFill>
        </p:spPr>
        <p:txBody>
          <a:bodyPr wrap="square" rtlCol="0">
            <a:spAutoFit/>
          </a:bodyPr>
          <a:lstStyle/>
          <a:p>
            <a:r>
              <a:rPr lang="en-IN" dirty="0">
                <a:solidFill>
                  <a:schemeClr val="bg1"/>
                </a:solidFill>
                <a:latin typeface="Akatab" panose="020B0604020202020204" charset="0"/>
                <a:ea typeface="Akatab" panose="020B0604020202020204" charset="0"/>
                <a:cs typeface="Akatab" panose="020B0604020202020204" charset="0"/>
              </a:rPr>
              <a:t>Posterior Mean: 110.73 ug/L</a:t>
            </a:r>
          </a:p>
          <a:p>
            <a:r>
              <a:rPr lang="en-IN" dirty="0">
                <a:solidFill>
                  <a:schemeClr val="bg1"/>
                </a:solidFill>
                <a:latin typeface="Akatab" panose="020B0604020202020204" charset="0"/>
                <a:ea typeface="Akatab" panose="020B0604020202020204" charset="0"/>
                <a:cs typeface="Akatab" panose="020B0604020202020204" charset="0"/>
              </a:rPr>
              <a:t>Credible Interval: 85.30 – 136.15</a:t>
            </a:r>
          </a:p>
        </p:txBody>
      </p:sp>
    </p:spTree>
    <p:extLst>
      <p:ext uri="{BB962C8B-B14F-4D97-AF65-F5344CB8AC3E}">
        <p14:creationId xmlns:p14="http://schemas.microsoft.com/office/powerpoint/2010/main" val="3794931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5" name="Google Shape;555;p56"/>
          <p:cNvSpPr txBox="1">
            <a:spLocks noGrp="1"/>
          </p:cNvSpPr>
          <p:nvPr>
            <p:ph type="title"/>
          </p:nvPr>
        </p:nvSpPr>
        <p:spPr>
          <a:xfrm>
            <a:off x="506205" y="196656"/>
            <a:ext cx="3475859" cy="776738"/>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IN" sz="2800" b="1" dirty="0"/>
              <a:t>Model 3: Exact HT</a:t>
            </a:r>
            <a:endParaRPr sz="2800" b="1" dirty="0"/>
          </a:p>
        </p:txBody>
      </p:sp>
      <p:sp>
        <p:nvSpPr>
          <p:cNvPr id="556" name="Google Shape;556;p56"/>
          <p:cNvSpPr txBox="1">
            <a:spLocks noGrp="1"/>
          </p:cNvSpPr>
          <p:nvPr>
            <p:ph type="subTitle" idx="1"/>
          </p:nvPr>
        </p:nvSpPr>
        <p:spPr>
          <a:xfrm>
            <a:off x="6204156" y="1315986"/>
            <a:ext cx="2616916" cy="2511528"/>
          </a:xfrm>
          <a:prstGeom prst="rect">
            <a:avLst/>
          </a:prstGeom>
        </p:spPr>
        <p:txBody>
          <a:bodyPr spcFirstLastPara="1" wrap="square" lIns="91425" tIns="91425" rIns="91425" bIns="91425" anchor="t" anchorCtr="0">
            <a:noAutofit/>
          </a:bodyPr>
          <a:lstStyle/>
          <a:p>
            <a:pPr marL="0" lvl="0" indent="0">
              <a:buNone/>
            </a:pPr>
            <a:r>
              <a:rPr lang="en-US" sz="1400" dirty="0">
                <a:solidFill>
                  <a:schemeClr val="tx1">
                    <a:lumMod val="50000"/>
                  </a:schemeClr>
                </a:solidFill>
              </a:rPr>
              <a:t>Structurally the same as Model 2, but the noise allowed for each well is set exactly in proportion to its inclusion probability. That specific choice cancels the correction term entirely, so the posterior answer matches the classical weighted (Horvitz–Thompson) estimate exactly, regardless of sample size.</a:t>
            </a:r>
          </a:p>
        </p:txBody>
      </p:sp>
      <p:pic>
        <p:nvPicPr>
          <p:cNvPr id="5" name="Picture 4">
            <a:extLst>
              <a:ext uri="{FF2B5EF4-FFF2-40B4-BE49-F238E27FC236}">
                <a16:creationId xmlns:a16="http://schemas.microsoft.com/office/drawing/2014/main" id="{AB3B2A08-AAFA-407E-963E-F073B5C945C0}"/>
              </a:ext>
            </a:extLst>
          </p:cNvPr>
          <p:cNvPicPr/>
          <p:nvPr/>
        </p:nvPicPr>
        <p:blipFill>
          <a:blip r:embed="rId3">
            <a:clrChange>
              <a:clrFrom>
                <a:srgbClr val="F7F7F7"/>
              </a:clrFrom>
              <a:clrTo>
                <a:srgbClr val="F7F7F7">
                  <a:alpha val="0"/>
                </a:srgbClr>
              </a:clrTo>
            </a:clrChange>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506205" y="1347019"/>
            <a:ext cx="5471808" cy="2335776"/>
          </a:xfrm>
          <a:prstGeom prst="rect">
            <a:avLst/>
          </a:prstGeom>
        </p:spPr>
      </p:pic>
      <p:sp>
        <p:nvSpPr>
          <p:cNvPr id="6" name="TextBox 5">
            <a:extLst>
              <a:ext uri="{FF2B5EF4-FFF2-40B4-BE49-F238E27FC236}">
                <a16:creationId xmlns:a16="http://schemas.microsoft.com/office/drawing/2014/main" id="{699A1130-7BC1-4B91-A582-7C715082CF34}"/>
              </a:ext>
            </a:extLst>
          </p:cNvPr>
          <p:cNvSpPr txBox="1"/>
          <p:nvPr/>
        </p:nvSpPr>
        <p:spPr>
          <a:xfrm>
            <a:off x="884903" y="4011561"/>
            <a:ext cx="3362632" cy="523220"/>
          </a:xfrm>
          <a:prstGeom prst="rect">
            <a:avLst/>
          </a:prstGeom>
          <a:solidFill>
            <a:schemeClr val="accent2">
              <a:lumMod val="90000"/>
              <a:lumOff val="10000"/>
            </a:schemeClr>
          </a:solidFill>
        </p:spPr>
        <p:txBody>
          <a:bodyPr wrap="square" rtlCol="0">
            <a:spAutoFit/>
          </a:bodyPr>
          <a:lstStyle/>
          <a:p>
            <a:r>
              <a:rPr lang="en-IN" dirty="0">
                <a:solidFill>
                  <a:schemeClr val="bg1"/>
                </a:solidFill>
                <a:latin typeface="Akatab" panose="020B0604020202020204" charset="0"/>
                <a:ea typeface="Akatab" panose="020B0604020202020204" charset="0"/>
                <a:cs typeface="Akatab" panose="020B0604020202020204" charset="0"/>
              </a:rPr>
              <a:t>Posterior Mean: 125.22 ug/L</a:t>
            </a:r>
          </a:p>
          <a:p>
            <a:r>
              <a:rPr lang="en-IN" dirty="0">
                <a:solidFill>
                  <a:schemeClr val="bg1"/>
                </a:solidFill>
                <a:latin typeface="Akatab" panose="020B0604020202020204" charset="0"/>
                <a:ea typeface="Akatab" panose="020B0604020202020204" charset="0"/>
                <a:cs typeface="Akatab" panose="020B0604020202020204" charset="0"/>
              </a:rPr>
              <a:t>Credible Interval: 99.26 – 151.17</a:t>
            </a:r>
          </a:p>
        </p:txBody>
      </p:sp>
    </p:spTree>
    <p:extLst>
      <p:ext uri="{BB962C8B-B14F-4D97-AF65-F5344CB8AC3E}">
        <p14:creationId xmlns:p14="http://schemas.microsoft.com/office/powerpoint/2010/main" val="3775709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Users\User\AppData\Local\Microsoft\Windows\INetCache\Content.MSO\7B058991.tmp">
            <a:extLst>
              <a:ext uri="{FF2B5EF4-FFF2-40B4-BE49-F238E27FC236}">
                <a16:creationId xmlns:a16="http://schemas.microsoft.com/office/drawing/2014/main" id="{7B4F8B09-BD6A-4432-B6F6-5BE1D3F5972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86633" y="1301964"/>
            <a:ext cx="3931877" cy="2539570"/>
          </a:xfrm>
          <a:prstGeom prst="rect">
            <a:avLst/>
          </a:prstGeom>
          <a:noFill/>
          <a:ln>
            <a:noFill/>
          </a:ln>
        </p:spPr>
      </p:pic>
      <p:sp>
        <p:nvSpPr>
          <p:cNvPr id="11" name="Rectangle 10">
            <a:extLst>
              <a:ext uri="{FF2B5EF4-FFF2-40B4-BE49-F238E27FC236}">
                <a16:creationId xmlns:a16="http://schemas.microsoft.com/office/drawing/2014/main" id="{0CE29C2C-8C66-4495-8990-4E9108E3575A}"/>
              </a:ext>
            </a:extLst>
          </p:cNvPr>
          <p:cNvSpPr/>
          <p:nvPr/>
        </p:nvSpPr>
        <p:spPr>
          <a:xfrm>
            <a:off x="325490" y="802034"/>
            <a:ext cx="4660491" cy="3539430"/>
          </a:xfrm>
          <a:prstGeom prst="rect">
            <a:avLst/>
          </a:prstGeom>
        </p:spPr>
        <p:txBody>
          <a:bodyPr wrap="square">
            <a:spAutoFit/>
          </a:bodyPr>
          <a:lstStyle/>
          <a:p>
            <a:pPr marL="285750" indent="-285750">
              <a:buFont typeface="Arial" panose="020B0604020202020204" pitchFamily="34" charset="0"/>
              <a:buChar char="•"/>
            </a:pPr>
            <a:r>
              <a:rPr lang="en-US" dirty="0">
                <a:latin typeface="Akatab" panose="020B0604020202020204" charset="0"/>
                <a:ea typeface="Akatab" panose="020B0604020202020204" charset="0"/>
                <a:cs typeface="Akatab" panose="020B0604020202020204" charset="0"/>
              </a:rPr>
              <a:t>MCMC Convergence: Trace plots confirm stationary, well-mixed chains across 2,000 post-burn-in thinned iterations.</a:t>
            </a:r>
          </a:p>
          <a:p>
            <a:endParaRPr lang="en-US" dirty="0">
              <a:latin typeface="Akatab" panose="020B0604020202020204" charset="0"/>
              <a:ea typeface="Akatab" panose="020B0604020202020204" charset="0"/>
              <a:cs typeface="Akatab" panose="020B0604020202020204" charset="0"/>
            </a:endParaRPr>
          </a:p>
          <a:p>
            <a:pPr marL="285750" indent="-285750">
              <a:buFont typeface="Arial" panose="020B0604020202020204" pitchFamily="34" charset="0"/>
              <a:buChar char="•"/>
            </a:pPr>
            <a:r>
              <a:rPr lang="en-US" dirty="0">
                <a:latin typeface="Akatab" panose="020B0604020202020204" charset="0"/>
                <a:ea typeface="Akatab" panose="020B0604020202020204" charset="0"/>
                <a:cs typeface="Akatab" panose="020B0604020202020204" charset="0"/>
              </a:rPr>
              <a:t>Smooth, unimodal Normal distributions for population mean estimates (Ȳ).</a:t>
            </a:r>
          </a:p>
          <a:p>
            <a:endParaRPr lang="en-US" dirty="0">
              <a:latin typeface="Akatab" panose="020B0604020202020204" charset="0"/>
              <a:ea typeface="Akatab" panose="020B0604020202020204" charset="0"/>
              <a:cs typeface="Akatab" panose="020B0604020202020204" charset="0"/>
            </a:endParaRPr>
          </a:p>
          <a:p>
            <a:pPr marL="285750" indent="-285750">
              <a:buFont typeface="Arial" panose="020B0604020202020204" pitchFamily="34" charset="0"/>
              <a:buChar char="•"/>
            </a:pPr>
            <a:r>
              <a:rPr lang="en-US" dirty="0">
                <a:latin typeface="Akatab" panose="020B0604020202020204" charset="0"/>
                <a:ea typeface="Akatab" panose="020B0604020202020204" charset="0"/>
                <a:cs typeface="Akatab" panose="020B0604020202020204" charset="0"/>
              </a:rPr>
              <a:t>Model 3 (Exact HT) emerges as the superior architecture.</a:t>
            </a:r>
          </a:p>
          <a:p>
            <a:endParaRPr lang="en-US" dirty="0">
              <a:latin typeface="Akatab" panose="020B0604020202020204" charset="0"/>
              <a:ea typeface="Akatab" panose="020B0604020202020204" charset="0"/>
              <a:cs typeface="Akatab" panose="020B0604020202020204" charset="0"/>
            </a:endParaRPr>
          </a:p>
          <a:p>
            <a:pPr marL="285750" indent="-285750">
              <a:buFont typeface="Arial" panose="020B0604020202020204" pitchFamily="34" charset="0"/>
              <a:buChar char="•"/>
            </a:pPr>
            <a:r>
              <a:rPr lang="en-US" dirty="0">
                <a:latin typeface="Akatab" panose="020B0604020202020204" charset="0"/>
                <a:ea typeface="Akatab" panose="020B0604020202020204" charset="0"/>
                <a:cs typeface="Akatab" panose="020B0604020202020204" charset="0"/>
              </a:rPr>
              <a:t>Model 3 minimizes uncertainty, achieving the lowest CV (10.58%) and a compact interval width (51.95 µg/L).</a:t>
            </a:r>
          </a:p>
          <a:p>
            <a:endParaRPr lang="en-US" dirty="0">
              <a:latin typeface="Akatab" panose="020B0604020202020204" charset="0"/>
              <a:ea typeface="Akatab" panose="020B0604020202020204" charset="0"/>
              <a:cs typeface="Akatab" panose="020B0604020202020204" charset="0"/>
            </a:endParaRPr>
          </a:p>
          <a:p>
            <a:pPr marL="285750" indent="-285750">
              <a:buFont typeface="Arial" panose="020B0604020202020204" pitchFamily="34" charset="0"/>
              <a:buChar char="•"/>
            </a:pPr>
            <a:r>
              <a:rPr lang="en-US" dirty="0">
                <a:latin typeface="Akatab" panose="020B0604020202020204" charset="0"/>
                <a:ea typeface="Akatab" panose="020B0604020202020204" charset="0"/>
                <a:cs typeface="Akatab" panose="020B0604020202020204" charset="0"/>
              </a:rPr>
              <a:t>Rigorous interval boundaries prevent understating critical high-exposure public health risks.</a:t>
            </a:r>
          </a:p>
        </p:txBody>
      </p:sp>
    </p:spTree>
    <p:extLst>
      <p:ext uri="{BB962C8B-B14F-4D97-AF65-F5344CB8AC3E}">
        <p14:creationId xmlns:p14="http://schemas.microsoft.com/office/powerpoint/2010/main" val="3012189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IN" sz="2800" b="1" dirty="0"/>
              <a:t>Conclusion</a:t>
            </a:r>
            <a:endParaRPr sz="2800" b="1" dirty="0"/>
          </a:p>
        </p:txBody>
      </p:sp>
      <p:sp>
        <p:nvSpPr>
          <p:cNvPr id="446" name="Google Shape;446;p45"/>
          <p:cNvSpPr txBox="1">
            <a:spLocks noGrp="1"/>
          </p:cNvSpPr>
          <p:nvPr>
            <p:ph type="subTitle" idx="2"/>
          </p:nvPr>
        </p:nvSpPr>
        <p:spPr>
          <a:xfrm>
            <a:off x="1101213" y="1173833"/>
            <a:ext cx="6941573" cy="3240851"/>
          </a:xfrm>
          <a:prstGeom prst="rect">
            <a:avLst/>
          </a:prstGeom>
        </p:spPr>
        <p:txBody>
          <a:bodyPr spcFirstLastPara="1" wrap="square" lIns="91425" tIns="91425" rIns="91425" bIns="91425" anchor="t" anchorCtr="0">
            <a:noAutofit/>
          </a:bodyPr>
          <a:lstStyle/>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lumMod val="50000"/>
                  </a:schemeClr>
                </a:solidFill>
                <a:latin typeface="Akatab" panose="020B0604020202020204" charset="0"/>
                <a:ea typeface="Akatab" panose="020B0604020202020204" charset="0"/>
                <a:cs typeface="Akatab" panose="020B0604020202020204" charset="0"/>
              </a:rPr>
              <a:t>Framework Implementation:</a:t>
            </a:r>
            <a:r>
              <a:rPr lang="en-US" altLang="en-US" sz="1600" dirty="0">
                <a:solidFill>
                  <a:schemeClr val="tx1">
                    <a:lumMod val="50000"/>
                  </a:schemeClr>
                </a:solidFill>
                <a:latin typeface="Akatab" panose="020B0604020202020204" charset="0"/>
                <a:ea typeface="Akatab" panose="020B0604020202020204" charset="0"/>
                <a:cs typeface="Akatab" panose="020B0604020202020204" charset="0"/>
              </a:rPr>
              <a:t> Implemented a Bayesian predictive SRSWOR model and two Horvitz-Thompson frameworks based on Banerjee (2025).</a:t>
            </a:r>
          </a:p>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lumMod val="50000"/>
                  </a:schemeClr>
                </a:solidFill>
                <a:latin typeface="Akatab" panose="020B0604020202020204" charset="0"/>
                <a:ea typeface="Akatab" panose="020B0604020202020204" charset="0"/>
                <a:cs typeface="Akatab" panose="020B0604020202020204" charset="0"/>
              </a:rPr>
              <a:t>High Statistical Quality:</a:t>
            </a:r>
            <a:r>
              <a:rPr lang="en-US" altLang="en-US" sz="1600" dirty="0">
                <a:solidFill>
                  <a:schemeClr val="tx1">
                    <a:lumMod val="50000"/>
                  </a:schemeClr>
                </a:solidFill>
                <a:latin typeface="Akatab" panose="020B0604020202020204" charset="0"/>
                <a:ea typeface="Akatab" panose="020B0604020202020204" charset="0"/>
                <a:cs typeface="Akatab" panose="020B0604020202020204" charset="0"/>
              </a:rPr>
              <a:t> All three models produced highly reliable estimates with a Coefficient of Variation well below the 20% quality threshold.</a:t>
            </a:r>
          </a:p>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lumMod val="50000"/>
                  </a:schemeClr>
                </a:solidFill>
                <a:latin typeface="Akatab" panose="020B0604020202020204" charset="0"/>
                <a:ea typeface="Akatab" panose="020B0604020202020204" charset="0"/>
                <a:cs typeface="Akatab" panose="020B0604020202020204" charset="0"/>
              </a:rPr>
              <a:t>Model 3 Superiority:</a:t>
            </a:r>
            <a:r>
              <a:rPr lang="en-US" altLang="en-US" sz="1600" dirty="0">
                <a:solidFill>
                  <a:schemeClr val="tx1">
                    <a:lumMod val="50000"/>
                  </a:schemeClr>
                </a:solidFill>
                <a:latin typeface="Akatab" panose="020B0604020202020204" charset="0"/>
                <a:ea typeface="Akatab" panose="020B0604020202020204" charset="0"/>
                <a:cs typeface="Akatab" panose="020B0604020202020204" charset="0"/>
              </a:rPr>
              <a:t> Model 3 (Exact HT) proved most efficient, yielding the lowest CV (</a:t>
            </a:r>
            <a:r>
              <a:rPr lang="en-US" altLang="en-US" sz="1600" b="1" dirty="0">
                <a:solidFill>
                  <a:schemeClr val="tx1">
                    <a:lumMod val="50000"/>
                  </a:schemeClr>
                </a:solidFill>
                <a:latin typeface="Akatab" panose="020B0604020202020204" charset="0"/>
                <a:ea typeface="Akatab" panose="020B0604020202020204" charset="0"/>
                <a:cs typeface="Akatab" panose="020B0604020202020204" charset="0"/>
              </a:rPr>
              <a:t>10.58%</a:t>
            </a:r>
            <a:r>
              <a:rPr lang="en-US" altLang="en-US" sz="1600" dirty="0">
                <a:solidFill>
                  <a:schemeClr val="tx1">
                    <a:lumMod val="50000"/>
                  </a:schemeClr>
                </a:solidFill>
                <a:latin typeface="Akatab" panose="020B0604020202020204" charset="0"/>
                <a:ea typeface="Akatab" panose="020B0604020202020204" charset="0"/>
                <a:cs typeface="Akatab" panose="020B0604020202020204" charset="0"/>
              </a:rPr>
              <a:t>) and a compact 95% credible interval length of </a:t>
            </a:r>
            <a:r>
              <a:rPr lang="en-US" altLang="en-US" sz="1600" b="1" dirty="0">
                <a:solidFill>
                  <a:schemeClr val="tx1">
                    <a:lumMod val="50000"/>
                  </a:schemeClr>
                </a:solidFill>
                <a:latin typeface="Akatab" panose="020B0604020202020204" charset="0"/>
                <a:ea typeface="Akatab" panose="020B0604020202020204" charset="0"/>
                <a:cs typeface="Akatab" panose="020B0604020202020204" charset="0"/>
              </a:rPr>
              <a:t>51.95 µg/L</a:t>
            </a:r>
            <a:r>
              <a:rPr lang="en-US" altLang="en-US" sz="1600" dirty="0">
                <a:solidFill>
                  <a:schemeClr val="tx1">
                    <a:lumMod val="50000"/>
                  </a:schemeClr>
                </a:solidFill>
                <a:latin typeface="Akatab" panose="020B0604020202020204" charset="0"/>
                <a:ea typeface="Akatab" panose="020B0604020202020204" charset="0"/>
                <a:cs typeface="Akatab" panose="020B0604020202020204" charset="0"/>
              </a:rPr>
              <a:t>.</a:t>
            </a:r>
          </a:p>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lumMod val="50000"/>
                  </a:schemeClr>
                </a:solidFill>
                <a:latin typeface="Akatab" panose="020B0604020202020204" charset="0"/>
                <a:ea typeface="Akatab" panose="020B0604020202020204" charset="0"/>
                <a:cs typeface="Akatab" panose="020B0604020202020204" charset="0"/>
              </a:rPr>
              <a:t>Public Health Impact:</a:t>
            </a:r>
            <a:r>
              <a:rPr lang="en-US" altLang="en-US" sz="1600" dirty="0">
                <a:solidFill>
                  <a:schemeClr val="tx1">
                    <a:lumMod val="50000"/>
                  </a:schemeClr>
                </a:solidFill>
                <a:latin typeface="Akatab" panose="020B0604020202020204" charset="0"/>
                <a:ea typeface="Akatab" panose="020B0604020202020204" charset="0"/>
                <a:cs typeface="Akatab" panose="020B0604020202020204" charset="0"/>
              </a:rPr>
              <a:t> Strict Bayesian uncertainty quantification is essential for environmental monitoring, ensuring risk is not understated where decisions directly impact human lives.</a:t>
            </a:r>
          </a:p>
        </p:txBody>
      </p:sp>
    </p:spTree>
    <p:extLst>
      <p:ext uri="{BB962C8B-B14F-4D97-AF65-F5344CB8AC3E}">
        <p14:creationId xmlns:p14="http://schemas.microsoft.com/office/powerpoint/2010/main" val="34192001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89009-0C76-438C-9E1B-5FE72BD4C0F3}"/>
              </a:ext>
            </a:extLst>
          </p:cNvPr>
          <p:cNvSpPr>
            <a:spLocks noGrp="1"/>
          </p:cNvSpPr>
          <p:nvPr>
            <p:ph type="title"/>
          </p:nvPr>
        </p:nvSpPr>
        <p:spPr/>
        <p:txBody>
          <a:bodyPr/>
          <a:lstStyle/>
          <a:p>
            <a:r>
              <a:rPr lang="en-IN" sz="2800" b="1" dirty="0"/>
              <a:t>References</a:t>
            </a:r>
          </a:p>
        </p:txBody>
      </p:sp>
      <p:sp>
        <p:nvSpPr>
          <p:cNvPr id="3" name="Text Placeholder 2">
            <a:extLst>
              <a:ext uri="{FF2B5EF4-FFF2-40B4-BE49-F238E27FC236}">
                <a16:creationId xmlns:a16="http://schemas.microsoft.com/office/drawing/2014/main" id="{1793492C-A089-4656-9C1E-1F03AE538806}"/>
              </a:ext>
            </a:extLst>
          </p:cNvPr>
          <p:cNvSpPr>
            <a:spLocks noGrp="1"/>
          </p:cNvSpPr>
          <p:nvPr>
            <p:ph type="body" idx="1"/>
          </p:nvPr>
        </p:nvSpPr>
        <p:spPr>
          <a:xfrm>
            <a:off x="530942" y="1017725"/>
            <a:ext cx="8082116" cy="3724324"/>
          </a:xfrm>
        </p:spPr>
        <p:txBody>
          <a:bodyPr/>
          <a:lstStyle/>
          <a:p>
            <a:pPr marL="0" indent="0" algn="l">
              <a:lnSpc>
                <a:spcPct val="100000"/>
              </a:lnSpc>
              <a:spcAft>
                <a:spcPts val="600"/>
              </a:spcAft>
              <a:buNone/>
            </a:pPr>
            <a:r>
              <a:rPr lang="en-IN" sz="1100" b="1" dirty="0">
                <a:solidFill>
                  <a:schemeClr val="tx1">
                    <a:lumMod val="50000"/>
                  </a:schemeClr>
                </a:solidFill>
                <a:latin typeface="Akatab" panose="020B0604020202020204" charset="0"/>
                <a:ea typeface="Akatab" panose="020B0604020202020204" charset="0"/>
                <a:cs typeface="Akatab" panose="020B0604020202020204" charset="0"/>
              </a:rPr>
              <a:t>[1] </a:t>
            </a:r>
            <a:r>
              <a:rPr lang="en-IN" sz="1100" dirty="0">
                <a:solidFill>
                  <a:schemeClr val="tx1">
                    <a:lumMod val="50000"/>
                  </a:schemeClr>
                </a:solidFill>
                <a:latin typeface="Akatab" panose="020B0604020202020204" charset="0"/>
                <a:ea typeface="Akatab" panose="020B0604020202020204" charset="0"/>
                <a:cs typeface="Akatab" panose="020B0604020202020204" charset="0"/>
              </a:rPr>
              <a:t>Narain, R. (1951). On sampling without replacement with varying probabilities. Journal of the Indian Society of Agricultural Statistics, 3, 169–175.</a:t>
            </a:r>
          </a:p>
          <a:p>
            <a:pPr marL="0" indent="0" algn="l">
              <a:lnSpc>
                <a:spcPct val="100000"/>
              </a:lnSpc>
              <a:spcAft>
                <a:spcPts val="600"/>
              </a:spcAft>
              <a:buNone/>
            </a:pPr>
            <a:r>
              <a:rPr lang="en-IN" sz="1100" b="1" dirty="0">
                <a:solidFill>
                  <a:schemeClr val="tx1">
                    <a:lumMod val="50000"/>
                  </a:schemeClr>
                </a:solidFill>
                <a:latin typeface="Akatab" panose="020B0604020202020204" charset="0"/>
                <a:ea typeface="Akatab" panose="020B0604020202020204" charset="0"/>
                <a:cs typeface="Akatab" panose="020B0604020202020204" charset="0"/>
              </a:rPr>
              <a:t>[2] </a:t>
            </a:r>
            <a:r>
              <a:rPr lang="en-IN" sz="1100" dirty="0">
                <a:solidFill>
                  <a:schemeClr val="tx1">
                    <a:lumMod val="50000"/>
                  </a:schemeClr>
                </a:solidFill>
                <a:latin typeface="Akatab" panose="020B0604020202020204" charset="0"/>
                <a:ea typeface="Akatab" panose="020B0604020202020204" charset="0"/>
                <a:cs typeface="Akatab" panose="020B0604020202020204" charset="0"/>
              </a:rPr>
              <a:t>Horvitz, D. G., &amp; Thompson, D. J. (1952). A generalization of sampling without replacement from a finite universe. Journal of the American Statistical Association, 47(260), 663–685.</a:t>
            </a:r>
          </a:p>
          <a:p>
            <a:pPr marL="0" indent="0" algn="l">
              <a:lnSpc>
                <a:spcPct val="100000"/>
              </a:lnSpc>
              <a:spcAft>
                <a:spcPts val="600"/>
              </a:spcAft>
              <a:buNone/>
            </a:pPr>
            <a:r>
              <a:rPr lang="en-IN" sz="1100" b="1" dirty="0">
                <a:solidFill>
                  <a:schemeClr val="tx1">
                    <a:lumMod val="50000"/>
                  </a:schemeClr>
                </a:solidFill>
                <a:latin typeface="Akatab" panose="020B0604020202020204" charset="0"/>
                <a:ea typeface="Akatab" panose="020B0604020202020204" charset="0"/>
                <a:cs typeface="Akatab" panose="020B0604020202020204" charset="0"/>
              </a:rPr>
              <a:t>[3] </a:t>
            </a:r>
            <a:r>
              <a:rPr lang="en-IN" sz="1100" dirty="0">
                <a:solidFill>
                  <a:schemeClr val="tx1">
                    <a:lumMod val="50000"/>
                  </a:schemeClr>
                </a:solidFill>
                <a:latin typeface="Akatab" panose="020B0604020202020204" charset="0"/>
                <a:ea typeface="Akatab" panose="020B0604020202020204" charset="0"/>
                <a:cs typeface="Akatab" panose="020B0604020202020204" charset="0"/>
              </a:rPr>
              <a:t>Kish, L. (1965). Survey Sampling. John Wiley &amp; Sons, Hoboken, NJ.</a:t>
            </a:r>
          </a:p>
          <a:p>
            <a:pPr marL="0" indent="0" algn="l">
              <a:lnSpc>
                <a:spcPct val="100000"/>
              </a:lnSpc>
              <a:spcAft>
                <a:spcPts val="600"/>
              </a:spcAft>
              <a:buNone/>
            </a:pPr>
            <a:r>
              <a:rPr lang="en-IN" sz="1100" b="1" dirty="0">
                <a:solidFill>
                  <a:schemeClr val="tx1">
                    <a:lumMod val="50000"/>
                  </a:schemeClr>
                </a:solidFill>
                <a:latin typeface="Akatab" panose="020B0604020202020204" charset="0"/>
                <a:ea typeface="Akatab" panose="020B0604020202020204" charset="0"/>
                <a:cs typeface="Akatab" panose="020B0604020202020204" charset="0"/>
              </a:rPr>
              <a:t>[4] </a:t>
            </a:r>
            <a:r>
              <a:rPr lang="en-IN" sz="1100" dirty="0">
                <a:solidFill>
                  <a:schemeClr val="tx1">
                    <a:lumMod val="50000"/>
                  </a:schemeClr>
                </a:solidFill>
                <a:latin typeface="Akatab" panose="020B0604020202020204" charset="0"/>
                <a:ea typeface="Akatab" panose="020B0604020202020204" charset="0"/>
                <a:cs typeface="Akatab" panose="020B0604020202020204" charset="0"/>
              </a:rPr>
              <a:t>Scott, A., &amp; Smith, T. M. F. (1969). Estimation in multi-stage surveys. Journal of the American Statistical Association, 64(327), 830–840.</a:t>
            </a:r>
          </a:p>
          <a:p>
            <a:pPr marL="0" indent="0" algn="l">
              <a:lnSpc>
                <a:spcPct val="100000"/>
              </a:lnSpc>
              <a:spcAft>
                <a:spcPts val="600"/>
              </a:spcAft>
              <a:buNone/>
            </a:pPr>
            <a:r>
              <a:rPr lang="en-IN" sz="1100" b="1" dirty="0">
                <a:solidFill>
                  <a:schemeClr val="tx1">
                    <a:lumMod val="50000"/>
                  </a:schemeClr>
                </a:solidFill>
                <a:latin typeface="Akatab" panose="020B0604020202020204" charset="0"/>
                <a:ea typeface="Akatab" panose="020B0604020202020204" charset="0"/>
                <a:cs typeface="Akatab" panose="020B0604020202020204" charset="0"/>
              </a:rPr>
              <a:t>[5] </a:t>
            </a:r>
            <a:r>
              <a:rPr lang="en-IN" sz="1100" dirty="0">
                <a:solidFill>
                  <a:schemeClr val="tx1">
                    <a:lumMod val="50000"/>
                  </a:schemeClr>
                </a:solidFill>
                <a:latin typeface="Akatab" panose="020B0604020202020204" charset="0"/>
                <a:ea typeface="Akatab" panose="020B0604020202020204" charset="0"/>
                <a:cs typeface="Akatab" panose="020B0604020202020204" charset="0"/>
              </a:rPr>
              <a:t>Ghosh, M., &amp; Sinha, B. K. (1990). On the consistency between model- and design-based estimators in survey sampling. Communications in Statistics – Theory and Methods, 19(2), 689–702.</a:t>
            </a:r>
          </a:p>
          <a:p>
            <a:pPr marL="0" indent="0" algn="l">
              <a:lnSpc>
                <a:spcPct val="100000"/>
              </a:lnSpc>
              <a:spcAft>
                <a:spcPts val="600"/>
              </a:spcAft>
              <a:buNone/>
            </a:pPr>
            <a:r>
              <a:rPr lang="en-IN" sz="1100" b="1" dirty="0">
                <a:solidFill>
                  <a:schemeClr val="tx1">
                    <a:lumMod val="50000"/>
                  </a:schemeClr>
                </a:solidFill>
                <a:latin typeface="Akatab" panose="020B0604020202020204" charset="0"/>
                <a:ea typeface="Akatab" panose="020B0604020202020204" charset="0"/>
                <a:cs typeface="Akatab" panose="020B0604020202020204" charset="0"/>
              </a:rPr>
              <a:t>[6] </a:t>
            </a:r>
            <a:r>
              <a:rPr lang="en-IN" sz="1100" dirty="0">
                <a:solidFill>
                  <a:schemeClr val="tx1">
                    <a:lumMod val="50000"/>
                  </a:schemeClr>
                </a:solidFill>
                <a:latin typeface="Akatab" panose="020B0604020202020204" charset="0"/>
                <a:ea typeface="Akatab" panose="020B0604020202020204" charset="0"/>
                <a:cs typeface="Akatab" panose="020B0604020202020204" charset="0"/>
              </a:rPr>
              <a:t>Malec, D., &amp; Sedransk, J. (1985). Bayesian inference for finite population parameters in multistage cluster sampling. Journal of the American Statistical Association, 80(392), 897–902.</a:t>
            </a:r>
          </a:p>
          <a:p>
            <a:pPr marL="0" indent="0" algn="l">
              <a:lnSpc>
                <a:spcPct val="100000"/>
              </a:lnSpc>
              <a:spcAft>
                <a:spcPts val="600"/>
              </a:spcAft>
              <a:buNone/>
            </a:pPr>
            <a:r>
              <a:rPr lang="en-IN" sz="1100" b="1" dirty="0">
                <a:solidFill>
                  <a:schemeClr val="tx1">
                    <a:lumMod val="50000"/>
                  </a:schemeClr>
                </a:solidFill>
                <a:latin typeface="Akatab" panose="020B0604020202020204" charset="0"/>
                <a:ea typeface="Akatab" panose="020B0604020202020204" charset="0"/>
                <a:cs typeface="Akatab" panose="020B0604020202020204" charset="0"/>
              </a:rPr>
              <a:t>[7] </a:t>
            </a:r>
            <a:r>
              <a:rPr lang="en-IN" sz="1100" dirty="0">
                <a:solidFill>
                  <a:schemeClr val="tx1">
                    <a:lumMod val="50000"/>
                  </a:schemeClr>
                </a:solidFill>
                <a:latin typeface="Akatab" panose="020B0604020202020204" charset="0"/>
                <a:ea typeface="Akatab" panose="020B0604020202020204" charset="0"/>
                <a:cs typeface="Akatab" panose="020B0604020202020204" charset="0"/>
              </a:rPr>
              <a:t>Ghosh, M., &amp; Meeden, G. (1997). Bayesian Methods for Finite Population Sampling. Chapman &amp; Hall, London.</a:t>
            </a:r>
          </a:p>
          <a:p>
            <a:pPr marL="0" indent="0" algn="l">
              <a:lnSpc>
                <a:spcPct val="100000"/>
              </a:lnSpc>
              <a:spcAft>
                <a:spcPts val="600"/>
              </a:spcAft>
              <a:buNone/>
            </a:pPr>
            <a:r>
              <a:rPr lang="en-IN" sz="1100" b="1" dirty="0">
                <a:solidFill>
                  <a:schemeClr val="tx1">
                    <a:lumMod val="50000"/>
                  </a:schemeClr>
                </a:solidFill>
                <a:latin typeface="Akatab" panose="020B0604020202020204" charset="0"/>
                <a:ea typeface="Akatab" panose="020B0604020202020204" charset="0"/>
                <a:cs typeface="Akatab" panose="020B0604020202020204" charset="0"/>
              </a:rPr>
              <a:t>[8] </a:t>
            </a:r>
            <a:r>
              <a:rPr lang="en-IN" sz="1100" dirty="0">
                <a:solidFill>
                  <a:schemeClr val="tx1">
                    <a:lumMod val="50000"/>
                  </a:schemeClr>
                </a:solidFill>
                <a:latin typeface="Akatab" panose="020B0604020202020204" charset="0"/>
                <a:ea typeface="Akatab" panose="020B0604020202020204" charset="0"/>
                <a:cs typeface="Akatab" panose="020B0604020202020204" charset="0"/>
              </a:rPr>
              <a:t>Little, R. J. (2004). To model or not to model? Competing modes of inference for finite population sampling. Journal of the American Statistical Association, 99(466), 546–556.</a:t>
            </a:r>
          </a:p>
          <a:p>
            <a:pPr marL="0" indent="0" algn="l">
              <a:lnSpc>
                <a:spcPct val="100000"/>
              </a:lnSpc>
              <a:spcAft>
                <a:spcPts val="600"/>
              </a:spcAft>
              <a:buNone/>
            </a:pPr>
            <a:r>
              <a:rPr lang="en-IN" sz="1100" b="1" dirty="0">
                <a:solidFill>
                  <a:schemeClr val="tx1">
                    <a:lumMod val="50000"/>
                  </a:schemeClr>
                </a:solidFill>
                <a:latin typeface="Akatab" panose="020B0604020202020204" charset="0"/>
                <a:ea typeface="Akatab" panose="020B0604020202020204" charset="0"/>
                <a:cs typeface="Akatab" panose="020B0604020202020204" charset="0"/>
              </a:rPr>
              <a:t>[9] </a:t>
            </a:r>
            <a:r>
              <a:rPr lang="en-IN" sz="1100" dirty="0">
                <a:solidFill>
                  <a:schemeClr val="tx1">
                    <a:lumMod val="50000"/>
                  </a:schemeClr>
                </a:solidFill>
                <a:latin typeface="Akatab" panose="020B0604020202020204" charset="0"/>
                <a:ea typeface="Akatab" panose="020B0604020202020204" charset="0"/>
                <a:cs typeface="Akatab" panose="020B0604020202020204" charset="0"/>
              </a:rPr>
              <a:t>Ghosh, M. (2012). Finite population sampling: A model-design synthesis. Statistics in Transition new series, 13(2), 235–242.</a:t>
            </a:r>
          </a:p>
          <a:p>
            <a:pPr marL="0" indent="0" algn="l">
              <a:lnSpc>
                <a:spcPct val="100000"/>
              </a:lnSpc>
              <a:spcAft>
                <a:spcPts val="600"/>
              </a:spcAft>
              <a:buNone/>
            </a:pPr>
            <a:r>
              <a:rPr lang="en-IN" sz="1100" b="1" dirty="0">
                <a:solidFill>
                  <a:schemeClr val="tx1">
                    <a:lumMod val="50000"/>
                  </a:schemeClr>
                </a:solidFill>
                <a:latin typeface="Akatab" panose="020B0604020202020204" charset="0"/>
                <a:ea typeface="Akatab" panose="020B0604020202020204" charset="0"/>
                <a:cs typeface="Akatab" panose="020B0604020202020204" charset="0"/>
              </a:rPr>
              <a:t>[10] </a:t>
            </a:r>
            <a:r>
              <a:rPr lang="en-IN" sz="1100" dirty="0">
                <a:solidFill>
                  <a:schemeClr val="tx1">
                    <a:lumMod val="50000"/>
                  </a:schemeClr>
                </a:solidFill>
                <a:latin typeface="Akatab" panose="020B0604020202020204" charset="0"/>
                <a:ea typeface="Akatab" panose="020B0604020202020204" charset="0"/>
                <a:cs typeface="Akatab" panose="020B0604020202020204" charset="0"/>
              </a:rPr>
              <a:t>Rao, J. N. K. (2011). Impact of frequentist and Bayesian methods on survey sampling practice: A selective appraisal. Statistical Science, 26(2), 240–256.</a:t>
            </a:r>
          </a:p>
          <a:p>
            <a:pPr marL="0" indent="0" algn="l">
              <a:lnSpc>
                <a:spcPct val="100000"/>
              </a:lnSpc>
              <a:spcAft>
                <a:spcPts val="600"/>
              </a:spcAft>
              <a:buNone/>
            </a:pPr>
            <a:endParaRPr lang="en-IN" sz="1100" dirty="0">
              <a:solidFill>
                <a:schemeClr val="tx1">
                  <a:lumMod val="50000"/>
                </a:schemeClr>
              </a:solidFill>
              <a:latin typeface="Akatab" panose="020B0604020202020204" charset="0"/>
              <a:ea typeface="Akatab" panose="020B0604020202020204" charset="0"/>
              <a:cs typeface="Akatab" panose="020B0604020202020204" charset="0"/>
            </a:endParaRPr>
          </a:p>
          <a:p>
            <a:endParaRPr lang="en-IN" dirty="0">
              <a:solidFill>
                <a:schemeClr val="tx1">
                  <a:lumMod val="50000"/>
                </a:schemeClr>
              </a:solidFill>
            </a:endParaRPr>
          </a:p>
        </p:txBody>
      </p:sp>
      <p:sp>
        <p:nvSpPr>
          <p:cNvPr id="4" name="TextBox 3">
            <a:extLst>
              <a:ext uri="{FF2B5EF4-FFF2-40B4-BE49-F238E27FC236}">
                <a16:creationId xmlns:a16="http://schemas.microsoft.com/office/drawing/2014/main" id="{EB1C7F8C-7A22-437A-AB67-30790834F986}"/>
              </a:ext>
            </a:extLst>
          </p:cNvPr>
          <p:cNvSpPr txBox="1"/>
          <p:nvPr/>
        </p:nvSpPr>
        <p:spPr>
          <a:xfrm>
            <a:off x="7841226" y="4698475"/>
            <a:ext cx="1543664" cy="307777"/>
          </a:xfrm>
          <a:prstGeom prst="rect">
            <a:avLst/>
          </a:prstGeom>
          <a:noFill/>
        </p:spPr>
        <p:txBody>
          <a:bodyPr wrap="square" rtlCol="0">
            <a:spAutoFit/>
          </a:bodyPr>
          <a:lstStyle/>
          <a:p>
            <a:r>
              <a:rPr lang="en-IN" dirty="0">
                <a:solidFill>
                  <a:schemeClr val="tx1">
                    <a:lumMod val="50000"/>
                  </a:schemeClr>
                </a:solidFill>
                <a:latin typeface="Akatab" panose="020B0604020202020204" charset="0"/>
                <a:ea typeface="Akatab" panose="020B0604020202020204" charset="0"/>
                <a:cs typeface="Akatab" panose="020B0604020202020204" charset="0"/>
              </a:rPr>
              <a:t>Continued…</a:t>
            </a:r>
          </a:p>
        </p:txBody>
      </p:sp>
    </p:spTree>
    <p:extLst>
      <p:ext uri="{BB962C8B-B14F-4D97-AF65-F5344CB8AC3E}">
        <p14:creationId xmlns:p14="http://schemas.microsoft.com/office/powerpoint/2010/main" val="3839387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89009-0C76-438C-9E1B-5FE72BD4C0F3}"/>
              </a:ext>
            </a:extLst>
          </p:cNvPr>
          <p:cNvSpPr>
            <a:spLocks noGrp="1"/>
          </p:cNvSpPr>
          <p:nvPr>
            <p:ph type="title"/>
          </p:nvPr>
        </p:nvSpPr>
        <p:spPr/>
        <p:txBody>
          <a:bodyPr/>
          <a:lstStyle/>
          <a:p>
            <a:r>
              <a:rPr lang="en-IN" sz="2800" b="1" dirty="0"/>
              <a:t>References</a:t>
            </a:r>
          </a:p>
        </p:txBody>
      </p:sp>
      <p:sp>
        <p:nvSpPr>
          <p:cNvPr id="3" name="Text Placeholder 2">
            <a:extLst>
              <a:ext uri="{FF2B5EF4-FFF2-40B4-BE49-F238E27FC236}">
                <a16:creationId xmlns:a16="http://schemas.microsoft.com/office/drawing/2014/main" id="{1793492C-A089-4656-9C1E-1F03AE538806}"/>
              </a:ext>
            </a:extLst>
          </p:cNvPr>
          <p:cNvSpPr>
            <a:spLocks noGrp="1"/>
          </p:cNvSpPr>
          <p:nvPr>
            <p:ph type="body" idx="1"/>
          </p:nvPr>
        </p:nvSpPr>
        <p:spPr>
          <a:xfrm>
            <a:off x="432620" y="1017725"/>
            <a:ext cx="8121445" cy="3065564"/>
          </a:xfrm>
        </p:spPr>
        <p:txBody>
          <a:bodyPr/>
          <a:lstStyle/>
          <a:p>
            <a:pPr marL="139700" indent="0" algn="l">
              <a:spcAft>
                <a:spcPts val="600"/>
              </a:spcAft>
              <a:buNone/>
            </a:pPr>
            <a:r>
              <a:rPr lang="en-IN" sz="1100" b="1" dirty="0">
                <a:solidFill>
                  <a:schemeClr val="tx1">
                    <a:lumMod val="50000"/>
                  </a:schemeClr>
                </a:solidFill>
                <a:latin typeface="Akatab" panose="020B0604020202020204" charset="0"/>
                <a:ea typeface="Akatab" panose="020B0604020202020204" charset="0"/>
                <a:cs typeface="Akatab" panose="020B0604020202020204" charset="0"/>
              </a:rPr>
              <a:t>[11] </a:t>
            </a:r>
            <a:r>
              <a:rPr lang="en-IN" sz="1100" dirty="0">
                <a:solidFill>
                  <a:schemeClr val="tx1">
                    <a:lumMod val="50000"/>
                  </a:schemeClr>
                </a:solidFill>
                <a:latin typeface="Akatab" panose="020B0604020202020204" charset="0"/>
                <a:ea typeface="Akatab" panose="020B0604020202020204" charset="0"/>
                <a:cs typeface="Akatab" panose="020B0604020202020204" charset="0"/>
              </a:rPr>
              <a:t>Rao, J. N. K., &amp; Molina, I. (2015). Small Area Estimation (2nd ed.). John Wiley &amp; Sons, Hoboken, NJ.</a:t>
            </a:r>
          </a:p>
          <a:p>
            <a:pPr marL="139700" indent="0" algn="l">
              <a:spcAft>
                <a:spcPts val="600"/>
              </a:spcAft>
              <a:buNone/>
            </a:pPr>
            <a:r>
              <a:rPr lang="en-IN" sz="1100" b="1" dirty="0">
                <a:solidFill>
                  <a:schemeClr val="tx1">
                    <a:lumMod val="50000"/>
                  </a:schemeClr>
                </a:solidFill>
                <a:latin typeface="Akatab" panose="020B0604020202020204" charset="0"/>
                <a:ea typeface="Akatab" panose="020B0604020202020204" charset="0"/>
                <a:cs typeface="Akatab" panose="020B0604020202020204" charset="0"/>
              </a:rPr>
              <a:t>[12] </a:t>
            </a:r>
            <a:r>
              <a:rPr lang="en-IN" sz="1100" dirty="0">
                <a:solidFill>
                  <a:schemeClr val="tx1">
                    <a:lumMod val="50000"/>
                  </a:schemeClr>
                </a:solidFill>
                <a:latin typeface="Akatab" panose="020B0604020202020204" charset="0"/>
                <a:ea typeface="Akatab" panose="020B0604020202020204" charset="0"/>
                <a:cs typeface="Akatab" panose="020B0604020202020204" charset="0"/>
              </a:rPr>
              <a:t>Banerjee, S. (2025). Finite population survey sampling: An unapologetic Bayesian perspective. arXiv:2306.10635.</a:t>
            </a:r>
          </a:p>
          <a:p>
            <a:pPr marL="139700" indent="0" algn="l">
              <a:spcAft>
                <a:spcPts val="600"/>
              </a:spcAft>
              <a:buNone/>
            </a:pPr>
            <a:r>
              <a:rPr lang="en-IN" sz="1100" b="1" dirty="0">
                <a:solidFill>
                  <a:schemeClr val="tx1">
                    <a:lumMod val="50000"/>
                  </a:schemeClr>
                </a:solidFill>
                <a:latin typeface="Akatab" panose="020B0604020202020204" charset="0"/>
                <a:ea typeface="Akatab" panose="020B0604020202020204" charset="0"/>
                <a:cs typeface="Akatab" panose="020B0604020202020204" charset="0"/>
              </a:rPr>
              <a:t>[13] </a:t>
            </a:r>
            <a:r>
              <a:rPr lang="en-IN" sz="1100" dirty="0">
                <a:solidFill>
                  <a:schemeClr val="tx1">
                    <a:lumMod val="50000"/>
                  </a:schemeClr>
                </a:solidFill>
                <a:latin typeface="Akatab" panose="020B0604020202020204" charset="0"/>
                <a:ea typeface="Akatab" panose="020B0604020202020204" charset="0"/>
                <a:cs typeface="Akatab" panose="020B0604020202020204" charset="0"/>
              </a:rPr>
              <a:t>British Geological Survey &amp; Department of Public Health Engineering [BGS &amp; DPHE]. (2001). Arsenic Contamination of Groundwater in Bangladesh (D. G. Kinniburgh &amp; P. L. Smedley, Eds.). British Geological Survey Technical Report WC/00/19, Keyworth.</a:t>
            </a:r>
          </a:p>
          <a:p>
            <a:pPr marL="139700" indent="0" algn="l">
              <a:spcAft>
                <a:spcPts val="600"/>
              </a:spcAft>
              <a:buNone/>
            </a:pPr>
            <a:r>
              <a:rPr lang="en-IN" sz="1100" b="1" dirty="0">
                <a:solidFill>
                  <a:schemeClr val="tx1">
                    <a:lumMod val="50000"/>
                  </a:schemeClr>
                </a:solidFill>
                <a:latin typeface="Akatab" panose="020B0604020202020204" charset="0"/>
                <a:ea typeface="Akatab" panose="020B0604020202020204" charset="0"/>
                <a:cs typeface="Akatab" panose="020B0604020202020204" charset="0"/>
              </a:rPr>
              <a:t>[14] </a:t>
            </a:r>
            <a:r>
              <a:rPr lang="en-IN" sz="1100" dirty="0">
                <a:solidFill>
                  <a:schemeClr val="tx1">
                    <a:lumMod val="50000"/>
                  </a:schemeClr>
                </a:solidFill>
                <a:latin typeface="Akatab" panose="020B0604020202020204" charset="0"/>
                <a:ea typeface="Akatab" panose="020B0604020202020204" charset="0"/>
                <a:cs typeface="Akatab" panose="020B0604020202020204" charset="0"/>
              </a:rPr>
              <a:t>Chakraborti, D., Rahman, M. M., Das, B., Murrill, M., Dey, S., Chandra Mukherjee, S., Dhar, R. K., Biswas, B. K., Chowdhury, U. K., Roy, S., Sorif, S., Selim, M., Rahman, M., &amp; Quamruzzaman, Q. (2010). Status of groundwater arsenic contamination in the state of West Bengal, India: A 20-year study report. Molecular Nutrition &amp; Food Research / Water Research (relevant summary in PubMed, PMID 19382148).</a:t>
            </a:r>
          </a:p>
          <a:p>
            <a:pPr marL="139700" indent="0" algn="l">
              <a:spcAft>
                <a:spcPts val="600"/>
              </a:spcAft>
              <a:buNone/>
            </a:pPr>
            <a:r>
              <a:rPr lang="en-IN" sz="1100" b="1" dirty="0">
                <a:solidFill>
                  <a:schemeClr val="tx1">
                    <a:lumMod val="50000"/>
                  </a:schemeClr>
                </a:solidFill>
                <a:latin typeface="Akatab" panose="020B0604020202020204" charset="0"/>
                <a:ea typeface="Akatab" panose="020B0604020202020204" charset="0"/>
                <a:cs typeface="Akatab" panose="020B0604020202020204" charset="0"/>
              </a:rPr>
              <a:t>[15] </a:t>
            </a:r>
            <a:r>
              <a:rPr lang="en-IN" sz="1100" dirty="0">
                <a:solidFill>
                  <a:schemeClr val="tx1">
                    <a:lumMod val="50000"/>
                  </a:schemeClr>
                </a:solidFill>
                <a:latin typeface="Akatab" panose="020B0604020202020204" charset="0"/>
                <a:ea typeface="Akatab" panose="020B0604020202020204" charset="0"/>
                <a:cs typeface="Akatab" panose="020B0604020202020204" charset="0"/>
              </a:rPr>
              <a:t>Gaus, I., Kinniburgh, D. G., Talbot, J. C., &amp; Webster, R. (2003). Geostatistical analysis of arsenic concentration in groundwater of Bangladesh. Environmental and Ecological Statistics (Bayesian geostatistical prediction model for arsenic in Bangladesh).</a:t>
            </a:r>
          </a:p>
          <a:p>
            <a:pPr marL="139700" indent="0" algn="l">
              <a:spcAft>
                <a:spcPts val="600"/>
              </a:spcAft>
              <a:buNone/>
            </a:pPr>
            <a:r>
              <a:rPr lang="en-IN" sz="1100" b="1" dirty="0">
                <a:solidFill>
                  <a:schemeClr val="tx1">
                    <a:lumMod val="50000"/>
                  </a:schemeClr>
                </a:solidFill>
                <a:latin typeface="Akatab" panose="020B0604020202020204" charset="0"/>
                <a:ea typeface="Akatab" panose="020B0604020202020204" charset="0"/>
                <a:cs typeface="Akatab" panose="020B0604020202020204" charset="0"/>
              </a:rPr>
              <a:t>[16] </a:t>
            </a:r>
            <a:r>
              <a:rPr lang="en-IN" sz="1100" dirty="0">
                <a:solidFill>
                  <a:schemeClr val="tx1">
                    <a:lumMod val="50000"/>
                  </a:schemeClr>
                </a:solidFill>
                <a:latin typeface="Akatab" panose="020B0604020202020204" charset="0"/>
                <a:ea typeface="Akatab" panose="020B0604020202020204" charset="0"/>
                <a:cs typeface="Akatab" panose="020B0604020202020204" charset="0"/>
              </a:rPr>
              <a:t>Shalabh. (n.d.). Sampling Theory – Chapter 7: Varying Probability Sampling. Lecture notes, Department of Mathematics &amp; Statistics, Indian Institute of Technology Kanpur. Retrieved from </a:t>
            </a:r>
            <a:r>
              <a:rPr lang="en-IN" sz="1100" u="sng" dirty="0">
                <a:solidFill>
                  <a:schemeClr val="tx1">
                    <a:lumMod val="50000"/>
                  </a:schemeClr>
                </a:solidFill>
                <a:latin typeface="Akatab" panose="020B0604020202020204" charset="0"/>
                <a:ea typeface="Akatab" panose="020B0604020202020204" charset="0"/>
                <a:cs typeface="Akatab" panose="020B0604020202020204" charset="0"/>
                <a:hlinkClick r:id="rId2">
                  <a:extLst>
                    <a:ext uri="{A12FA001-AC4F-418D-AE19-62706E023703}">
                      <ahyp:hlinkClr xmlns:ahyp="http://schemas.microsoft.com/office/drawing/2018/hyperlinkcolor" val="tx"/>
                    </a:ext>
                  </a:extLst>
                </a:hlinkClick>
              </a:rPr>
              <a:t>https://home.iitk.ac.in/~shalab/sampling/chapter7-sampling-varying-probability-sampling.pdf</a:t>
            </a:r>
            <a:r>
              <a:rPr lang="en-IN" sz="1100" u="sng" dirty="0">
                <a:solidFill>
                  <a:schemeClr val="tx1">
                    <a:lumMod val="50000"/>
                  </a:schemeClr>
                </a:solidFill>
                <a:latin typeface="Akatab" panose="020B0604020202020204" charset="0"/>
                <a:ea typeface="Akatab" panose="020B0604020202020204" charset="0"/>
                <a:cs typeface="Akatab" panose="020B0604020202020204" charset="0"/>
              </a:rPr>
              <a:t> </a:t>
            </a:r>
            <a:endParaRPr lang="en-IN" sz="1100" dirty="0">
              <a:solidFill>
                <a:schemeClr val="tx1">
                  <a:lumMod val="50000"/>
                </a:schemeClr>
              </a:solidFill>
              <a:latin typeface="Akatab" panose="020B0604020202020204" charset="0"/>
              <a:ea typeface="Akatab" panose="020B0604020202020204" charset="0"/>
              <a:cs typeface="Akatab" panose="020B0604020202020204" charset="0"/>
            </a:endParaRPr>
          </a:p>
          <a:p>
            <a:pPr algn="l"/>
            <a:endParaRPr lang="en-IN" dirty="0">
              <a:solidFill>
                <a:schemeClr val="tx1">
                  <a:lumMod val="50000"/>
                </a:schemeClr>
              </a:solidFill>
            </a:endParaRPr>
          </a:p>
        </p:txBody>
      </p:sp>
    </p:spTree>
    <p:extLst>
      <p:ext uri="{BB962C8B-B14F-4D97-AF65-F5344CB8AC3E}">
        <p14:creationId xmlns:p14="http://schemas.microsoft.com/office/powerpoint/2010/main" val="26306027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53"/>
          <p:cNvSpPr txBox="1">
            <a:spLocks noGrp="1"/>
          </p:cNvSpPr>
          <p:nvPr>
            <p:ph type="title"/>
          </p:nvPr>
        </p:nvSpPr>
        <p:spPr>
          <a:xfrm>
            <a:off x="2300201" y="1417500"/>
            <a:ext cx="4543597" cy="2308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dirty="0"/>
              <a:t>Thank You!</a:t>
            </a:r>
            <a:endParaRPr dirty="0"/>
          </a:p>
        </p:txBody>
      </p:sp>
    </p:spTree>
    <p:extLst>
      <p:ext uri="{BB962C8B-B14F-4D97-AF65-F5344CB8AC3E}">
        <p14:creationId xmlns:p14="http://schemas.microsoft.com/office/powerpoint/2010/main" val="551202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53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 grpId="0"/>
    </p:bldLst>
  </p:timing>
</p:sld>
</file>

<file path=ppt/theme/theme1.xml><?xml version="1.0" encoding="utf-8"?>
<a:theme xmlns:a="http://schemas.openxmlformats.org/drawingml/2006/main" name="Executive Summary of Marketing Plan Brown Variant by Slidesgo">
  <a:themeElements>
    <a:clrScheme name="Simple Light">
      <a:dk1>
        <a:srgbClr val="774C2B"/>
      </a:dk1>
      <a:lt1>
        <a:srgbClr val="FCFCFC"/>
      </a:lt1>
      <a:dk2>
        <a:srgbClr val="F1D6E3"/>
      </a:dk2>
      <a:lt2>
        <a:srgbClr val="D199B6"/>
      </a:lt2>
      <a:accent1>
        <a:srgbClr val="5F3C22"/>
      </a:accent1>
      <a:accent2>
        <a:srgbClr val="3B2615"/>
      </a:accent2>
      <a:accent3>
        <a:srgbClr val="FFFFFF"/>
      </a:accent3>
      <a:accent4>
        <a:srgbClr val="FFFFFF"/>
      </a:accent4>
      <a:accent5>
        <a:srgbClr val="FFFFFF"/>
      </a:accent5>
      <a:accent6>
        <a:srgbClr val="FFFFFF"/>
      </a:accent6>
      <a:hlink>
        <a:srgbClr val="774C2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578</TotalTime>
  <Words>1792</Words>
  <Application>Microsoft Office PowerPoint</Application>
  <PresentationFormat>On-screen Show (16:9)</PresentationFormat>
  <Paragraphs>139</Paragraphs>
  <Slides>22</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Noto Serif Ethiopic</vt:lpstr>
      <vt:lpstr>Cambria Math</vt:lpstr>
      <vt:lpstr>Bebas Neue</vt:lpstr>
      <vt:lpstr>Akatab</vt:lpstr>
      <vt:lpstr>Josefin Sans</vt:lpstr>
      <vt:lpstr>Executive Summary of Marketing Plan Brown Variant by Slidesgo</vt:lpstr>
      <vt:lpstr>Bayesian Hierarchical Models to Estimate Groundwater Average Arsenic in Mandari Village, Bangladesh</vt:lpstr>
      <vt:lpstr>Contents</vt:lpstr>
      <vt:lpstr>Problem Statement</vt:lpstr>
      <vt:lpstr>PowerPoint Presentation</vt:lpstr>
      <vt:lpstr>Dataset</vt:lpstr>
      <vt:lpstr>Bayesian Models for Finite Population</vt:lpstr>
      <vt:lpstr>PowerPoint Presentation</vt:lpstr>
      <vt:lpstr>Model 1: Using SRSWOR</vt:lpstr>
      <vt:lpstr>Model 2: Approximate HT</vt:lpstr>
      <vt:lpstr>Model 3 : Exact HT</vt:lpstr>
      <vt:lpstr>Comparison of Different Models</vt:lpstr>
      <vt:lpstr>PowerPoint Presentation</vt:lpstr>
      <vt:lpstr>Model Diagnostics</vt:lpstr>
      <vt:lpstr>PowerPoint Presentation</vt:lpstr>
      <vt:lpstr>Model 1: Using SRSWOR</vt:lpstr>
      <vt:lpstr>Model 2: Approximate HT</vt:lpstr>
      <vt:lpstr>Model 3: Exact HT</vt:lpstr>
      <vt:lpstr>PowerPoint Presentation</vt:lpstr>
      <vt:lpstr>Conclusion</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Bayesian Hierarchical Survey Models for Groundwater Arsenic in Mandari Village of Bangladesh</dc:title>
  <dc:creator>User</dc:creator>
  <cp:lastModifiedBy>Rupsa Dawn</cp:lastModifiedBy>
  <cp:revision>34</cp:revision>
  <dcterms:modified xsi:type="dcterms:W3CDTF">2026-07-30T15:15:26Z</dcterms:modified>
</cp:coreProperties>
</file>